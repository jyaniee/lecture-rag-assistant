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51"/>
  </p:notesMasterIdLst>
  <p:handoutMasterIdLst>
    <p:handoutMasterId r:id="rId52"/>
  </p:handoutMasterIdLst>
  <p:sldIdLst>
    <p:sldId id="522" r:id="rId2"/>
    <p:sldId id="524" r:id="rId3"/>
    <p:sldId id="525" r:id="rId4"/>
    <p:sldId id="526" r:id="rId5"/>
    <p:sldId id="527" r:id="rId6"/>
    <p:sldId id="528" r:id="rId7"/>
    <p:sldId id="529" r:id="rId8"/>
    <p:sldId id="531" r:id="rId9"/>
    <p:sldId id="530" r:id="rId10"/>
    <p:sldId id="532" r:id="rId11"/>
    <p:sldId id="533" r:id="rId12"/>
    <p:sldId id="534" r:id="rId13"/>
    <p:sldId id="535" r:id="rId14"/>
    <p:sldId id="536" r:id="rId15"/>
    <p:sldId id="537" r:id="rId16"/>
    <p:sldId id="538" r:id="rId17"/>
    <p:sldId id="539" r:id="rId18"/>
    <p:sldId id="540" r:id="rId19"/>
    <p:sldId id="542" r:id="rId20"/>
    <p:sldId id="543" r:id="rId21"/>
    <p:sldId id="544" r:id="rId22"/>
    <p:sldId id="545" r:id="rId23"/>
    <p:sldId id="546" r:id="rId24"/>
    <p:sldId id="547" r:id="rId25"/>
    <p:sldId id="548" r:id="rId26"/>
    <p:sldId id="549" r:id="rId27"/>
    <p:sldId id="550" r:id="rId28"/>
    <p:sldId id="552" r:id="rId29"/>
    <p:sldId id="551" r:id="rId30"/>
    <p:sldId id="553" r:id="rId31"/>
    <p:sldId id="554" r:id="rId32"/>
    <p:sldId id="364" r:id="rId33"/>
    <p:sldId id="555" r:id="rId34"/>
    <p:sldId id="556" r:id="rId35"/>
    <p:sldId id="557" r:id="rId36"/>
    <p:sldId id="559" r:id="rId37"/>
    <p:sldId id="561" r:id="rId38"/>
    <p:sldId id="562" r:id="rId39"/>
    <p:sldId id="563" r:id="rId40"/>
    <p:sldId id="564" r:id="rId41"/>
    <p:sldId id="566" r:id="rId42"/>
    <p:sldId id="565" r:id="rId43"/>
    <p:sldId id="567" r:id="rId44"/>
    <p:sldId id="568" r:id="rId45"/>
    <p:sldId id="569" r:id="rId46"/>
    <p:sldId id="570" r:id="rId47"/>
    <p:sldId id="571" r:id="rId48"/>
    <p:sldId id="572" r:id="rId49"/>
    <p:sldId id="573" r:id="rId50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9">
          <p15:clr>
            <a:srgbClr val="A4A3A4"/>
          </p15:clr>
        </p15:guide>
        <p15:guide id="2" pos="15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BA8"/>
    <a:srgbClr val="88D0D6"/>
    <a:srgbClr val="E6E7E9"/>
    <a:srgbClr val="8F9CCD"/>
    <a:srgbClr val="4C60AC"/>
    <a:srgbClr val="E6B4C0"/>
    <a:srgbClr val="F3DDE2"/>
    <a:srgbClr val="C85873"/>
    <a:srgbClr val="83CBA1"/>
    <a:srgbClr val="DB91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731" autoAdjust="0"/>
    <p:restoredTop sz="98898" autoAdjust="0"/>
  </p:normalViewPr>
  <p:slideViewPr>
    <p:cSldViewPr>
      <p:cViewPr varScale="1">
        <p:scale>
          <a:sx n="99" d="100"/>
          <a:sy n="99" d="100"/>
        </p:scale>
        <p:origin x="1230" y="84"/>
      </p:cViewPr>
      <p:guideLst>
        <p:guide orient="horz" pos="119"/>
        <p:guide pos="15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124" d="100"/>
          <a:sy n="124" d="100"/>
        </p:scale>
        <p:origin x="4950" y="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C39FFA-0F1A-413B-9BFE-941741C2D487}" type="datetimeFigureOut">
              <a:rPr lang="ko-KR" altLang="en-US" smtClean="0"/>
              <a:pPr/>
              <a:t>2025-11-17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4E8097-7531-4C06-8889-FE1FF848364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232961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F6F0AE-7B65-4C9A-8729-A5D1A0ABE57B}" type="datetimeFigureOut">
              <a:rPr lang="ko-KR" altLang="en-US" smtClean="0"/>
              <a:pPr/>
              <a:t>2025-11-17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E72E7F-A2FE-4F50-A94D-8786A43CAC6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0481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 userDrawn="1"/>
        </p:nvSpPr>
        <p:spPr>
          <a:xfrm>
            <a:off x="0" y="5921928"/>
            <a:ext cx="9144000" cy="936071"/>
          </a:xfrm>
          <a:prstGeom prst="rect">
            <a:avLst/>
          </a:prstGeom>
          <a:solidFill>
            <a:srgbClr val="8F9C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제목 1"/>
          <p:cNvSpPr txBox="1">
            <a:spLocks/>
          </p:cNvSpPr>
          <p:nvPr userDrawn="1"/>
        </p:nvSpPr>
        <p:spPr>
          <a:xfrm>
            <a:off x="2195736" y="5843592"/>
            <a:ext cx="6948264" cy="5486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6858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3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F0302020204030204"/>
              <a:ea typeface="맑은 고딕" panose="020B0503020000020004" pitchFamily="50" charset="-127"/>
              <a:cs typeface="+mj-cs"/>
            </a:endParaRPr>
          </a:p>
        </p:txBody>
      </p:sp>
      <p:sp>
        <p:nvSpPr>
          <p:cNvPr id="36" name="TextBox 7">
            <a:extLst>
              <a:ext uri="{FF2B5EF4-FFF2-40B4-BE49-F238E27FC236}">
                <a16:creationId xmlns:a16="http://schemas.microsoft.com/office/drawing/2014/main" xmlns="" id="{86410889-0442-4231-B9CA-3F0F289FD4E1}"/>
              </a:ext>
            </a:extLst>
          </p:cNvPr>
          <p:cNvSpPr txBox="1"/>
          <p:nvPr userDrawn="1"/>
        </p:nvSpPr>
        <p:spPr>
          <a:xfrm>
            <a:off x="619945" y="6028546"/>
            <a:ext cx="2232248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3300" b="1" dirty="0">
                <a:latin typeface="+mn-lt"/>
                <a:ea typeface="맑은 고딕" pitchFamily="50" charset="-127"/>
              </a:rPr>
              <a:t>Chapter.</a:t>
            </a:r>
          </a:p>
          <a:p>
            <a:pPr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000" dirty="0">
              <a:ea typeface="맑은 고딕" pitchFamily="50" charset="-127"/>
            </a:endParaRPr>
          </a:p>
        </p:txBody>
      </p:sp>
      <p:sp>
        <p:nvSpPr>
          <p:cNvPr id="37" name="제목 1"/>
          <p:cNvSpPr>
            <a:spLocks noGrp="1"/>
          </p:cNvSpPr>
          <p:nvPr>
            <p:ph type="title"/>
          </p:nvPr>
        </p:nvSpPr>
        <p:spPr>
          <a:xfrm>
            <a:off x="2348136" y="6102609"/>
            <a:ext cx="6948264" cy="548680"/>
          </a:xfrm>
        </p:spPr>
        <p:txBody>
          <a:bodyPr>
            <a:noAutofit/>
          </a:bodyPr>
          <a:lstStyle>
            <a:lvl1pPr algn="l">
              <a:defRPr sz="3000" b="1">
                <a:solidFill>
                  <a:schemeClr val="tx1"/>
                </a:solidFill>
              </a:defRPr>
            </a:lvl1pPr>
          </a:lstStyle>
          <a:p>
            <a:endParaRPr lang="ko-KR" altLang="en-US" dirty="0"/>
          </a:p>
        </p:txBody>
      </p:sp>
      <p:grpSp>
        <p:nvGrpSpPr>
          <p:cNvPr id="12" name="그룹 11"/>
          <p:cNvGrpSpPr/>
          <p:nvPr userDrawn="1"/>
        </p:nvGrpSpPr>
        <p:grpSpPr>
          <a:xfrm>
            <a:off x="1475656" y="116632"/>
            <a:ext cx="4973183" cy="5646684"/>
            <a:chOff x="2339752" y="144826"/>
            <a:chExt cx="4973183" cy="5646684"/>
          </a:xfrm>
        </p:grpSpPr>
        <p:pic>
          <p:nvPicPr>
            <p:cNvPr id="14" name="그림 13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2465441" y="2060848"/>
              <a:ext cx="4721804" cy="2629227"/>
            </a:xfrm>
            <a:prstGeom prst="rect">
              <a:avLst/>
            </a:prstGeom>
          </p:spPr>
        </p:pic>
        <p:pic>
          <p:nvPicPr>
            <p:cNvPr id="15" name="그림 14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339752" y="144826"/>
              <a:ext cx="4973183" cy="1974372"/>
            </a:xfrm>
            <a:prstGeom prst="rect">
              <a:avLst/>
            </a:prstGeom>
          </p:spPr>
        </p:pic>
        <p:pic>
          <p:nvPicPr>
            <p:cNvPr id="16" name="그림 15"/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3136805" y="4797152"/>
              <a:ext cx="3379077" cy="994358"/>
            </a:xfrm>
            <a:prstGeom prst="rect">
              <a:avLst/>
            </a:prstGeom>
          </p:spPr>
        </p:pic>
      </p:grpSp>
      <p:pic>
        <p:nvPicPr>
          <p:cNvPr id="17" name="그림 16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085968" y="188641"/>
            <a:ext cx="723093" cy="1152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72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>
            <a:extLst>
              <a:ext uri="{FF2B5EF4-FFF2-40B4-BE49-F238E27FC236}">
                <a16:creationId xmlns:a16="http://schemas.microsoft.com/office/drawing/2014/main" xmlns="" id="{E3CF5919-2159-49EA-BD93-9C45B1EAA96D}"/>
              </a:ext>
            </a:extLst>
          </p:cNvPr>
          <p:cNvSpPr txBox="1"/>
          <p:nvPr userDrawn="1"/>
        </p:nvSpPr>
        <p:spPr>
          <a:xfrm>
            <a:off x="611560" y="762422"/>
            <a:ext cx="4085697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400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latin typeface="HY견고딕" pitchFamily="18" charset="-127"/>
                <a:ea typeface="HY견고딕" pitchFamily="18" charset="-127"/>
                <a:cs typeface="Tahoma" pitchFamily="34" charset="0"/>
              </a:rPr>
              <a:t>목차</a:t>
            </a:r>
          </a:p>
        </p:txBody>
      </p:sp>
      <p:sp>
        <p:nvSpPr>
          <p:cNvPr id="11" name="텍스트 개체 틀 6">
            <a:extLst>
              <a:ext uri="{FF2B5EF4-FFF2-40B4-BE49-F238E27FC236}">
                <a16:creationId xmlns:a16="http://schemas.microsoft.com/office/drawing/2014/main" xmlns="" id="{19267DBF-3997-413A-AA3B-689DC6FEAD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55576" y="1844824"/>
            <a:ext cx="7704856" cy="4104456"/>
          </a:xfrm>
        </p:spPr>
        <p:txBody>
          <a:bodyPr/>
          <a:lstStyle>
            <a:lvl1pPr marL="457200" indent="-457200">
              <a:lnSpc>
                <a:spcPct val="200000"/>
              </a:lnSpc>
              <a:buClr>
                <a:srgbClr val="00B2C0"/>
              </a:buClr>
              <a:buFont typeface="+mj-lt"/>
              <a:buAutoNum type="arabicPeriod"/>
              <a:defRPr sz="2000" b="1">
                <a:solidFill>
                  <a:schemeClr val="tx1"/>
                </a:solidFill>
                <a:latin typeface="+mj-lt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ko-KR" altLang="en-US" dirty="0"/>
          </a:p>
        </p:txBody>
      </p:sp>
      <p:sp>
        <p:nvSpPr>
          <p:cNvPr id="14" name="모서리가 둥근 직사각형 8">
            <a:extLst>
              <a:ext uri="{FF2B5EF4-FFF2-40B4-BE49-F238E27FC236}">
                <a16:creationId xmlns:a16="http://schemas.microsoft.com/office/drawing/2014/main" xmlns="" id="{D5A7425B-5701-466C-9ACB-C13BC673C0FC}"/>
              </a:ext>
            </a:extLst>
          </p:cNvPr>
          <p:cNvSpPr/>
          <p:nvPr userDrawn="1"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>
            <a:solidFill>
              <a:srgbClr val="009B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  <p:extLst>
      <p:ext uri="{BB962C8B-B14F-4D97-AF65-F5344CB8AC3E}">
        <p14:creationId xmlns:p14="http://schemas.microsoft.com/office/powerpoint/2010/main" val="1899031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학습목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9"/>
          <p:cNvSpPr txBox="1"/>
          <p:nvPr userDrawn="1"/>
        </p:nvSpPr>
        <p:spPr>
          <a:xfrm>
            <a:off x="611560" y="762422"/>
            <a:ext cx="4085697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400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latin typeface="HY견고딕" pitchFamily="18" charset="-127"/>
                <a:ea typeface="HY견고딕" pitchFamily="18" charset="-127"/>
                <a:cs typeface="Tahoma" pitchFamily="34" charset="0"/>
              </a:rPr>
              <a:t>학습목표</a:t>
            </a: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xmlns="" id="{ED4A8C7A-84CB-4AB9-8F99-0BC584ACD685}"/>
              </a:ext>
            </a:extLst>
          </p:cNvPr>
          <p:cNvSpPr/>
          <p:nvPr userDrawn="1"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>
            <a:solidFill>
              <a:srgbClr val="009B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sp>
        <p:nvSpPr>
          <p:cNvPr id="8" name="텍스트 개체 틀 6">
            <a:extLst>
              <a:ext uri="{FF2B5EF4-FFF2-40B4-BE49-F238E27FC236}">
                <a16:creationId xmlns:a16="http://schemas.microsoft.com/office/drawing/2014/main" xmlns="" id="{19267DBF-3997-413A-AA3B-689DC6FEAD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55576" y="1844824"/>
            <a:ext cx="7704856" cy="4104456"/>
          </a:xfrm>
        </p:spPr>
        <p:txBody>
          <a:bodyPr/>
          <a:lstStyle>
            <a:lvl1pPr marL="457200" indent="-457200">
              <a:lnSpc>
                <a:spcPct val="200000"/>
              </a:lnSpc>
              <a:buClr>
                <a:srgbClr val="00B2C0"/>
              </a:buClr>
              <a:buFont typeface="+mj-lt"/>
              <a:buAutoNum type="arabicPeriod"/>
              <a:defRPr sz="2000" b="1">
                <a:solidFill>
                  <a:schemeClr val="tx1"/>
                </a:solidFill>
                <a:latin typeface="+mj-lt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67561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섹션 목차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184745"/>
            <a:ext cx="7560840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5B4BA2D2-52F7-42A1-8EBA-192AEC431238}"/>
              </a:ext>
            </a:extLst>
          </p:cNvPr>
          <p:cNvGrpSpPr/>
          <p:nvPr userDrawn="1"/>
        </p:nvGrpSpPr>
        <p:grpSpPr>
          <a:xfrm>
            <a:off x="0" y="836712"/>
            <a:ext cx="9144000" cy="487"/>
            <a:chOff x="0" y="907564"/>
            <a:chExt cx="9144000" cy="487"/>
          </a:xfrm>
        </p:grpSpPr>
        <p:cxnSp>
          <p:nvCxnSpPr>
            <p:cNvPr id="9" name="직선 연결선 8"/>
            <p:cNvCxnSpPr/>
            <p:nvPr userDrawn="1"/>
          </p:nvCxnSpPr>
          <p:spPr>
            <a:xfrm>
              <a:off x="2124744" y="908051"/>
              <a:ext cx="2339752" cy="0"/>
            </a:xfrm>
            <a:prstGeom prst="line">
              <a:avLst/>
            </a:prstGeom>
            <a:ln w="76200">
              <a:solidFill>
                <a:srgbClr val="009BA8">
                  <a:alpha val="70000"/>
                </a:srgb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/>
            <p:cNvCxnSpPr/>
            <p:nvPr userDrawn="1"/>
          </p:nvCxnSpPr>
          <p:spPr>
            <a:xfrm>
              <a:off x="4464496" y="908051"/>
              <a:ext cx="2339752" cy="0"/>
            </a:xfrm>
            <a:prstGeom prst="line">
              <a:avLst/>
            </a:prstGeom>
            <a:ln w="76200">
              <a:solidFill>
                <a:srgbClr val="009BA8">
                  <a:alpha val="50000"/>
                </a:srgb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/>
            <p:cNvCxnSpPr/>
            <p:nvPr userDrawn="1"/>
          </p:nvCxnSpPr>
          <p:spPr>
            <a:xfrm>
              <a:off x="6804248" y="907564"/>
              <a:ext cx="2339752" cy="0"/>
            </a:xfrm>
            <a:prstGeom prst="line">
              <a:avLst/>
            </a:prstGeom>
            <a:ln w="76200">
              <a:solidFill>
                <a:srgbClr val="009BA8">
                  <a:alpha val="20000"/>
                </a:srgb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/>
            <p:cNvCxnSpPr/>
            <p:nvPr userDrawn="1"/>
          </p:nvCxnSpPr>
          <p:spPr>
            <a:xfrm>
              <a:off x="0" y="908051"/>
              <a:ext cx="2339752" cy="0"/>
            </a:xfrm>
            <a:prstGeom prst="line">
              <a:avLst/>
            </a:prstGeom>
            <a:ln w="76200">
              <a:solidFill>
                <a:srgbClr val="009BA8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208912" cy="5400600"/>
          </a:xfr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rgbClr val="009BA8"/>
              </a:buClr>
              <a:buFont typeface="Wingdings" pitchFamily="2" charset="2"/>
              <a:buChar char="n"/>
              <a:defRPr sz="1600" b="1">
                <a:latin typeface="+mn-ea"/>
                <a:ea typeface="+mn-ea"/>
              </a:defRPr>
            </a:lvl1pPr>
            <a:lvl2pPr marL="447675" indent="-180975">
              <a:spcAft>
                <a:spcPts val="400"/>
              </a:spcAft>
              <a:buClr>
                <a:srgbClr val="00B2C0"/>
              </a:buClr>
              <a:buFont typeface="Wingdings" pitchFamily="2" charset="2"/>
              <a:buChar char="§"/>
              <a:defRPr sz="1400"/>
            </a:lvl2pPr>
            <a:lvl3pPr marL="628650" indent="-180975">
              <a:spcAft>
                <a:spcPts val="300"/>
              </a:spcAft>
              <a:buClr>
                <a:srgbClr val="00C1D0"/>
              </a:buClr>
              <a:buFont typeface="Arial" pitchFamily="34" charset="0"/>
              <a:buChar char="•"/>
              <a:defRPr sz="1200"/>
            </a:lvl3pPr>
            <a:lvl4pPr marL="809625" indent="-180975">
              <a:spcAft>
                <a:spcPts val="300"/>
              </a:spcAft>
              <a:buClr>
                <a:srgbClr val="00C1D0"/>
              </a:buClr>
              <a:buSzPct val="96000"/>
              <a:defRPr sz="1050"/>
            </a:lvl4pPr>
            <a:lvl5pPr marL="990600" indent="-180975">
              <a:buClr>
                <a:srgbClr val="00C1D0"/>
              </a:buClr>
              <a:defRPr sz="9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7906008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9">
            <a:extLst>
              <a:ext uri="{FF2B5EF4-FFF2-40B4-BE49-F238E27FC236}">
                <a16:creationId xmlns:a16="http://schemas.microsoft.com/office/drawing/2014/main" xmlns="" id="{A7D7FFC2-62D3-4BE0-8529-F40C1ADBD02D}"/>
              </a:ext>
            </a:extLst>
          </p:cNvPr>
          <p:cNvSpPr txBox="1"/>
          <p:nvPr userDrawn="1"/>
        </p:nvSpPr>
        <p:spPr>
          <a:xfrm>
            <a:off x="1475656" y="2767280"/>
            <a:ext cx="669674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8000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latin typeface="HY견고딕" pitchFamily="18" charset="-127"/>
                <a:ea typeface="HY견고딕" pitchFamily="18" charset="-127"/>
                <a:cs typeface="Tahoma" pitchFamily="34" charset="0"/>
              </a:rPr>
              <a:t>Thank you</a:t>
            </a:r>
            <a:endParaRPr kumimoji="0" lang="ko-KR" altLang="en-US" sz="8000" spc="-1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  <a:cs typeface="Tahoma" pitchFamily="34" charset="0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xmlns="" id="{C692FB73-1543-4900-9730-CEBEC129D71A}"/>
              </a:ext>
            </a:extLst>
          </p:cNvPr>
          <p:cNvCxnSpPr>
            <a:cxnSpLocks/>
          </p:cNvCxnSpPr>
          <p:nvPr userDrawn="1"/>
        </p:nvCxnSpPr>
        <p:spPr>
          <a:xfrm>
            <a:off x="1619672" y="4221088"/>
            <a:ext cx="5472608" cy="0"/>
          </a:xfrm>
          <a:prstGeom prst="line">
            <a:avLst/>
          </a:prstGeom>
          <a:ln w="19050">
            <a:solidFill>
              <a:srgbClr val="009BA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xmlns="" id="{B38D78D7-6975-4922-977D-2566434936B4}"/>
              </a:ext>
            </a:extLst>
          </p:cNvPr>
          <p:cNvCxnSpPr>
            <a:cxnSpLocks/>
          </p:cNvCxnSpPr>
          <p:nvPr userDrawn="1"/>
        </p:nvCxnSpPr>
        <p:spPr>
          <a:xfrm>
            <a:off x="1691680" y="2708920"/>
            <a:ext cx="5472608" cy="0"/>
          </a:xfrm>
          <a:prstGeom prst="line">
            <a:avLst/>
          </a:prstGeom>
          <a:ln w="19050">
            <a:solidFill>
              <a:srgbClr val="009BA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8059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본문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xmlns="" id="{4EF818B3-3175-42DA-B564-73E3561F97E5}"/>
              </a:ext>
            </a:extLst>
          </p:cNvPr>
          <p:cNvCxnSpPr>
            <a:cxnSpLocks/>
          </p:cNvCxnSpPr>
          <p:nvPr userDrawn="1"/>
        </p:nvCxnSpPr>
        <p:spPr>
          <a:xfrm>
            <a:off x="0" y="831850"/>
            <a:ext cx="9144000" cy="0"/>
          </a:xfrm>
          <a:prstGeom prst="line">
            <a:avLst/>
          </a:prstGeom>
          <a:ln w="76200">
            <a:solidFill>
              <a:schemeClr val="accent6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10">
            <a:extLst>
              <a:ext uri="{FF2B5EF4-FFF2-40B4-BE49-F238E27FC236}">
                <a16:creationId xmlns:a16="http://schemas.microsoft.com/office/drawing/2014/main" xmlns="" id="{D4E95BF0-FC40-4F4C-8E85-5E68EA98F74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5763" y="454025"/>
            <a:ext cx="784225" cy="115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0825" y="104244"/>
            <a:ext cx="7560840" cy="548680"/>
          </a:xfrm>
        </p:spPr>
        <p:txBody>
          <a:bodyPr/>
          <a:lstStyle>
            <a:lvl1pPr algn="l">
              <a:defRPr sz="24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2" name="내용 개체 틀 2"/>
          <p:cNvSpPr>
            <a:spLocks noGrp="1"/>
          </p:cNvSpPr>
          <p:nvPr>
            <p:ph idx="1"/>
          </p:nvPr>
        </p:nvSpPr>
        <p:spPr>
          <a:xfrm>
            <a:off x="250825" y="1031530"/>
            <a:ext cx="8641655" cy="5472608"/>
          </a:xfrm>
        </p:spPr>
        <p:txBody>
          <a:bodyPr/>
          <a:lstStyle>
            <a:lvl1pPr marL="266700" indent="-266700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Font typeface="Wingdings" pitchFamily="2" charset="2"/>
              <a:buChar char="n"/>
              <a:defRPr sz="2000" b="1">
                <a:latin typeface="+mn-ea"/>
                <a:ea typeface="+mn-ea"/>
              </a:defRPr>
            </a:lvl1pPr>
            <a:lvl2pPr marL="447675" indent="-180975">
              <a:lnSpc>
                <a:spcPct val="100000"/>
              </a:lnSpc>
              <a:spcAft>
                <a:spcPts val="400"/>
              </a:spcAft>
              <a:buClr>
                <a:schemeClr val="tx1">
                  <a:lumMod val="65000"/>
                  <a:lumOff val="35000"/>
                </a:schemeClr>
              </a:buClr>
              <a:buFont typeface="Wingdings" pitchFamily="2" charset="2"/>
              <a:buChar char="§"/>
              <a:defRPr sz="1800"/>
            </a:lvl2pPr>
            <a:lvl3pPr marL="628650" indent="-180975">
              <a:lnSpc>
                <a:spcPct val="100000"/>
              </a:lnSpc>
              <a:spcAft>
                <a:spcPts val="300"/>
              </a:spcAft>
              <a:buClr>
                <a:schemeClr val="tx1"/>
              </a:buClr>
              <a:defRPr sz="1600"/>
            </a:lvl3pPr>
            <a:lvl4pPr marL="809625" indent="-180975">
              <a:lnSpc>
                <a:spcPct val="100000"/>
              </a:lnSpc>
              <a:spcAft>
                <a:spcPts val="300"/>
              </a:spcAft>
              <a:buSzPct val="96000"/>
              <a:defRPr sz="1100"/>
            </a:lvl4pPr>
            <a:lvl5pPr marL="990600" indent="-180975">
              <a:lnSpc>
                <a:spcPct val="100000"/>
              </a:lnSpc>
              <a:defRPr sz="11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슬라이드 번호 개체 틀 9">
            <a:extLst>
              <a:ext uri="{FF2B5EF4-FFF2-40B4-BE49-F238E27FC236}">
                <a16:creationId xmlns:a16="http://schemas.microsoft.com/office/drawing/2014/main" xmlns="" id="{35C6081D-D779-4871-A04F-D2D038D45B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101013" y="6503988"/>
            <a:ext cx="836612" cy="354012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ko-KR"/>
              <a:t>Page </a:t>
            </a:r>
            <a:fld id="{67F818EA-5E61-433B-AA89-BA587875FE51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9303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C4A7B72-6AE8-49C2-8F32-E8A725FD610D}" type="datetimeFigureOut">
              <a:rPr lang="ko-KR" altLang="en-US" smtClean="0"/>
              <a:pPr>
                <a:defRPr/>
              </a:pPr>
              <a:t>2025-11-17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2DD98C4-AD35-4759-9571-E1AA62A00DA9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95110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24" r:id="rId4"/>
    <p:sldLayoutId id="2147483730" r:id="rId5"/>
    <p:sldLayoutId id="2147483731" r:id="rId6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 </a:t>
            </a:r>
            <a:r>
              <a:rPr lang="ko-KR" altLang="en-US" dirty="0"/>
              <a:t>전자 상거래 보안</a:t>
            </a:r>
          </a:p>
        </p:txBody>
      </p:sp>
    </p:spTree>
    <p:extLst>
      <p:ext uri="{BB962C8B-B14F-4D97-AF65-F5344CB8AC3E}">
        <p14:creationId xmlns:p14="http://schemas.microsoft.com/office/powerpoint/2010/main" val="1913928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/>
              <a:t>전자 상거래의 이해</a:t>
            </a:r>
          </a:p>
          <a:p>
            <a:r>
              <a:rPr lang="ko-KR" altLang="en-US" dirty="0"/>
              <a:t>공개 키 기반 구조</a:t>
            </a:r>
          </a:p>
          <a:p>
            <a:r>
              <a:rPr lang="ko-KR" altLang="en-US" dirty="0"/>
              <a:t>전자 서명과 전자 봉투</a:t>
            </a:r>
          </a:p>
          <a:p>
            <a:r>
              <a:rPr lang="ko-KR" altLang="en-US" dirty="0"/>
              <a:t>전자 결제와 가상 화폐</a:t>
            </a:r>
          </a:p>
          <a:p>
            <a:r>
              <a:rPr lang="ko-KR" altLang="en-US" dirty="0"/>
              <a:t>암호화 통신</a:t>
            </a:r>
          </a:p>
          <a:p>
            <a:r>
              <a:rPr lang="ko-KR" altLang="en-US" dirty="0"/>
              <a:t>콘텐츠 보안</a:t>
            </a:r>
          </a:p>
        </p:txBody>
      </p:sp>
    </p:spTree>
    <p:extLst>
      <p:ext uri="{BB962C8B-B14F-4D97-AF65-F5344CB8AC3E}">
        <p14:creationId xmlns:p14="http://schemas.microsoft.com/office/powerpoint/2010/main" val="3383311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1"/>
          <p:cNvSpPr>
            <a:spLocks noGrp="1"/>
          </p:cNvSpPr>
          <p:nvPr>
            <p:ph type="body" sz="quarter" idx="13"/>
          </p:nvPr>
        </p:nvSpPr>
        <p:spPr>
          <a:xfrm>
            <a:off x="755576" y="1844824"/>
            <a:ext cx="7704856" cy="4104456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FF0000"/>
                </a:solidFill>
              </a:rPr>
              <a:t>전자 상거래 보안의 요구 사항</a:t>
            </a:r>
            <a:r>
              <a:rPr lang="ko-KR" altLang="en-US" dirty="0"/>
              <a:t>을 파악한다</a:t>
            </a:r>
            <a:r>
              <a:rPr lang="en-US" altLang="ko-KR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FF0000"/>
                </a:solidFill>
              </a:rPr>
              <a:t>공개 키 기반 기술의 원리</a:t>
            </a:r>
            <a:r>
              <a:rPr lang="ko-KR" altLang="en-US" dirty="0"/>
              <a:t>를 이해한다</a:t>
            </a:r>
            <a:r>
              <a:rPr lang="en-US" altLang="ko-KR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FF0000"/>
                </a:solidFill>
              </a:rPr>
              <a:t>공인 인증서</a:t>
            </a:r>
            <a:r>
              <a:rPr lang="ko-KR" altLang="en-US" dirty="0"/>
              <a:t>에 대해 알아본다</a:t>
            </a:r>
            <a:r>
              <a:rPr lang="en-US" altLang="ko-KR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전자 상거래에서 이용하는 </a:t>
            </a:r>
            <a:r>
              <a:rPr lang="ko-KR" altLang="en-US" dirty="0">
                <a:solidFill>
                  <a:srgbClr val="FF0000"/>
                </a:solidFill>
              </a:rPr>
              <a:t>암호화와 해시 기술</a:t>
            </a:r>
            <a:r>
              <a:rPr lang="ko-KR" altLang="en-US" dirty="0"/>
              <a:t>을 이해한다</a:t>
            </a:r>
            <a:r>
              <a:rPr lang="en-US" altLang="ko-KR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FF0000"/>
                </a:solidFill>
              </a:rPr>
              <a:t>암호화 통신의 종류</a:t>
            </a:r>
            <a:r>
              <a:rPr lang="ko-KR" altLang="en-US" dirty="0"/>
              <a:t>를 알아본다</a:t>
            </a:r>
            <a:endParaRPr lang="en-US" altLang="ko-KR" sz="1900" dirty="0"/>
          </a:p>
        </p:txBody>
      </p:sp>
    </p:spTree>
    <p:extLst>
      <p:ext uri="{BB962C8B-B14F-4D97-AF65-F5344CB8AC3E}">
        <p14:creationId xmlns:p14="http://schemas.microsoft.com/office/powerpoint/2010/main" val="1505600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전자 상거래의 이해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전자 상거래의 시작</a:t>
            </a:r>
            <a:endParaRPr lang="en-US" altLang="ko-KR" dirty="0"/>
          </a:p>
          <a:p>
            <a:pPr lvl="1"/>
            <a:r>
              <a:rPr lang="ko-KR" altLang="en-US" dirty="0" err="1"/>
              <a:t>비디오택스</a:t>
            </a:r>
            <a:endParaRPr lang="en-US" altLang="ko-KR" dirty="0"/>
          </a:p>
          <a:p>
            <a:pPr lvl="2"/>
            <a:r>
              <a:rPr lang="en-US" altLang="ko-KR" dirty="0"/>
              <a:t>1979</a:t>
            </a:r>
            <a:r>
              <a:rPr lang="ko-KR" altLang="en-US" dirty="0"/>
              <a:t>년에 </a:t>
            </a:r>
            <a:r>
              <a:rPr lang="ko-KR" altLang="en-US" dirty="0">
                <a:solidFill>
                  <a:srgbClr val="FF0000"/>
                </a:solidFill>
              </a:rPr>
              <a:t>마이클 </a:t>
            </a:r>
            <a:r>
              <a:rPr lang="ko-KR" altLang="en-US" dirty="0" err="1">
                <a:solidFill>
                  <a:srgbClr val="FF0000"/>
                </a:solidFill>
              </a:rPr>
              <a:t>올드리치</a:t>
            </a:r>
            <a:r>
              <a:rPr lang="en-US" altLang="ko-KR" dirty="0">
                <a:solidFill>
                  <a:srgbClr val="FF0000"/>
                </a:solidFill>
              </a:rPr>
              <a:t> </a:t>
            </a:r>
            <a:r>
              <a:rPr lang="ko-KR" altLang="en-US" dirty="0"/>
              <a:t>는 전화선을 이용하여 통신하도록 개조된 </a:t>
            </a:r>
            <a:r>
              <a:rPr lang="en-US" altLang="ko-KR" dirty="0">
                <a:solidFill>
                  <a:srgbClr val="FF0000"/>
                </a:solidFill>
              </a:rPr>
              <a:t>TV</a:t>
            </a:r>
            <a:r>
              <a:rPr lang="ko-KR" altLang="en-US" dirty="0">
                <a:solidFill>
                  <a:srgbClr val="FF0000"/>
                </a:solidFill>
              </a:rPr>
              <a:t>로 최초의 온라인 쇼핑</a:t>
            </a:r>
            <a:r>
              <a:rPr lang="ko-KR" altLang="en-US" dirty="0"/>
              <a:t>을 시작</a:t>
            </a:r>
            <a:endParaRPr lang="en-US" altLang="ko-KR" dirty="0"/>
          </a:p>
          <a:p>
            <a:pPr lvl="2"/>
            <a:r>
              <a:rPr lang="ko-KR" altLang="en-US" dirty="0"/>
              <a:t>비디오텍스는 </a:t>
            </a:r>
            <a:r>
              <a:rPr lang="en-US" altLang="ko-KR" dirty="0"/>
              <a:t>1970</a:t>
            </a:r>
            <a:r>
              <a:rPr lang="ko-KR" altLang="en-US" dirty="0"/>
              <a:t>년대부터 </a:t>
            </a:r>
            <a:r>
              <a:rPr lang="en-US" altLang="ko-KR" dirty="0"/>
              <a:t>1980</a:t>
            </a:r>
            <a:r>
              <a:rPr lang="ko-KR" altLang="en-US" dirty="0"/>
              <a:t>년 중반까지 주로 </a:t>
            </a:r>
            <a:r>
              <a:rPr lang="ko-KR" altLang="en-US" dirty="0">
                <a:solidFill>
                  <a:srgbClr val="FF0000"/>
                </a:solidFill>
              </a:rPr>
              <a:t>온라인 홈뱅킹</a:t>
            </a:r>
            <a:r>
              <a:rPr lang="ko-KR" altLang="en-US" dirty="0"/>
              <a:t>에 사용</a:t>
            </a:r>
            <a:endParaRPr lang="en-US" altLang="ko-KR" dirty="0"/>
          </a:p>
          <a:p>
            <a:pPr lvl="2"/>
            <a:r>
              <a:rPr lang="en-US" altLang="ko-KR" dirty="0"/>
              <a:t>1981</a:t>
            </a:r>
            <a:r>
              <a:rPr lang="ko-KR" altLang="en-US" dirty="0"/>
              <a:t>년부터 </a:t>
            </a:r>
            <a:r>
              <a:rPr lang="ko-KR" altLang="en-US" dirty="0" err="1"/>
              <a:t>씨티은행</a:t>
            </a:r>
            <a:r>
              <a:rPr lang="en-US" altLang="ko-KR" dirty="0"/>
              <a:t>, </a:t>
            </a:r>
            <a:r>
              <a:rPr lang="ko-KR" altLang="en-US" dirty="0"/>
              <a:t>체이스맨해튼</a:t>
            </a:r>
            <a:r>
              <a:rPr lang="en-US" altLang="ko-KR" dirty="0"/>
              <a:t>, </a:t>
            </a:r>
            <a:r>
              <a:rPr lang="ko-KR" altLang="en-US" dirty="0" err="1"/>
              <a:t>케미컬</a:t>
            </a:r>
            <a:r>
              <a:rPr lang="en-US" altLang="ko-KR" dirty="0"/>
              <a:t>, </a:t>
            </a:r>
            <a:r>
              <a:rPr lang="ko-KR" altLang="en-US" dirty="0" err="1"/>
              <a:t>매뉴팩처러스</a:t>
            </a:r>
            <a:r>
              <a:rPr lang="ko-KR" altLang="en-US" dirty="0"/>
              <a:t> 하노버가 뉴욕에서 비디오텍스를 이용하여 </a:t>
            </a:r>
            <a:endParaRPr lang="en-US" altLang="ko-KR" dirty="0"/>
          </a:p>
          <a:p>
            <a:pPr marL="447675" lvl="2" indent="0">
              <a:buNone/>
            </a:pPr>
            <a:r>
              <a:rPr lang="en-US" altLang="ko-KR" dirty="0"/>
              <a:t>   </a:t>
            </a:r>
            <a:r>
              <a:rPr lang="ko-KR" altLang="en-US" dirty="0">
                <a:solidFill>
                  <a:srgbClr val="FF0000"/>
                </a:solidFill>
              </a:rPr>
              <a:t>은행 업무 서비스</a:t>
            </a:r>
            <a:r>
              <a:rPr lang="ko-KR" altLang="en-US" dirty="0"/>
              <a:t>를 제공</a:t>
            </a:r>
            <a:endParaRPr lang="en-US" altLang="ko-KR" dirty="0"/>
          </a:p>
          <a:p>
            <a:pPr lvl="2"/>
            <a:r>
              <a:rPr lang="en-US" altLang="ko-KR" dirty="0"/>
              <a:t>PC </a:t>
            </a:r>
            <a:r>
              <a:rPr lang="ko-KR" altLang="en-US" dirty="0"/>
              <a:t>시스템을 기반으로 하는 비디오텍스는 </a:t>
            </a:r>
            <a:r>
              <a:rPr lang="en-US" altLang="ko-KR" dirty="0">
                <a:solidFill>
                  <a:srgbClr val="FF0000"/>
                </a:solidFill>
              </a:rPr>
              <a:t>PC</a:t>
            </a:r>
            <a:r>
              <a:rPr lang="ko-KR" altLang="en-US" dirty="0">
                <a:solidFill>
                  <a:srgbClr val="FF0000"/>
                </a:solidFill>
              </a:rPr>
              <a:t>의 전신</a:t>
            </a:r>
            <a:r>
              <a:rPr lang="ko-KR" altLang="en-US" dirty="0"/>
              <a:t>으로 볼 수 있음</a:t>
            </a:r>
            <a:endParaRPr lang="en-US" altLang="ko-KR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5856" y="3573016"/>
            <a:ext cx="2577883" cy="3011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6724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전자 상거래의 이해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290266" cy="5400600"/>
          </a:xfrm>
        </p:spPr>
        <p:txBody>
          <a:bodyPr/>
          <a:lstStyle/>
          <a:p>
            <a:r>
              <a:rPr lang="ko-KR" altLang="en-US" dirty="0"/>
              <a:t>전자 상거래의 시작</a:t>
            </a:r>
            <a:endParaRPr lang="en-US" altLang="ko-KR" dirty="0"/>
          </a:p>
          <a:p>
            <a:pPr lvl="1"/>
            <a:r>
              <a:rPr lang="ko-KR" altLang="en-US" dirty="0"/>
              <a:t>본격적인 전자 상거래의 시작</a:t>
            </a:r>
            <a:endParaRPr lang="en-US" altLang="ko-KR" dirty="0"/>
          </a:p>
          <a:p>
            <a:pPr lvl="2"/>
            <a:r>
              <a:rPr lang="en-US" altLang="ko-KR" dirty="0"/>
              <a:t>1994</a:t>
            </a:r>
            <a:r>
              <a:rPr lang="ko-KR" altLang="en-US" dirty="0"/>
              <a:t>년에 </a:t>
            </a:r>
            <a:r>
              <a:rPr lang="ko-KR" altLang="en-US" dirty="0" err="1">
                <a:solidFill>
                  <a:srgbClr val="FF0000"/>
                </a:solidFill>
              </a:rPr>
              <a:t>피자헛</a:t>
            </a:r>
            <a:r>
              <a:rPr lang="ko-KR" altLang="en-US" dirty="0" err="1"/>
              <a:t>이</a:t>
            </a:r>
            <a:r>
              <a:rPr lang="ko-KR" altLang="en-US" dirty="0"/>
              <a:t> 처음으로 웹 사이트를 통해 주문을 받은 것이 인터넷을 통한 본격적인 전자상거래의 시작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이 시기에 만들어진 </a:t>
            </a:r>
            <a:r>
              <a:rPr lang="ko-KR" altLang="en-US" dirty="0" err="1"/>
              <a:t>넷스케이프</a:t>
            </a:r>
            <a:r>
              <a:rPr lang="en-US" altLang="ko-KR" dirty="0"/>
              <a:t> 1.0</a:t>
            </a:r>
            <a:r>
              <a:rPr lang="ko-KR" altLang="en-US" dirty="0"/>
              <a:t>은 </a:t>
            </a:r>
            <a:r>
              <a:rPr lang="en-US" altLang="ko-KR" dirty="0">
                <a:solidFill>
                  <a:srgbClr val="FF0000"/>
                </a:solidFill>
              </a:rPr>
              <a:t>SSL </a:t>
            </a:r>
            <a:r>
              <a:rPr lang="ko-KR" altLang="en-US" dirty="0">
                <a:solidFill>
                  <a:srgbClr val="FF0000"/>
                </a:solidFill>
              </a:rPr>
              <a:t>암호화로 안전한 거래</a:t>
            </a:r>
            <a:r>
              <a:rPr lang="ko-KR" altLang="en-US" dirty="0"/>
              <a:t>를 제공</a:t>
            </a:r>
            <a:endParaRPr lang="en-US" altLang="ko-KR" dirty="0"/>
          </a:p>
          <a:p>
            <a:pPr lvl="2">
              <a:defRPr/>
            </a:pPr>
            <a:r>
              <a:rPr lang="en-US" altLang="ko-KR" dirty="0"/>
              <a:t>1995</a:t>
            </a:r>
            <a:r>
              <a:rPr lang="ko-KR" altLang="en-US" dirty="0"/>
              <a:t>년에는 </a:t>
            </a:r>
            <a:r>
              <a:rPr lang="ko-KR" altLang="en-US" dirty="0">
                <a:solidFill>
                  <a:srgbClr val="FF0000"/>
                </a:solidFill>
              </a:rPr>
              <a:t>제프 </a:t>
            </a:r>
            <a:r>
              <a:rPr lang="ko-KR" altLang="en-US" dirty="0" err="1">
                <a:solidFill>
                  <a:srgbClr val="FF0000"/>
                </a:solidFill>
              </a:rPr>
              <a:t>베저스</a:t>
            </a:r>
            <a:r>
              <a:rPr lang="ko-KR" altLang="en-US" dirty="0" err="1"/>
              <a:t>가</a:t>
            </a:r>
            <a:r>
              <a:rPr lang="ko-KR" altLang="en-US" dirty="0"/>
              <a:t> </a:t>
            </a:r>
            <a:r>
              <a:rPr lang="ko-KR" altLang="en-US" dirty="0">
                <a:solidFill>
                  <a:srgbClr val="FF0000"/>
                </a:solidFill>
              </a:rPr>
              <a:t>세계 최초의 가상 서점 아마존</a:t>
            </a:r>
            <a:r>
              <a:rPr lang="en-US" altLang="ko-KR" dirty="0"/>
              <a:t> </a:t>
            </a:r>
            <a:r>
              <a:rPr lang="ko-KR" altLang="en-US" dirty="0"/>
              <a:t>설립</a:t>
            </a:r>
            <a:endParaRPr lang="en-US" altLang="ko-KR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3350540"/>
            <a:ext cx="2577883" cy="2908513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7547" y="3717032"/>
            <a:ext cx="4932925" cy="2434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6266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전자 상거래의 이해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290266" cy="5400600"/>
          </a:xfrm>
        </p:spPr>
        <p:txBody>
          <a:bodyPr/>
          <a:lstStyle/>
          <a:p>
            <a:r>
              <a:rPr lang="ko-KR" altLang="en-US" dirty="0"/>
              <a:t>전자 상거래의 보안 요건</a:t>
            </a:r>
            <a:endParaRPr lang="en-US" altLang="ko-KR" dirty="0"/>
          </a:p>
          <a:p>
            <a:pPr lvl="1"/>
            <a:r>
              <a:rPr lang="ko-KR" altLang="en-US" dirty="0"/>
              <a:t>전자 상거래 </a:t>
            </a:r>
            <a:r>
              <a:rPr lang="ko-KR" altLang="en-US" dirty="0">
                <a:solidFill>
                  <a:srgbClr val="FF0000"/>
                </a:solidFill>
              </a:rPr>
              <a:t>공격 유형</a:t>
            </a:r>
            <a:endParaRPr lang="en-US" altLang="ko-KR" dirty="0">
              <a:solidFill>
                <a:srgbClr val="FF0000"/>
              </a:solidFill>
            </a:endParaRPr>
          </a:p>
          <a:p>
            <a:pPr lvl="2"/>
            <a:r>
              <a:rPr lang="ko-KR" altLang="en-US" dirty="0"/>
              <a:t>인증 공격</a:t>
            </a:r>
          </a:p>
          <a:p>
            <a:pPr lvl="3"/>
            <a:r>
              <a:rPr lang="ko-KR" altLang="en-US" dirty="0"/>
              <a:t>네트워크로 접근한 사용자가 적절치 않은 인증으로 </a:t>
            </a:r>
            <a:r>
              <a:rPr lang="ko-KR" altLang="en-US" dirty="0">
                <a:solidFill>
                  <a:srgbClr val="FF0000"/>
                </a:solidFill>
              </a:rPr>
              <a:t>다른 사용자로 위장</a:t>
            </a:r>
            <a:r>
              <a:rPr lang="ko-KR" altLang="en-US" dirty="0"/>
              <a:t>하는 것</a:t>
            </a:r>
            <a:endParaRPr lang="en-US" altLang="ko-KR" dirty="0"/>
          </a:p>
          <a:p>
            <a:pPr lvl="3"/>
            <a:r>
              <a:rPr lang="ko-KR" altLang="en-US" dirty="0"/>
              <a:t>가짜 은행 사이트를 만들어 은행 이용자의 공인인증서 정보를 획득한 뒤 악용하는 사례</a:t>
            </a:r>
            <a:endParaRPr lang="en-US" altLang="ko-KR" dirty="0"/>
          </a:p>
          <a:p>
            <a:pPr lvl="3"/>
            <a:endParaRPr lang="en-US" altLang="ko-KR" dirty="0"/>
          </a:p>
          <a:p>
            <a:pPr lvl="2"/>
            <a:r>
              <a:rPr lang="ko-KR" altLang="en-US" dirty="0"/>
              <a:t>송수신 부인 공격</a:t>
            </a:r>
          </a:p>
          <a:p>
            <a:pPr lvl="3"/>
            <a:r>
              <a:rPr lang="ko-KR" altLang="en-US" dirty="0"/>
              <a:t>네트워크를 통해 수행한 </a:t>
            </a:r>
            <a:r>
              <a:rPr lang="ko-KR" altLang="en-US" dirty="0">
                <a:solidFill>
                  <a:srgbClr val="FF0000"/>
                </a:solidFill>
              </a:rPr>
              <a:t>인증 및 거래 내역을 부인</a:t>
            </a:r>
            <a:r>
              <a:rPr lang="ko-KR" altLang="en-US" dirty="0"/>
              <a:t>하는 것</a:t>
            </a:r>
            <a:endParaRPr lang="en-US" altLang="ko-KR" dirty="0"/>
          </a:p>
          <a:p>
            <a:pPr lvl="3"/>
            <a:r>
              <a:rPr lang="ko-KR" altLang="en-US" dirty="0"/>
              <a:t>계좌이체나 신용카드로 </a:t>
            </a:r>
            <a:r>
              <a:rPr lang="ko-KR" altLang="en-US" dirty="0">
                <a:solidFill>
                  <a:srgbClr val="FF0000"/>
                </a:solidFill>
              </a:rPr>
              <a:t>지불</a:t>
            </a:r>
            <a:r>
              <a:rPr lang="ko-KR" altLang="en-US" dirty="0"/>
              <a:t>을 받고도 받지 않았다고 </a:t>
            </a:r>
            <a:r>
              <a:rPr lang="ko-KR" altLang="en-US" dirty="0">
                <a:solidFill>
                  <a:srgbClr val="FF0000"/>
                </a:solidFill>
              </a:rPr>
              <a:t>부인</a:t>
            </a:r>
            <a:r>
              <a:rPr lang="ko-KR" altLang="en-US" dirty="0"/>
              <a:t>하거나 </a:t>
            </a:r>
            <a:r>
              <a:rPr lang="ko-KR" altLang="en-US" dirty="0" err="1"/>
              <a:t>소매점으로부터</a:t>
            </a:r>
            <a:r>
              <a:rPr lang="ko-KR" altLang="en-US" dirty="0"/>
              <a:t> </a:t>
            </a:r>
            <a:r>
              <a:rPr lang="ko-KR" altLang="en-US" dirty="0">
                <a:solidFill>
                  <a:srgbClr val="FF0000"/>
                </a:solidFill>
              </a:rPr>
              <a:t>상품을 받은 </a:t>
            </a:r>
            <a:r>
              <a:rPr lang="ko-KR" altLang="en-US" dirty="0"/>
              <a:t>후 받지</a:t>
            </a:r>
            <a:r>
              <a:rPr lang="en-US" altLang="ko-KR" dirty="0"/>
              <a:t> </a:t>
            </a:r>
            <a:r>
              <a:rPr lang="ko-KR" altLang="en-US" dirty="0"/>
              <a:t>않았</a:t>
            </a:r>
            <a:endParaRPr lang="en-US" altLang="ko-KR" dirty="0"/>
          </a:p>
          <a:p>
            <a:pPr marL="628650" lvl="3" indent="0">
              <a:buNone/>
            </a:pPr>
            <a:r>
              <a:rPr lang="en-US" altLang="ko-KR" dirty="0"/>
              <a:t>    </a:t>
            </a:r>
            <a:r>
              <a:rPr lang="ko-KR" altLang="en-US" dirty="0"/>
              <a:t>다고 </a:t>
            </a:r>
            <a:r>
              <a:rPr lang="ko-KR" altLang="en-US" dirty="0">
                <a:solidFill>
                  <a:srgbClr val="FF0000"/>
                </a:solidFill>
              </a:rPr>
              <a:t>부인</a:t>
            </a:r>
            <a:r>
              <a:rPr lang="ko-KR" altLang="en-US" dirty="0"/>
              <a:t>하는 사례</a:t>
            </a:r>
            <a:endParaRPr lang="en-US" altLang="ko-KR" dirty="0"/>
          </a:p>
          <a:p>
            <a:pPr marL="628650" lvl="3" indent="0">
              <a:buNone/>
            </a:pPr>
            <a:endParaRPr lang="en-US" altLang="ko-KR" dirty="0"/>
          </a:p>
          <a:p>
            <a:pPr lvl="2"/>
            <a:r>
              <a:rPr lang="ko-KR" altLang="en-US" dirty="0"/>
              <a:t>기밀성 공격</a:t>
            </a:r>
          </a:p>
          <a:p>
            <a:pPr lvl="3"/>
            <a:r>
              <a:rPr lang="ko-KR" altLang="en-US" dirty="0"/>
              <a:t>네트워크로 전달되는 </a:t>
            </a:r>
            <a:r>
              <a:rPr lang="ko-KR" altLang="en-US" dirty="0">
                <a:solidFill>
                  <a:srgbClr val="FF0000"/>
                </a:solidFill>
              </a:rPr>
              <a:t>인증 정보 및 주요 거래 정보가 유출</a:t>
            </a:r>
            <a:r>
              <a:rPr lang="ko-KR" altLang="en-US" dirty="0"/>
              <a:t>되는 것</a:t>
            </a:r>
            <a:endParaRPr lang="en-US" altLang="ko-KR" dirty="0"/>
          </a:p>
          <a:p>
            <a:pPr lvl="3"/>
            <a:r>
              <a:rPr lang="ko-KR" altLang="en-US" dirty="0"/>
              <a:t>전자결제를 할 때 </a:t>
            </a:r>
            <a:r>
              <a:rPr lang="ko-KR" altLang="en-US" dirty="0">
                <a:solidFill>
                  <a:srgbClr val="FF0000"/>
                </a:solidFill>
              </a:rPr>
              <a:t>신용카드 번호 정보가 유출</a:t>
            </a:r>
            <a:r>
              <a:rPr lang="ko-KR" altLang="en-US" dirty="0"/>
              <a:t>되어 악용되는 경우</a:t>
            </a:r>
            <a:endParaRPr lang="en-US" altLang="ko-KR" dirty="0"/>
          </a:p>
          <a:p>
            <a:pPr lvl="3"/>
            <a:endParaRPr lang="en-US" altLang="ko-KR" dirty="0"/>
          </a:p>
          <a:p>
            <a:pPr lvl="2"/>
            <a:r>
              <a:rPr lang="ko-KR" altLang="en-US" dirty="0"/>
              <a:t>무결성에 대한 공격</a:t>
            </a:r>
          </a:p>
          <a:p>
            <a:pPr lvl="3"/>
            <a:r>
              <a:rPr lang="ko-KR" altLang="en-US" dirty="0"/>
              <a:t>네트워크 도중에 </a:t>
            </a:r>
            <a:r>
              <a:rPr lang="ko-KR" altLang="en-US" dirty="0">
                <a:solidFill>
                  <a:srgbClr val="FF0000"/>
                </a:solidFill>
              </a:rPr>
              <a:t>거래 정보 등이 변조</a:t>
            </a:r>
            <a:r>
              <a:rPr lang="ko-KR" altLang="en-US" dirty="0"/>
              <a:t>되는 것</a:t>
            </a:r>
            <a:endParaRPr lang="en-US" altLang="ko-KR" dirty="0"/>
          </a:p>
          <a:p>
            <a:pPr lvl="3"/>
            <a:r>
              <a:rPr lang="ko-KR" altLang="en-US" dirty="0"/>
              <a:t>온라인 계좌이체 등을 이용한 전자결제 시 </a:t>
            </a:r>
            <a:r>
              <a:rPr lang="ko-KR" altLang="en-US" dirty="0">
                <a:solidFill>
                  <a:srgbClr val="FF0000"/>
                </a:solidFill>
              </a:rPr>
              <a:t>수신 계좌나 금액 등을 변조</a:t>
            </a:r>
            <a:r>
              <a:rPr lang="ko-KR" altLang="en-US" dirty="0"/>
              <a:t>하는 사례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0802597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전자 상거래의 이해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290266" cy="5400600"/>
          </a:xfrm>
        </p:spPr>
        <p:txBody>
          <a:bodyPr/>
          <a:lstStyle/>
          <a:p>
            <a:r>
              <a:rPr lang="ko-KR" altLang="en-US" dirty="0"/>
              <a:t>전자 상거래의 보안 요건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전자상거래가 성공하기 위한 </a:t>
            </a:r>
            <a:r>
              <a:rPr lang="ko-KR" altLang="en-US" dirty="0">
                <a:solidFill>
                  <a:srgbClr val="FF0000"/>
                </a:solidFill>
              </a:rPr>
              <a:t>보안 요건</a:t>
            </a:r>
          </a:p>
          <a:p>
            <a:pPr lvl="2">
              <a:defRPr/>
            </a:pPr>
            <a:r>
              <a:rPr lang="ko-KR" altLang="en-US" dirty="0">
                <a:solidFill>
                  <a:srgbClr val="FF0000"/>
                </a:solidFill>
              </a:rPr>
              <a:t>신분 확인 수단 </a:t>
            </a:r>
            <a:r>
              <a:rPr lang="ko-KR" altLang="en-US" dirty="0"/>
              <a:t>제공</a:t>
            </a:r>
            <a:endParaRPr lang="en-US" altLang="ko-KR" dirty="0"/>
          </a:p>
          <a:p>
            <a:pPr lvl="3">
              <a:defRPr/>
            </a:pPr>
            <a:r>
              <a:rPr lang="ko-KR" altLang="en-US" dirty="0"/>
              <a:t>원격의 거래 상대를 신뢰할 수 없기 때문에 네트워크에서 상대방이나 자신에 대한 신분 확인 수단이 필요</a:t>
            </a:r>
            <a:endParaRPr lang="en-US" altLang="ko-KR" dirty="0"/>
          </a:p>
          <a:p>
            <a:pPr lvl="3">
              <a:defRPr/>
            </a:pPr>
            <a:endParaRPr lang="en-US" altLang="ko-KR" sz="150" dirty="0"/>
          </a:p>
          <a:p>
            <a:pPr lvl="2">
              <a:defRPr/>
            </a:pPr>
            <a:r>
              <a:rPr lang="ko-KR" altLang="en-US" dirty="0">
                <a:solidFill>
                  <a:srgbClr val="FF0000"/>
                </a:solidFill>
              </a:rPr>
              <a:t>제삼자의 중재</a:t>
            </a:r>
            <a:endParaRPr lang="en-US" altLang="ko-KR" dirty="0">
              <a:solidFill>
                <a:srgbClr val="FF0000"/>
              </a:solidFill>
            </a:endParaRPr>
          </a:p>
          <a:p>
            <a:pPr lvl="3">
              <a:defRPr/>
            </a:pPr>
            <a:r>
              <a:rPr lang="ko-KR" altLang="en-US" dirty="0"/>
              <a:t>거래 사실</a:t>
            </a:r>
            <a:r>
              <a:rPr lang="en-US" altLang="ko-KR" dirty="0"/>
              <a:t>(</a:t>
            </a:r>
            <a:r>
              <a:rPr lang="ko-KR" altLang="en-US" dirty="0"/>
              <a:t>거래 내역</a:t>
            </a:r>
            <a:r>
              <a:rPr lang="en-US" altLang="ko-KR" dirty="0"/>
              <a:t>)</a:t>
            </a:r>
            <a:r>
              <a:rPr lang="ko-KR" altLang="en-US" dirty="0"/>
              <a:t>을 공증할 수 있는 신뢰할 만한 제삼자의 중재 필요</a:t>
            </a:r>
            <a:endParaRPr lang="en-US" altLang="ko-KR" dirty="0"/>
          </a:p>
          <a:p>
            <a:pPr lvl="3">
              <a:defRPr/>
            </a:pPr>
            <a:endParaRPr lang="en-US" altLang="ko-KR" sz="100" dirty="0"/>
          </a:p>
          <a:p>
            <a:pPr lvl="2">
              <a:defRPr/>
            </a:pPr>
            <a:r>
              <a:rPr lang="ko-KR" altLang="en-US" dirty="0">
                <a:solidFill>
                  <a:srgbClr val="FF0000"/>
                </a:solidFill>
              </a:rPr>
              <a:t>지불 방식의 안전성</a:t>
            </a:r>
            <a:endParaRPr lang="en-US" altLang="ko-KR" dirty="0">
              <a:solidFill>
                <a:srgbClr val="FF0000"/>
              </a:solidFill>
            </a:endParaRPr>
          </a:p>
          <a:p>
            <a:pPr lvl="3">
              <a:defRPr/>
            </a:pPr>
            <a:r>
              <a:rPr lang="ko-KR" altLang="en-US" dirty="0"/>
              <a:t>전자지불 방식</a:t>
            </a:r>
            <a:r>
              <a:rPr lang="en-US" altLang="ko-KR" dirty="0"/>
              <a:t>(</a:t>
            </a:r>
            <a:r>
              <a:rPr lang="ko-KR" altLang="en-US" dirty="0"/>
              <a:t>과정</a:t>
            </a:r>
            <a:r>
              <a:rPr lang="en-US" altLang="ko-KR" dirty="0"/>
              <a:t>)</a:t>
            </a:r>
            <a:r>
              <a:rPr lang="ko-KR" altLang="en-US" dirty="0"/>
              <a:t>의 안전성을 보장하는 방법이 확보되어야 함</a:t>
            </a:r>
            <a:endParaRPr lang="en-US" altLang="ko-KR" dirty="0"/>
          </a:p>
          <a:p>
            <a:pPr lvl="3">
              <a:defRPr/>
            </a:pPr>
            <a:endParaRPr lang="en-US" altLang="ko-KR" sz="100" dirty="0"/>
          </a:p>
          <a:p>
            <a:pPr lvl="2">
              <a:defRPr/>
            </a:pPr>
            <a:r>
              <a:rPr lang="ko-KR" altLang="en-US" dirty="0" err="1">
                <a:solidFill>
                  <a:srgbClr val="FF0000"/>
                </a:solidFill>
              </a:rPr>
              <a:t>블록체인을</a:t>
            </a:r>
            <a:r>
              <a:rPr lang="ko-KR" altLang="en-US" dirty="0">
                <a:solidFill>
                  <a:srgbClr val="FF0000"/>
                </a:solidFill>
              </a:rPr>
              <a:t> 활용</a:t>
            </a:r>
            <a:r>
              <a:rPr lang="ko-KR" altLang="en-US" dirty="0"/>
              <a:t>하는 </a:t>
            </a:r>
            <a:r>
              <a:rPr lang="ko-KR" altLang="en-US" dirty="0" err="1"/>
              <a:t>비트코인과</a:t>
            </a:r>
            <a:r>
              <a:rPr lang="ko-KR" altLang="en-US" dirty="0"/>
              <a:t> 같은 거래 체계가 활성화된다면 전자 상거래의 세 가지 보안 요건 중 </a:t>
            </a:r>
            <a:endParaRPr lang="en-US" altLang="ko-KR" dirty="0"/>
          </a:p>
          <a:p>
            <a:pPr marL="447675" lvl="2" indent="0">
              <a:buNone/>
              <a:defRPr/>
            </a:pPr>
            <a:r>
              <a:rPr lang="en-US" altLang="ko-KR" dirty="0"/>
              <a:t>   </a:t>
            </a:r>
            <a:r>
              <a:rPr lang="ko-KR" altLang="en-US" dirty="0">
                <a:solidFill>
                  <a:srgbClr val="FF0000"/>
                </a:solidFill>
              </a:rPr>
              <a:t>‘제삼자의 </a:t>
            </a:r>
            <a:r>
              <a:rPr lang="ko-KR" altLang="en-US" dirty="0" err="1">
                <a:solidFill>
                  <a:srgbClr val="FF0000"/>
                </a:solidFill>
              </a:rPr>
              <a:t>중재’는</a:t>
            </a:r>
            <a:r>
              <a:rPr lang="ko-KR" altLang="en-US" dirty="0">
                <a:solidFill>
                  <a:srgbClr val="FF0000"/>
                </a:solidFill>
              </a:rPr>
              <a:t> 앞으로 완전히 사라질 수 있음</a:t>
            </a:r>
            <a:endParaRPr lang="en-US" altLang="ko-KR" dirty="0">
              <a:solidFill>
                <a:srgbClr val="FF0000"/>
              </a:solidFill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5657" y="4293096"/>
            <a:ext cx="3619363" cy="2523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673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공개 키 기반 구조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290266" cy="5400600"/>
          </a:xfrm>
        </p:spPr>
        <p:txBody>
          <a:bodyPr/>
          <a:lstStyle/>
          <a:p>
            <a:r>
              <a:rPr lang="ko-KR" altLang="en-US" dirty="0"/>
              <a:t>공개 키 기반 구조의 개념</a:t>
            </a:r>
            <a:endParaRPr lang="en-US" altLang="ko-KR" dirty="0"/>
          </a:p>
          <a:p>
            <a:pPr lvl="1"/>
            <a:r>
              <a:rPr lang="ko-KR" altLang="en-US" dirty="0"/>
              <a:t>공개 키 기반 구조 </a:t>
            </a:r>
            <a:r>
              <a:rPr lang="en-US" altLang="ko-KR" dirty="0"/>
              <a:t>(</a:t>
            </a:r>
            <a:r>
              <a:rPr lang="en-US" altLang="ko-KR" dirty="0">
                <a:solidFill>
                  <a:srgbClr val="FF0000"/>
                </a:solidFill>
              </a:rPr>
              <a:t>PKI</a:t>
            </a:r>
            <a:r>
              <a:rPr lang="en-US" altLang="ko-KR" dirty="0"/>
              <a:t>)</a:t>
            </a:r>
          </a:p>
          <a:p>
            <a:pPr lvl="2"/>
            <a:r>
              <a:rPr lang="ko-KR" altLang="en-US" dirty="0"/>
              <a:t>메시지의 암호화 및 전자 서명을 제공하는 복합적인 보안 시스템 환경</a:t>
            </a:r>
            <a:endParaRPr lang="en-US" altLang="ko-KR" dirty="0"/>
          </a:p>
          <a:p>
            <a:pPr lvl="2"/>
            <a:r>
              <a:rPr lang="ko-KR" altLang="en-US" dirty="0"/>
              <a:t>공개 키 기반 구조는 ‘인터넷에서 신분증을 검증해주는 </a:t>
            </a:r>
            <a:r>
              <a:rPr lang="ko-KR" altLang="en-US" dirty="0" err="1"/>
              <a:t>관청’의</a:t>
            </a:r>
            <a:r>
              <a:rPr lang="ko-KR" altLang="en-US" dirty="0"/>
              <a:t> 역할</a:t>
            </a:r>
            <a:endParaRPr lang="en-US" altLang="ko-KR" dirty="0"/>
          </a:p>
          <a:p>
            <a:pPr lvl="2"/>
            <a:r>
              <a:rPr lang="ko-KR" altLang="en-US" dirty="0"/>
              <a:t>가장 가까운 관청인 주민센터가 있고 그 위에 구청</a:t>
            </a:r>
            <a:r>
              <a:rPr lang="en-US" altLang="ko-KR" dirty="0"/>
              <a:t>, </a:t>
            </a:r>
            <a:r>
              <a:rPr lang="ko-KR" altLang="en-US" dirty="0"/>
              <a:t>시청이 있으며 맨 위에 정부가 있는 것과 마찬가지</a:t>
            </a:r>
            <a:endParaRPr lang="en-US" altLang="ko-KR" dirty="0"/>
          </a:p>
          <a:p>
            <a:pPr lvl="2"/>
            <a:r>
              <a:rPr lang="ko-KR" altLang="en-US" dirty="0"/>
              <a:t>공개 키 기반 구조에 속하는 사람은 어디서든지 자신의 인터넷상 신분을 </a:t>
            </a:r>
            <a:r>
              <a:rPr lang="ko-KR" altLang="en-US" dirty="0">
                <a:solidFill>
                  <a:srgbClr val="FF0000"/>
                </a:solidFill>
              </a:rPr>
              <a:t>인증 기관</a:t>
            </a:r>
            <a:r>
              <a:rPr lang="en-US" altLang="ko-KR" dirty="0">
                <a:solidFill>
                  <a:srgbClr val="FF0000"/>
                </a:solidFill>
              </a:rPr>
              <a:t>(CA)</a:t>
            </a:r>
            <a:r>
              <a:rPr lang="ko-KR" altLang="en-US" dirty="0"/>
              <a:t>에서 </a:t>
            </a:r>
            <a:r>
              <a:rPr lang="ko-KR" altLang="en-US" dirty="0">
                <a:solidFill>
                  <a:srgbClr val="FF0000"/>
                </a:solidFill>
              </a:rPr>
              <a:t>공인인증서를 </a:t>
            </a:r>
            <a:endParaRPr lang="en-US" altLang="ko-KR" dirty="0">
              <a:solidFill>
                <a:srgbClr val="FF0000"/>
              </a:solidFill>
            </a:endParaRPr>
          </a:p>
          <a:p>
            <a:pPr marL="447675" lvl="2" indent="0">
              <a:buNone/>
            </a:pPr>
            <a:r>
              <a:rPr lang="en-US" altLang="ko-KR" dirty="0">
                <a:solidFill>
                  <a:srgbClr val="FF0000"/>
                </a:solidFill>
              </a:rPr>
              <a:t>   </a:t>
            </a:r>
            <a:r>
              <a:rPr lang="ko-KR" altLang="en-US" dirty="0">
                <a:solidFill>
                  <a:srgbClr val="FF0000"/>
                </a:solidFill>
              </a:rPr>
              <a:t>이용</a:t>
            </a:r>
            <a:r>
              <a:rPr lang="ko-KR" altLang="en-US" dirty="0"/>
              <a:t>하여 증명 가능</a:t>
            </a:r>
            <a:endParaRPr lang="en-US" altLang="ko-KR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736" y="3429000"/>
            <a:ext cx="4536504" cy="3069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6941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공개 키 기반 구조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290266" cy="5400600"/>
          </a:xfrm>
        </p:spPr>
        <p:txBody>
          <a:bodyPr>
            <a:noAutofit/>
          </a:bodyPr>
          <a:lstStyle/>
          <a:p>
            <a:r>
              <a:rPr lang="ko-KR" altLang="en-US" dirty="0"/>
              <a:t>공개 키 기반 구조의 개념</a:t>
            </a:r>
            <a:endParaRPr lang="en-US" altLang="ko-KR" dirty="0"/>
          </a:p>
          <a:p>
            <a:pPr lvl="1"/>
            <a:r>
              <a:rPr lang="ko-KR" altLang="en-US" dirty="0" err="1"/>
              <a:t>트리형</a:t>
            </a:r>
            <a:r>
              <a:rPr lang="ko-KR" altLang="en-US" dirty="0"/>
              <a:t> 공개 키 기반 구조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공개 키 기반 구조가 되려면 인증 정보를 일원화하여 호환성을 갖춤으로써 개인이 쉽게 접근할 수 있어야 함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순수 계층 구조</a:t>
            </a:r>
            <a:r>
              <a:rPr lang="en-US" altLang="ko-KR" dirty="0"/>
              <a:t>: </a:t>
            </a:r>
            <a:r>
              <a:rPr lang="ko-KR" altLang="en-US" dirty="0" err="1">
                <a:solidFill>
                  <a:srgbClr val="FF0000"/>
                </a:solidFill>
              </a:rPr>
              <a:t>트리형</a:t>
            </a:r>
            <a:r>
              <a:rPr lang="ko-KR" altLang="en-US" dirty="0" err="1"/>
              <a:t>으로</a:t>
            </a:r>
            <a:r>
              <a:rPr lang="ko-KR" altLang="en-US" dirty="0"/>
              <a:t> 구성된 공개 키 기반 구조</a:t>
            </a: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3">
              <a:defRPr/>
            </a:pPr>
            <a:endParaRPr lang="en-US" altLang="ko-KR" dirty="0"/>
          </a:p>
          <a:p>
            <a:pPr lvl="3">
              <a:defRPr/>
            </a:pPr>
            <a:r>
              <a:rPr lang="en-US" altLang="ko-KR" dirty="0">
                <a:solidFill>
                  <a:srgbClr val="FF0000"/>
                </a:solidFill>
              </a:rPr>
              <a:t>PAA</a:t>
            </a:r>
            <a:r>
              <a:rPr lang="en-US" altLang="ko-KR" dirty="0"/>
              <a:t>: </a:t>
            </a:r>
            <a:r>
              <a:rPr lang="ko-KR" altLang="en-US" dirty="0"/>
              <a:t>정책 승인 기관으로 </a:t>
            </a:r>
            <a:r>
              <a:rPr lang="ko-KR" altLang="en-US" dirty="0">
                <a:solidFill>
                  <a:srgbClr val="FF0000"/>
                </a:solidFill>
              </a:rPr>
              <a:t>공인인증서 정책을 결정</a:t>
            </a:r>
            <a:r>
              <a:rPr lang="ko-KR" altLang="en-US" dirty="0"/>
              <a:t>하고 하위 기관 정책을 승인</a:t>
            </a:r>
            <a:r>
              <a:rPr lang="en-US" altLang="ko-KR" dirty="0"/>
              <a:t>.</a:t>
            </a:r>
          </a:p>
          <a:p>
            <a:pPr lvl="3">
              <a:defRPr/>
            </a:pPr>
            <a:r>
              <a:rPr lang="en-US" altLang="ko-KR" dirty="0">
                <a:solidFill>
                  <a:srgbClr val="FF0000"/>
                </a:solidFill>
              </a:rPr>
              <a:t>PCA</a:t>
            </a:r>
            <a:r>
              <a:rPr lang="en-US" altLang="ko-KR" dirty="0"/>
              <a:t>: </a:t>
            </a:r>
            <a:r>
              <a:rPr lang="ko-KR" altLang="en-US" dirty="0"/>
              <a:t>정책 인증 기관으로 </a:t>
            </a:r>
            <a:r>
              <a:rPr lang="en-US" altLang="ko-KR" dirty="0">
                <a:solidFill>
                  <a:srgbClr val="FF0000"/>
                </a:solidFill>
              </a:rPr>
              <a:t>Root CA </a:t>
            </a:r>
            <a:r>
              <a:rPr lang="ko-KR" altLang="en-US" dirty="0">
                <a:solidFill>
                  <a:srgbClr val="FF0000"/>
                </a:solidFill>
              </a:rPr>
              <a:t>인증서를 발급</a:t>
            </a:r>
            <a:r>
              <a:rPr lang="ko-KR" altLang="en-US" dirty="0"/>
              <a:t>하고 기본 정책을 수립</a:t>
            </a:r>
            <a:r>
              <a:rPr lang="en-US" altLang="ko-KR" dirty="0"/>
              <a:t>.</a:t>
            </a:r>
          </a:p>
          <a:p>
            <a:pPr lvl="3">
              <a:defRPr/>
            </a:pPr>
            <a:r>
              <a:rPr lang="en-US" altLang="ko-KR" dirty="0">
                <a:solidFill>
                  <a:srgbClr val="FF0000"/>
                </a:solidFill>
              </a:rPr>
              <a:t>CA</a:t>
            </a:r>
            <a:r>
              <a:rPr lang="en-US" altLang="ko-KR" dirty="0"/>
              <a:t>: PCA</a:t>
            </a:r>
            <a:r>
              <a:rPr lang="ko-KR" altLang="en-US" dirty="0"/>
              <a:t>의 하위 기관인 인증 기관으로 </a:t>
            </a:r>
            <a:r>
              <a:rPr lang="ko-KR" altLang="en-US" dirty="0">
                <a:solidFill>
                  <a:srgbClr val="FF0000"/>
                </a:solidFill>
              </a:rPr>
              <a:t>인증서 발급과 취소</a:t>
            </a:r>
            <a:r>
              <a:rPr lang="ko-KR" altLang="en-US" dirty="0"/>
              <a:t> 등의 실질적인 업무 담당</a:t>
            </a:r>
            <a:r>
              <a:rPr lang="en-US" altLang="ko-KR" dirty="0"/>
              <a:t>.</a:t>
            </a:r>
          </a:p>
          <a:p>
            <a:pPr lvl="3">
              <a:defRPr/>
            </a:pPr>
            <a:r>
              <a:rPr lang="en-US" altLang="ko-KR" dirty="0">
                <a:solidFill>
                  <a:srgbClr val="FF0000"/>
                </a:solidFill>
              </a:rPr>
              <a:t>RA</a:t>
            </a:r>
            <a:r>
              <a:rPr lang="en-US" altLang="ko-KR" dirty="0"/>
              <a:t>: </a:t>
            </a:r>
            <a:r>
              <a:rPr lang="ko-KR" altLang="en-US" dirty="0"/>
              <a:t>등록 기관으로 </a:t>
            </a:r>
            <a:r>
              <a:rPr lang="ko-KR" altLang="en-US" dirty="0">
                <a:solidFill>
                  <a:srgbClr val="FF0000"/>
                </a:solidFill>
              </a:rPr>
              <a:t>공인인증서 인증 요청을 확인</a:t>
            </a:r>
            <a:r>
              <a:rPr lang="ko-KR" altLang="en-US" dirty="0"/>
              <a:t>하고 </a:t>
            </a:r>
            <a:r>
              <a:rPr lang="en-US" altLang="ko-KR" dirty="0"/>
              <a:t>CA </a:t>
            </a:r>
            <a:r>
              <a:rPr lang="ko-KR" altLang="en-US" dirty="0"/>
              <a:t>간 인터페이스 제공</a:t>
            </a:r>
            <a:endParaRPr lang="en-US" altLang="ko-KR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7784" y="2492896"/>
            <a:ext cx="4392488" cy="2882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6569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공개 키 기반 구조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290266" cy="5400600"/>
          </a:xfrm>
        </p:spPr>
        <p:txBody>
          <a:bodyPr>
            <a:noAutofit/>
          </a:bodyPr>
          <a:lstStyle/>
          <a:p>
            <a:r>
              <a:rPr lang="ko-KR" altLang="en-US" dirty="0"/>
              <a:t>공개 키 기반 구조의 개념</a:t>
            </a:r>
            <a:endParaRPr lang="en-US" altLang="ko-KR" dirty="0"/>
          </a:p>
          <a:p>
            <a:pPr lvl="1"/>
            <a:r>
              <a:rPr lang="ko-KR" altLang="en-US" dirty="0">
                <a:solidFill>
                  <a:srgbClr val="FF0000"/>
                </a:solidFill>
              </a:rPr>
              <a:t>상호 인증</a:t>
            </a:r>
            <a:r>
              <a:rPr lang="ko-KR" altLang="en-US" dirty="0"/>
              <a:t>으로 연결된 공개 키 기반 구조</a:t>
            </a:r>
            <a:endParaRPr lang="en-US" altLang="ko-KR" dirty="0"/>
          </a:p>
          <a:p>
            <a:pPr lvl="2"/>
            <a:r>
              <a:rPr lang="ko-KR" altLang="en-US" dirty="0"/>
              <a:t>인증 기관이 상호 인증을 통해 연결되어 있는 모델도 존재</a:t>
            </a:r>
            <a:endParaRPr lang="en-US" altLang="ko-KR" dirty="0"/>
          </a:p>
          <a:p>
            <a:pPr lvl="2"/>
            <a:r>
              <a:rPr lang="ko-KR" altLang="en-US" dirty="0"/>
              <a:t>두 인증 기관이 상대방의 공개 키를 서로 인증하는 인증서</a:t>
            </a:r>
            <a:r>
              <a:rPr lang="en-US" altLang="ko-KR" dirty="0"/>
              <a:t>, </a:t>
            </a:r>
            <a:r>
              <a:rPr lang="ko-KR" altLang="en-US" dirty="0"/>
              <a:t>즉 상호 인증서를 발급하여 사용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일반적으로 공개 키 기반 구조는 </a:t>
            </a:r>
            <a:r>
              <a:rPr lang="ko-KR" altLang="en-US" dirty="0" err="1"/>
              <a:t>트리형과</a:t>
            </a:r>
            <a:r>
              <a:rPr lang="ko-KR" altLang="en-US" dirty="0"/>
              <a:t> 네트워크 구조가 혼합</a:t>
            </a: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3">
              <a:defRPr/>
            </a:pPr>
            <a:endParaRPr lang="en-US" altLang="ko-KR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7764" y="2924944"/>
            <a:ext cx="3744416" cy="3436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8837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공개 키 기반 구조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290266" cy="5400600"/>
          </a:xfrm>
        </p:spPr>
        <p:txBody>
          <a:bodyPr>
            <a:noAutofit/>
          </a:bodyPr>
          <a:lstStyle/>
          <a:p>
            <a:r>
              <a:rPr lang="ko-KR" altLang="en-US" dirty="0"/>
              <a:t>공인 인증서</a:t>
            </a:r>
            <a:endParaRPr lang="en-US" altLang="ko-KR" dirty="0"/>
          </a:p>
          <a:p>
            <a:pPr lvl="1"/>
            <a:r>
              <a:rPr lang="ko-KR" altLang="en-US" dirty="0"/>
              <a:t>공인인증서의 개념</a:t>
            </a:r>
            <a:endParaRPr lang="en-US" altLang="ko-KR" dirty="0"/>
          </a:p>
          <a:p>
            <a:pPr lvl="2"/>
            <a:r>
              <a:rPr lang="ko-KR" altLang="en-US" dirty="0">
                <a:solidFill>
                  <a:srgbClr val="FF0000"/>
                </a:solidFill>
              </a:rPr>
              <a:t>공개 키와 공개 키의 소유자를 연결</a:t>
            </a:r>
            <a:r>
              <a:rPr lang="ko-KR" altLang="en-US" dirty="0"/>
              <a:t>해주는 전자문서</a:t>
            </a:r>
            <a:r>
              <a:rPr lang="en-US" altLang="ko-KR" dirty="0"/>
              <a:t>.</a:t>
            </a:r>
          </a:p>
          <a:p>
            <a:pPr lvl="2"/>
            <a:r>
              <a:rPr lang="ko-KR" altLang="en-US" dirty="0"/>
              <a:t>오늘날 사용하는 대부분의 공인인증서는 </a:t>
            </a:r>
            <a:r>
              <a:rPr lang="en-US" altLang="ko-KR" dirty="0">
                <a:solidFill>
                  <a:srgbClr val="FF0000"/>
                </a:solidFill>
              </a:rPr>
              <a:t>X.509 </a:t>
            </a:r>
            <a:r>
              <a:rPr lang="ko-KR" altLang="en-US" dirty="0">
                <a:solidFill>
                  <a:srgbClr val="FF0000"/>
                </a:solidFill>
              </a:rPr>
              <a:t>인증서</a:t>
            </a:r>
            <a:r>
              <a:rPr lang="en-US" altLang="ko-KR" dirty="0">
                <a:solidFill>
                  <a:srgbClr val="FF0000"/>
                </a:solidFill>
              </a:rPr>
              <a:t>(</a:t>
            </a:r>
            <a:r>
              <a:rPr lang="ko-KR" altLang="en-US" dirty="0">
                <a:solidFill>
                  <a:srgbClr val="FF0000"/>
                </a:solidFill>
              </a:rPr>
              <a:t>버전 </a:t>
            </a:r>
            <a:r>
              <a:rPr lang="en-US" altLang="ko-KR" dirty="0">
                <a:solidFill>
                  <a:srgbClr val="FF0000"/>
                </a:solidFill>
              </a:rPr>
              <a:t>3)</a:t>
            </a:r>
            <a:r>
              <a:rPr lang="ko-KR" altLang="en-US" dirty="0"/>
              <a:t>를 표준으로 따름</a:t>
            </a:r>
            <a:endParaRPr lang="en-US" altLang="ko-KR" dirty="0"/>
          </a:p>
          <a:p>
            <a:pPr lvl="2"/>
            <a:r>
              <a:rPr lang="en-US" altLang="ko-KR" dirty="0"/>
              <a:t> </a:t>
            </a:r>
            <a:r>
              <a:rPr lang="en-US" altLang="ko-KR" dirty="0">
                <a:solidFill>
                  <a:srgbClr val="FF0000"/>
                </a:solidFill>
              </a:rPr>
              <a:t>SPK I</a:t>
            </a:r>
            <a:r>
              <a:rPr lang="ko-KR" altLang="en-US" dirty="0">
                <a:solidFill>
                  <a:srgbClr val="FF0000"/>
                </a:solidFill>
              </a:rPr>
              <a:t>인증서</a:t>
            </a:r>
            <a:r>
              <a:rPr lang="en-US" altLang="ko-KR" dirty="0">
                <a:solidFill>
                  <a:srgbClr val="FF0000"/>
                </a:solidFill>
              </a:rPr>
              <a:t>, PGP </a:t>
            </a:r>
            <a:r>
              <a:rPr lang="ko-KR" altLang="en-US" dirty="0">
                <a:solidFill>
                  <a:srgbClr val="FF0000"/>
                </a:solidFill>
              </a:rPr>
              <a:t>인증서</a:t>
            </a:r>
            <a:r>
              <a:rPr lang="ko-KR" altLang="en-US" dirty="0"/>
              <a:t>가 있음</a:t>
            </a: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1"/>
            <a:r>
              <a:rPr lang="ko-KR" altLang="en-US" dirty="0"/>
              <a:t>공인인증서의 특성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누구나 사용자의 공인 인증서와 공개 키를 획득할 수 있음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인증 기관 이외에는 공인 인증서를 수정 및 발급할 수 없음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같은 인증 구조 내의 사용자 간에는 </a:t>
            </a:r>
            <a:r>
              <a:rPr lang="ko-KR" altLang="en-US" dirty="0">
                <a:solidFill>
                  <a:srgbClr val="FF0000"/>
                </a:solidFill>
              </a:rPr>
              <a:t>상호 인증의 신뢰</a:t>
            </a:r>
            <a:r>
              <a:rPr lang="ko-KR" altLang="en-US" dirty="0"/>
              <a:t>가 </a:t>
            </a:r>
            <a:r>
              <a:rPr lang="ko-KR" altLang="en-US" dirty="0" smtClean="0"/>
              <a:t>가능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9294569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공개 키 기반 구조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362274" cy="5400600"/>
          </a:xfrm>
        </p:spPr>
        <p:txBody>
          <a:bodyPr>
            <a:noAutofit/>
          </a:bodyPr>
          <a:lstStyle/>
          <a:p>
            <a:r>
              <a:rPr lang="ko-KR" altLang="en-US" dirty="0"/>
              <a:t>공인 인증서</a:t>
            </a:r>
            <a:endParaRPr lang="en-US" altLang="ko-KR" dirty="0"/>
          </a:p>
          <a:p>
            <a:pPr lvl="1"/>
            <a:r>
              <a:rPr lang="ko-KR" altLang="en-US" dirty="0"/>
              <a:t>공인인증서의 구성</a:t>
            </a:r>
            <a:endParaRPr lang="en-US" altLang="ko-KR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6424" y="1556792"/>
            <a:ext cx="3866920" cy="5176911"/>
          </a:xfrm>
          <a:prstGeom prst="rect">
            <a:avLst/>
          </a:prstGeom>
        </p:spPr>
      </p:pic>
      <p:sp>
        <p:nvSpPr>
          <p:cNvPr id="6" name="내용 개체 틀 2"/>
          <p:cNvSpPr txBox="1">
            <a:spLocks/>
          </p:cNvSpPr>
          <p:nvPr/>
        </p:nvSpPr>
        <p:spPr>
          <a:xfrm>
            <a:off x="-258171" y="1827352"/>
            <a:ext cx="4969514" cy="325783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685800" rtl="0" eaLnBrk="1" latinLnBrk="1" hangingPunct="1">
              <a:lnSpc>
                <a:spcPct val="150000"/>
              </a:lnSpc>
              <a:spcBef>
                <a:spcPts val="0"/>
              </a:spcBef>
              <a:buClr>
                <a:srgbClr val="009BA8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defTabSz="685800" rtl="0" eaLnBrk="1" latinLnBrk="1" hangingPunct="1">
              <a:lnSpc>
                <a:spcPct val="90000"/>
              </a:lnSpc>
              <a:spcBef>
                <a:spcPts val="375"/>
              </a:spcBef>
              <a:spcAft>
                <a:spcPts val="400"/>
              </a:spcAft>
              <a:buClr>
                <a:srgbClr val="00B2C0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defTabSz="685800" rtl="0" eaLnBrk="1" latinLnBrk="1" hangingPunct="1">
              <a:lnSpc>
                <a:spcPct val="90000"/>
              </a:lnSpc>
              <a:spcBef>
                <a:spcPts val="375"/>
              </a:spcBef>
              <a:spcAft>
                <a:spcPts val="300"/>
              </a:spcAft>
              <a:buClr>
                <a:srgbClr val="00C1D0"/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defTabSz="685800" rtl="0" eaLnBrk="1" latinLnBrk="1" hangingPunct="1">
              <a:lnSpc>
                <a:spcPct val="90000"/>
              </a:lnSpc>
              <a:spcBef>
                <a:spcPts val="375"/>
              </a:spcBef>
              <a:spcAft>
                <a:spcPts val="300"/>
              </a:spcAft>
              <a:buClr>
                <a:srgbClr val="00C1D0"/>
              </a:buClr>
              <a:buSzPct val="96000"/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defTabSz="685800" rtl="0" eaLnBrk="1" latinLnBrk="1" hangingPunct="1">
              <a:lnSpc>
                <a:spcPct val="90000"/>
              </a:lnSpc>
              <a:spcBef>
                <a:spcPts val="375"/>
              </a:spcBef>
              <a:buClr>
                <a:srgbClr val="00C1D0"/>
              </a:buClr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57250" lvl="3" indent="-228600">
              <a:buFont typeface="+mj-ea"/>
              <a:buAutoNum type="circleNumDbPlain"/>
            </a:pPr>
            <a:r>
              <a:rPr lang="ko-KR" altLang="en-US" dirty="0"/>
              <a:t>버전</a:t>
            </a:r>
            <a:r>
              <a:rPr lang="en-US" altLang="ko-KR" dirty="0"/>
              <a:t>: </a:t>
            </a:r>
            <a:r>
              <a:rPr lang="ko-KR" altLang="en-US" dirty="0"/>
              <a:t>공인 인증서의 형식을 구분 </a:t>
            </a:r>
            <a:endParaRPr lang="en-US" altLang="ko-KR" dirty="0"/>
          </a:p>
          <a:p>
            <a:pPr marL="809625" lvl="4" indent="0">
              <a:buFont typeface="Arial" panose="020B0604020202020204" pitchFamily="34" charset="0"/>
              <a:buNone/>
            </a:pPr>
            <a:r>
              <a:rPr lang="en-US" altLang="ko-KR" sz="1050" dirty="0"/>
              <a:t> (</a:t>
            </a:r>
            <a:r>
              <a:rPr lang="ko-KR" altLang="en-US" sz="1050" dirty="0"/>
              <a:t>우리가 사용하는 대부분의 공인 인증서는 버전 </a:t>
            </a:r>
            <a:r>
              <a:rPr lang="en-US" altLang="ko-KR" sz="1050" dirty="0"/>
              <a:t>3)</a:t>
            </a:r>
          </a:p>
          <a:p>
            <a:pPr marL="809625" lvl="4" indent="0">
              <a:buFont typeface="Arial" panose="020B0604020202020204" pitchFamily="34" charset="0"/>
              <a:buNone/>
            </a:pPr>
            <a:endParaRPr lang="en-US" altLang="ko-KR" sz="100" dirty="0"/>
          </a:p>
          <a:p>
            <a:pPr marL="857250" lvl="3" indent="-228600">
              <a:buFont typeface="+mj-ea"/>
              <a:buAutoNum type="circleNumDbPlain"/>
            </a:pPr>
            <a:r>
              <a:rPr lang="ko-KR" altLang="en-US" dirty="0"/>
              <a:t>일련 번호</a:t>
            </a:r>
            <a:r>
              <a:rPr lang="en-US" altLang="ko-KR" dirty="0"/>
              <a:t>: </a:t>
            </a:r>
            <a:r>
              <a:rPr lang="ko-KR" altLang="en-US" dirty="0"/>
              <a:t>공인 인증서를 발급한 인증 기관 내의 인증서 일련번호</a:t>
            </a:r>
            <a:endParaRPr lang="en-US" altLang="ko-KR" dirty="0"/>
          </a:p>
          <a:p>
            <a:pPr marL="857250" lvl="3" indent="-228600">
              <a:buFont typeface="+mj-ea"/>
              <a:buAutoNum type="circleNumDbPlain"/>
            </a:pPr>
            <a:endParaRPr lang="ko-KR" altLang="en-US" sz="100" dirty="0"/>
          </a:p>
          <a:p>
            <a:pPr marL="857250" lvl="3" indent="-228600">
              <a:buFont typeface="+mj-ea"/>
              <a:buAutoNum type="circleNumDbPlain"/>
            </a:pPr>
            <a:r>
              <a:rPr lang="ko-KR" altLang="en-US" dirty="0">
                <a:solidFill>
                  <a:srgbClr val="FF0000"/>
                </a:solidFill>
              </a:rPr>
              <a:t>서명 알고리즘</a:t>
            </a:r>
            <a:r>
              <a:rPr lang="en-US" altLang="ko-KR" dirty="0"/>
              <a:t>: </a:t>
            </a:r>
            <a:r>
              <a:rPr lang="ko-KR" altLang="en-US" dirty="0"/>
              <a:t>공인 인증서를 발급할 때 사용한 알고리즘</a:t>
            </a:r>
            <a:endParaRPr lang="en-US" altLang="ko-KR" dirty="0"/>
          </a:p>
          <a:p>
            <a:pPr marL="857250" lvl="3" indent="-228600">
              <a:buFont typeface="+mj-ea"/>
              <a:buAutoNum type="circleNumDbPlain"/>
            </a:pPr>
            <a:endParaRPr lang="ko-KR" altLang="en-US" sz="100" dirty="0"/>
          </a:p>
          <a:p>
            <a:pPr marL="857250" lvl="3" indent="-228600">
              <a:buFont typeface="+mj-ea"/>
              <a:buAutoNum type="circleNumDbPlain"/>
            </a:pPr>
            <a:r>
              <a:rPr lang="ko-KR" altLang="en-US" dirty="0" err="1"/>
              <a:t>발급자</a:t>
            </a:r>
            <a:r>
              <a:rPr lang="en-US" altLang="ko-KR" dirty="0"/>
              <a:t>: </a:t>
            </a:r>
            <a:r>
              <a:rPr lang="ko-KR" altLang="en-US" dirty="0"/>
              <a:t>공인 인증서를 발급한 인증 기관의 </a:t>
            </a:r>
            <a:r>
              <a:rPr lang="en-US" altLang="ko-KR" dirty="0"/>
              <a:t>DN, DN</a:t>
            </a:r>
            <a:r>
              <a:rPr lang="ko-KR" altLang="en-US" dirty="0"/>
              <a:t>은 </a:t>
            </a:r>
            <a:endParaRPr lang="en-US" altLang="ko-KR" dirty="0"/>
          </a:p>
          <a:p>
            <a:pPr marL="809625" lvl="4" indent="0">
              <a:buFont typeface="Arial" panose="020B0604020202020204" pitchFamily="34" charset="0"/>
              <a:buNone/>
            </a:pPr>
            <a:r>
              <a:rPr lang="en-US" altLang="ko-KR" sz="1050" dirty="0"/>
              <a:t> X.500 </a:t>
            </a:r>
            <a:r>
              <a:rPr lang="ko-KR" altLang="en-US" sz="1050" dirty="0"/>
              <a:t>표준에 따라 명명된 이름으로 </a:t>
            </a:r>
            <a:r>
              <a:rPr lang="en-US" altLang="ko-KR" sz="1050" dirty="0" err="1"/>
              <a:t>cn</a:t>
            </a:r>
            <a:r>
              <a:rPr lang="en-US" altLang="ko-KR" sz="1050" dirty="0"/>
              <a:t>, </a:t>
            </a:r>
            <a:r>
              <a:rPr lang="en-US" altLang="ko-KR" sz="1050" dirty="0" err="1"/>
              <a:t>ou</a:t>
            </a:r>
            <a:r>
              <a:rPr lang="en-US" altLang="ko-KR" sz="1050" dirty="0"/>
              <a:t>, o, c </a:t>
            </a:r>
            <a:r>
              <a:rPr lang="ko-KR" altLang="en-US" sz="1050" dirty="0"/>
              <a:t>필드로 구성</a:t>
            </a:r>
            <a:endParaRPr lang="en-US" altLang="ko-KR" sz="1050" dirty="0"/>
          </a:p>
          <a:p>
            <a:pPr marL="809625" lvl="4" indent="0">
              <a:buFont typeface="Arial" panose="020B0604020202020204" pitchFamily="34" charset="0"/>
              <a:buNone/>
            </a:pPr>
            <a:endParaRPr lang="en-US" altLang="ko-KR" sz="100" dirty="0"/>
          </a:p>
          <a:p>
            <a:pPr marL="857250" lvl="3" indent="-228600">
              <a:buFont typeface="+mj-ea"/>
              <a:buAutoNum type="circleNumDbPlain"/>
            </a:pPr>
            <a:r>
              <a:rPr lang="ko-KR" altLang="en-US" dirty="0"/>
              <a:t>유효 기간</a:t>
            </a:r>
            <a:r>
              <a:rPr lang="en-US" altLang="ko-KR" dirty="0"/>
              <a:t>: </a:t>
            </a:r>
            <a:r>
              <a:rPr lang="ko-KR" altLang="en-US" dirty="0"/>
              <a:t>공인 인증서를 사용할 수 있는 시작일과 만료일로 </a:t>
            </a:r>
            <a:endParaRPr lang="en-US" altLang="ko-KR" dirty="0"/>
          </a:p>
          <a:p>
            <a:pPr marL="809625" lvl="4" indent="0">
              <a:buFont typeface="Arial" panose="020B0604020202020204" pitchFamily="34" charset="0"/>
              <a:buNone/>
            </a:pPr>
            <a:r>
              <a:rPr lang="ko-KR" altLang="en-US" sz="1050" dirty="0"/>
              <a:t> 초 단위까지 표기</a:t>
            </a:r>
            <a:endParaRPr lang="en-US" altLang="ko-KR" sz="1050" dirty="0"/>
          </a:p>
          <a:p>
            <a:pPr marL="809625" lvl="4" indent="0">
              <a:buFont typeface="Arial" panose="020B0604020202020204" pitchFamily="34" charset="0"/>
              <a:buNone/>
            </a:pPr>
            <a:endParaRPr lang="en-US" altLang="ko-KR" sz="100" dirty="0"/>
          </a:p>
          <a:p>
            <a:pPr marL="857250" lvl="3" indent="-228600">
              <a:buFont typeface="+mj-ea"/>
              <a:buAutoNum type="circleNumDbPlain"/>
            </a:pPr>
            <a:r>
              <a:rPr lang="ko-KR" altLang="en-US" dirty="0"/>
              <a:t>주체</a:t>
            </a:r>
            <a:r>
              <a:rPr lang="en-US" altLang="ko-KR" dirty="0"/>
              <a:t>: </a:t>
            </a:r>
            <a:r>
              <a:rPr lang="ko-KR" altLang="en-US" dirty="0"/>
              <a:t>공인 인증서 소유자의 </a:t>
            </a:r>
            <a:r>
              <a:rPr lang="en-US" altLang="ko-KR" dirty="0"/>
              <a:t>DN</a:t>
            </a:r>
          </a:p>
          <a:p>
            <a:pPr marL="857250" lvl="3" indent="-228600">
              <a:buFont typeface="+mj-ea"/>
              <a:buAutoNum type="circleNumDbPlain"/>
            </a:pPr>
            <a:endParaRPr lang="en-US" altLang="ko-KR" sz="100" dirty="0"/>
          </a:p>
          <a:p>
            <a:pPr marL="857250" lvl="3" indent="-228600">
              <a:buFont typeface="+mj-ea"/>
              <a:buAutoNum type="circleNumDbPlain"/>
            </a:pPr>
            <a:r>
              <a:rPr lang="ko-KR" altLang="en-US" dirty="0"/>
              <a:t>공개 키</a:t>
            </a:r>
            <a:r>
              <a:rPr lang="en-US" altLang="ko-KR" dirty="0"/>
              <a:t>: </a:t>
            </a:r>
            <a:r>
              <a:rPr lang="ko-KR" altLang="en-US" dirty="0"/>
              <a:t>공인 인증서의 모든 영역을 </a:t>
            </a:r>
            <a:r>
              <a:rPr lang="ko-KR" altLang="en-US" dirty="0" err="1"/>
              <a:t>해시하여</a:t>
            </a:r>
            <a:r>
              <a:rPr lang="ko-KR" altLang="en-US" dirty="0"/>
              <a:t> 인증 기관의 </a:t>
            </a:r>
            <a:endParaRPr lang="en-US" altLang="ko-KR" dirty="0"/>
          </a:p>
          <a:p>
            <a:pPr marL="809625" lvl="4" indent="0">
              <a:buFont typeface="Arial" panose="020B0604020202020204" pitchFamily="34" charset="0"/>
              <a:buNone/>
            </a:pPr>
            <a:r>
              <a:rPr lang="ko-KR" altLang="en-US" sz="1050" dirty="0"/>
              <a:t> 개인 키로 서명한 값</a:t>
            </a:r>
            <a:endParaRPr lang="en-US" altLang="ko-KR" sz="1050" dirty="0"/>
          </a:p>
          <a:p>
            <a:pPr lvl="2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8668143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공개 키 기반 구조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290266" cy="5400600"/>
          </a:xfrm>
        </p:spPr>
        <p:txBody>
          <a:bodyPr>
            <a:noAutofit/>
          </a:bodyPr>
          <a:lstStyle/>
          <a:p>
            <a:r>
              <a:rPr lang="ko-KR" altLang="en-US" dirty="0"/>
              <a:t>공인 인증서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공인인증서의 폐기</a:t>
            </a:r>
          </a:p>
          <a:p>
            <a:pPr lvl="2">
              <a:defRPr/>
            </a:pPr>
            <a:r>
              <a:rPr lang="ko-KR" altLang="en-US" dirty="0"/>
              <a:t>공인인증서를 시기적절하게 폐기하여 피해를 줄이는 것이 폐기의 목적</a:t>
            </a:r>
            <a:r>
              <a:rPr lang="en-US" altLang="ko-KR" dirty="0"/>
              <a:t>.</a:t>
            </a:r>
          </a:p>
          <a:p>
            <a:pPr lvl="2">
              <a:defRPr/>
            </a:pPr>
            <a:r>
              <a:rPr lang="ko-KR" altLang="en-US" dirty="0"/>
              <a:t>인증 기관에서 </a:t>
            </a:r>
            <a:r>
              <a:rPr lang="ko-KR" altLang="en-US" dirty="0">
                <a:solidFill>
                  <a:srgbClr val="FF0000"/>
                </a:solidFill>
              </a:rPr>
              <a:t>인증서 폐기 목록</a:t>
            </a:r>
            <a:r>
              <a:rPr lang="en-US" altLang="ko-KR" dirty="0">
                <a:solidFill>
                  <a:srgbClr val="FF0000"/>
                </a:solidFill>
              </a:rPr>
              <a:t>(CRL)</a:t>
            </a:r>
            <a:r>
              <a:rPr lang="ko-KR" altLang="en-US" dirty="0"/>
              <a:t>을 주기적으로 발급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이 폐기 목록도 인증 기관이 전자서명을 하여 발급함</a:t>
            </a: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r>
              <a:rPr lang="ko-KR" altLang="en-US" dirty="0"/>
              <a:t>공인인증서 폐기 목록</a:t>
            </a:r>
          </a:p>
          <a:p>
            <a:pPr lvl="3">
              <a:defRPr/>
            </a:pPr>
            <a:r>
              <a:rPr lang="ko-KR" altLang="en-US" dirty="0">
                <a:solidFill>
                  <a:srgbClr val="FF0000"/>
                </a:solidFill>
              </a:rPr>
              <a:t>나쁜 목록</a:t>
            </a:r>
            <a:r>
              <a:rPr lang="en-US" altLang="ko-KR" dirty="0">
                <a:solidFill>
                  <a:srgbClr val="FF0000"/>
                </a:solidFill>
              </a:rPr>
              <a:t>(bad-list)</a:t>
            </a:r>
            <a:r>
              <a:rPr lang="en-US" altLang="ko-KR" dirty="0"/>
              <a:t>: </a:t>
            </a:r>
            <a:r>
              <a:rPr lang="ko-KR" altLang="en-US" dirty="0"/>
              <a:t>폐기된 공인인증서 정보만 유지하므로 </a:t>
            </a:r>
            <a:r>
              <a:rPr lang="ko-KR" altLang="en-US" dirty="0">
                <a:solidFill>
                  <a:srgbClr val="FF0000"/>
                </a:solidFill>
              </a:rPr>
              <a:t>목록에 포함되지 않은 것</a:t>
            </a:r>
            <a:r>
              <a:rPr lang="ko-KR" altLang="en-US" dirty="0"/>
              <a:t>만 사용해야 함</a:t>
            </a:r>
            <a:r>
              <a:rPr lang="en-US" altLang="ko-KR" dirty="0"/>
              <a:t>.</a:t>
            </a:r>
          </a:p>
          <a:p>
            <a:pPr lvl="3">
              <a:defRPr/>
            </a:pPr>
            <a:r>
              <a:rPr lang="ko-KR" altLang="en-US" dirty="0">
                <a:solidFill>
                  <a:srgbClr val="FF0000"/>
                </a:solidFill>
              </a:rPr>
              <a:t>좋은 목록</a:t>
            </a:r>
            <a:r>
              <a:rPr lang="en-US" altLang="ko-KR" dirty="0">
                <a:solidFill>
                  <a:srgbClr val="FF0000"/>
                </a:solidFill>
              </a:rPr>
              <a:t>(good-list)</a:t>
            </a:r>
            <a:r>
              <a:rPr lang="en-US" altLang="ko-KR" dirty="0"/>
              <a:t>: </a:t>
            </a:r>
            <a:r>
              <a:rPr lang="ko-KR" altLang="en-US" dirty="0">
                <a:solidFill>
                  <a:srgbClr val="FF0000"/>
                </a:solidFill>
              </a:rPr>
              <a:t>목록에 포함된</a:t>
            </a:r>
            <a:r>
              <a:rPr lang="ko-KR" altLang="en-US" dirty="0"/>
              <a:t> 공인인증서만 사용해야 함</a:t>
            </a:r>
            <a:r>
              <a:rPr lang="en-US" altLang="ko-KR" dirty="0"/>
              <a:t>.</a:t>
            </a:r>
          </a:p>
          <a:p>
            <a:pPr lvl="3">
              <a:defRPr/>
            </a:pPr>
            <a:r>
              <a:rPr lang="ko-KR" altLang="en-US" dirty="0">
                <a:solidFill>
                  <a:srgbClr val="FF0000"/>
                </a:solidFill>
              </a:rPr>
              <a:t>좋은 목록</a:t>
            </a:r>
            <a:r>
              <a:rPr lang="ko-KR" altLang="en-US" dirty="0"/>
              <a:t>은 공개되어 있어 잘못된 공인인증서 발견 후 조치를 취할 수 있으므로 </a:t>
            </a:r>
            <a:r>
              <a:rPr lang="ko-KR" altLang="en-US" dirty="0">
                <a:solidFill>
                  <a:srgbClr val="FF0000"/>
                </a:solidFill>
              </a:rPr>
              <a:t>나쁜 목록보다 안전</a:t>
            </a:r>
            <a:endParaRPr lang="en-US" altLang="ko-KR" dirty="0">
              <a:solidFill>
                <a:srgbClr val="FF0000"/>
              </a:solidFill>
            </a:endParaRPr>
          </a:p>
          <a:p>
            <a:pPr lvl="3">
              <a:defRPr/>
            </a:pPr>
            <a:r>
              <a:rPr lang="ko-KR" altLang="en-US" dirty="0"/>
              <a:t>하지만 나쁜 목록보다 </a:t>
            </a:r>
            <a:r>
              <a:rPr lang="ko-KR" altLang="en-US" dirty="0">
                <a:solidFill>
                  <a:srgbClr val="FF0000"/>
                </a:solidFill>
              </a:rPr>
              <a:t>용량이 매우 크다</a:t>
            </a:r>
            <a:r>
              <a:rPr lang="ko-KR" altLang="en-US" dirty="0"/>
              <a:t>는 단점과 빨리 갱신되어야 한다는 어려움이 있음</a:t>
            </a: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3">
              <a:defRPr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57872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전자 서명과 전자 봉투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290266" cy="5400600"/>
          </a:xfrm>
        </p:spPr>
        <p:txBody>
          <a:bodyPr>
            <a:noAutofit/>
          </a:bodyPr>
          <a:lstStyle/>
          <a:p>
            <a:r>
              <a:rPr lang="ko-KR" altLang="en-US" dirty="0"/>
              <a:t>전자서명</a:t>
            </a:r>
            <a:endParaRPr lang="en-US" altLang="ko-KR" dirty="0"/>
          </a:p>
          <a:p>
            <a:pPr lvl="1"/>
            <a:r>
              <a:rPr lang="ko-KR" altLang="en-US" dirty="0"/>
              <a:t>전자 서명이란 </a:t>
            </a:r>
            <a:endParaRPr lang="en-US" altLang="ko-KR" dirty="0"/>
          </a:p>
          <a:p>
            <a:pPr lvl="2"/>
            <a:r>
              <a:rPr lang="ko-KR" altLang="en-US" dirty="0" err="1"/>
              <a:t>전자서명법</a:t>
            </a:r>
            <a:r>
              <a:rPr lang="en-US" altLang="ko-KR" dirty="0"/>
              <a:t>: </a:t>
            </a:r>
            <a:r>
              <a:rPr lang="ko-KR" altLang="en-US" dirty="0"/>
              <a:t>서명자가 해당 </a:t>
            </a:r>
            <a:r>
              <a:rPr lang="ko-KR" altLang="en-US" dirty="0">
                <a:solidFill>
                  <a:srgbClr val="FF0000"/>
                </a:solidFill>
              </a:rPr>
              <a:t>전자 문서에 서명</a:t>
            </a:r>
            <a:r>
              <a:rPr lang="ko-KR" altLang="en-US" dirty="0"/>
              <a:t>하였음을 나타내기 위해 전자 문서에 첨부되거나 논리적으로 </a:t>
            </a:r>
            <a:endParaRPr lang="en-US" altLang="ko-KR" dirty="0"/>
          </a:p>
          <a:p>
            <a:pPr marL="447675" lvl="2" indent="0">
              <a:buNone/>
            </a:pPr>
            <a:r>
              <a:rPr lang="en-US" altLang="ko-KR" dirty="0"/>
              <a:t>                   </a:t>
            </a:r>
            <a:r>
              <a:rPr lang="ko-KR" altLang="en-US" dirty="0"/>
              <a:t>결합된 </a:t>
            </a:r>
            <a:r>
              <a:rPr lang="ko-KR" altLang="en-US" dirty="0">
                <a:solidFill>
                  <a:srgbClr val="FF0000"/>
                </a:solidFill>
              </a:rPr>
              <a:t>전자적 형태의 </a:t>
            </a:r>
            <a:r>
              <a:rPr lang="ko-KR" altLang="en-US" dirty="0" smtClean="0">
                <a:solidFill>
                  <a:srgbClr val="FF0000"/>
                </a:solidFill>
              </a:rPr>
              <a:t>정보</a:t>
            </a:r>
            <a:endParaRPr lang="en-US" altLang="ko-KR" dirty="0">
              <a:solidFill>
                <a:srgbClr val="FF0000"/>
              </a:solidFill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2996952"/>
            <a:ext cx="7028676" cy="3121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2027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전자 서명과 전자 봉투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290266" cy="5400600"/>
          </a:xfrm>
        </p:spPr>
        <p:txBody>
          <a:bodyPr>
            <a:noAutofit/>
          </a:bodyPr>
          <a:lstStyle/>
          <a:p>
            <a:r>
              <a:rPr lang="ko-KR" altLang="en-US" dirty="0"/>
              <a:t>전자서명</a:t>
            </a:r>
            <a:endParaRPr lang="en-US" altLang="ko-KR" dirty="0"/>
          </a:p>
          <a:p>
            <a:pPr lvl="1"/>
            <a:r>
              <a:rPr lang="ko-KR" altLang="en-US" dirty="0"/>
              <a:t>전자 서명의 정의</a:t>
            </a:r>
            <a:endParaRPr lang="en-US" altLang="ko-KR" dirty="0"/>
          </a:p>
          <a:p>
            <a:pPr lvl="2">
              <a:defRPr/>
            </a:pPr>
            <a:endParaRPr lang="en-US" altLang="ko-KR" sz="100" dirty="0"/>
          </a:p>
          <a:p>
            <a:pPr lvl="2">
              <a:defRPr/>
            </a:pPr>
            <a:r>
              <a:rPr lang="ko-KR" altLang="en-US" dirty="0"/>
              <a:t>인감도장처럼 </a:t>
            </a:r>
            <a:r>
              <a:rPr lang="ko-KR" altLang="en-US" dirty="0">
                <a:solidFill>
                  <a:srgbClr val="FF0000"/>
                </a:solidFill>
              </a:rPr>
              <a:t>전자서명도 공인된 인증 기관에 등록 및 검증하여 사용 가능</a:t>
            </a:r>
            <a:endParaRPr lang="en-US" altLang="ko-KR" dirty="0">
              <a:solidFill>
                <a:srgbClr val="FF0000"/>
              </a:solidFill>
            </a:endParaRPr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5764" y="2903746"/>
            <a:ext cx="4148414" cy="1842596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5764" y="4840178"/>
            <a:ext cx="4148414" cy="1823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0297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전자 서명과 전자 봉투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290266" cy="5400600"/>
          </a:xfrm>
        </p:spPr>
        <p:txBody>
          <a:bodyPr>
            <a:noAutofit/>
          </a:bodyPr>
          <a:lstStyle/>
          <a:p>
            <a:r>
              <a:rPr lang="ko-KR" altLang="en-US" dirty="0"/>
              <a:t>전자서명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전자서명 구현 원리</a:t>
            </a:r>
          </a:p>
          <a:p>
            <a:pPr lvl="2">
              <a:defRPr/>
            </a:pPr>
            <a:r>
              <a:rPr lang="ko-KR" altLang="en-US" dirty="0"/>
              <a:t>전자서명은 원본의 해시 값을 구한 뒤 </a:t>
            </a:r>
            <a:r>
              <a:rPr lang="ko-KR" altLang="en-US" dirty="0">
                <a:solidFill>
                  <a:srgbClr val="FF0000"/>
                </a:solidFill>
              </a:rPr>
              <a:t>부인 방지 기능을 부여</a:t>
            </a:r>
            <a:r>
              <a:rPr lang="ko-KR" altLang="en-US" dirty="0"/>
              <a:t>하기 위해 </a:t>
            </a:r>
            <a:r>
              <a:rPr lang="ko-KR" altLang="en-US" dirty="0">
                <a:solidFill>
                  <a:srgbClr val="FF0000"/>
                </a:solidFill>
              </a:rPr>
              <a:t>공개 키 방법을 사용</a:t>
            </a:r>
            <a:endParaRPr lang="en-US" altLang="ko-KR" dirty="0">
              <a:solidFill>
                <a:srgbClr val="FF0000"/>
              </a:solidFill>
            </a:endParaRPr>
          </a:p>
          <a:p>
            <a:pPr lvl="2">
              <a:defRPr/>
            </a:pPr>
            <a:r>
              <a:rPr lang="ko-KR" altLang="en-US" dirty="0" err="1">
                <a:solidFill>
                  <a:srgbClr val="FF0000"/>
                </a:solidFill>
              </a:rPr>
              <a:t>복호화한</a:t>
            </a:r>
            <a:r>
              <a:rPr lang="ko-KR" altLang="en-US" dirty="0">
                <a:solidFill>
                  <a:srgbClr val="FF0000"/>
                </a:solidFill>
              </a:rPr>
              <a:t> 해시 값</a:t>
            </a:r>
            <a:r>
              <a:rPr lang="ko-KR" altLang="en-US" dirty="0"/>
              <a:t>과 </a:t>
            </a:r>
            <a:r>
              <a:rPr lang="ko-KR" altLang="en-US" dirty="0">
                <a:solidFill>
                  <a:srgbClr val="FF0000"/>
                </a:solidFill>
              </a:rPr>
              <a:t>편지에서 구한 해시 값이 일치</a:t>
            </a:r>
            <a:r>
              <a:rPr lang="ko-KR" altLang="en-US" dirty="0"/>
              <a:t>하면 위조 되지 않았다고 확신할 수 있음</a:t>
            </a: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3247" y="2501663"/>
            <a:ext cx="3313450" cy="2151473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712" y="4653136"/>
            <a:ext cx="4426705" cy="2088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6253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전자 서명과 전자 봉투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434282" cy="5400600"/>
          </a:xfrm>
        </p:spPr>
        <p:txBody>
          <a:bodyPr>
            <a:noAutofit/>
          </a:bodyPr>
          <a:lstStyle/>
          <a:p>
            <a:r>
              <a:rPr lang="ko-KR" altLang="en-US" dirty="0"/>
              <a:t>전자서명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전자 서명이 제공하는 기능</a:t>
            </a:r>
            <a:endParaRPr lang="en-US" altLang="ko-KR" dirty="0"/>
          </a:p>
          <a:p>
            <a:pPr lvl="2">
              <a:defRPr/>
            </a:pPr>
            <a:r>
              <a:rPr lang="ko-KR" altLang="en-US" dirty="0">
                <a:solidFill>
                  <a:srgbClr val="FF0000"/>
                </a:solidFill>
              </a:rPr>
              <a:t>위조 불가</a:t>
            </a:r>
            <a:r>
              <a:rPr lang="en-US" altLang="ko-KR" dirty="0">
                <a:solidFill>
                  <a:srgbClr val="FF0000"/>
                </a:solidFill>
              </a:rPr>
              <a:t> </a:t>
            </a:r>
          </a:p>
          <a:p>
            <a:pPr lvl="3">
              <a:defRPr/>
            </a:pPr>
            <a:r>
              <a:rPr lang="ko-KR" altLang="en-US" dirty="0"/>
              <a:t>서명자만이 </a:t>
            </a:r>
            <a:r>
              <a:rPr lang="ko-KR" altLang="en-US" dirty="0" err="1"/>
              <a:t>서명문을</a:t>
            </a:r>
            <a:r>
              <a:rPr lang="ko-KR" altLang="en-US" dirty="0"/>
              <a:t> 생성</a:t>
            </a:r>
            <a:endParaRPr lang="en-US" altLang="ko-KR" dirty="0"/>
          </a:p>
          <a:p>
            <a:pPr lvl="3">
              <a:defRPr/>
            </a:pPr>
            <a:endParaRPr lang="en-US" altLang="ko-KR" sz="100" dirty="0"/>
          </a:p>
          <a:p>
            <a:pPr lvl="2">
              <a:defRPr/>
            </a:pPr>
            <a:r>
              <a:rPr lang="ko-KR" altLang="en-US" dirty="0">
                <a:solidFill>
                  <a:srgbClr val="FF0000"/>
                </a:solidFill>
              </a:rPr>
              <a:t>인증</a:t>
            </a:r>
            <a:r>
              <a:rPr lang="en-US" altLang="ko-KR" dirty="0"/>
              <a:t> </a:t>
            </a:r>
          </a:p>
          <a:p>
            <a:pPr lvl="3">
              <a:defRPr/>
            </a:pPr>
            <a:r>
              <a:rPr lang="ko-KR" altLang="en-US" dirty="0" err="1"/>
              <a:t>서명문의</a:t>
            </a:r>
            <a:r>
              <a:rPr lang="ko-KR" altLang="en-US" dirty="0"/>
              <a:t> 서명자를 확인</a:t>
            </a:r>
            <a:endParaRPr lang="en-US" altLang="ko-KR" dirty="0"/>
          </a:p>
          <a:p>
            <a:pPr lvl="3">
              <a:defRPr/>
            </a:pPr>
            <a:endParaRPr lang="en-US" altLang="ko-KR" sz="100" dirty="0"/>
          </a:p>
          <a:p>
            <a:pPr lvl="2">
              <a:defRPr/>
            </a:pPr>
            <a:r>
              <a:rPr lang="ko-KR" altLang="en-US" dirty="0">
                <a:solidFill>
                  <a:srgbClr val="FF0000"/>
                </a:solidFill>
              </a:rPr>
              <a:t>재사용 불가</a:t>
            </a:r>
            <a:r>
              <a:rPr lang="en-US" altLang="ko-KR" dirty="0">
                <a:solidFill>
                  <a:srgbClr val="FF0000"/>
                </a:solidFill>
              </a:rPr>
              <a:t> </a:t>
            </a:r>
          </a:p>
          <a:p>
            <a:pPr lvl="3">
              <a:defRPr/>
            </a:pPr>
            <a:r>
              <a:rPr lang="ko-KR" altLang="en-US" dirty="0" err="1"/>
              <a:t>서명문의</a:t>
            </a:r>
            <a:r>
              <a:rPr lang="ko-KR" altLang="en-US" dirty="0"/>
              <a:t> 해시 값을 전자서명에 이용하므로 한 번 생성된 서명을 다른 문서의 서명으로 사용할 수 없음</a:t>
            </a:r>
            <a:endParaRPr lang="en-US" altLang="ko-KR" dirty="0"/>
          </a:p>
          <a:p>
            <a:pPr lvl="3">
              <a:defRPr/>
            </a:pPr>
            <a:endParaRPr lang="en-US" altLang="ko-KR" sz="100" dirty="0"/>
          </a:p>
          <a:p>
            <a:pPr lvl="2">
              <a:defRPr/>
            </a:pPr>
            <a:r>
              <a:rPr lang="ko-KR" altLang="en-US" dirty="0">
                <a:solidFill>
                  <a:srgbClr val="FF0000"/>
                </a:solidFill>
              </a:rPr>
              <a:t>변경 불가</a:t>
            </a:r>
            <a:r>
              <a:rPr lang="en-US" altLang="ko-KR" dirty="0">
                <a:solidFill>
                  <a:srgbClr val="FF0000"/>
                </a:solidFill>
              </a:rPr>
              <a:t> </a:t>
            </a:r>
          </a:p>
          <a:p>
            <a:pPr lvl="3">
              <a:defRPr/>
            </a:pPr>
            <a:r>
              <a:rPr lang="ko-KR" altLang="en-US" dirty="0"/>
              <a:t>서명된 문서는 내용을 변경할 수 없기 때문에 데이터가 변조되지 않았음을 보장하는 무결성을 만족</a:t>
            </a:r>
            <a:endParaRPr lang="en-US" altLang="ko-KR" dirty="0"/>
          </a:p>
          <a:p>
            <a:pPr lvl="3">
              <a:defRPr/>
            </a:pPr>
            <a:endParaRPr lang="en-US" altLang="ko-KR" sz="100" dirty="0"/>
          </a:p>
          <a:p>
            <a:pPr lvl="2">
              <a:defRPr/>
            </a:pPr>
            <a:r>
              <a:rPr lang="ko-KR" altLang="en-US" dirty="0">
                <a:solidFill>
                  <a:srgbClr val="FF0000"/>
                </a:solidFill>
              </a:rPr>
              <a:t>부인 방지</a:t>
            </a:r>
            <a:r>
              <a:rPr lang="en-US" altLang="ko-KR" dirty="0">
                <a:solidFill>
                  <a:srgbClr val="FF0000"/>
                </a:solidFill>
              </a:rPr>
              <a:t> </a:t>
            </a:r>
          </a:p>
          <a:p>
            <a:pPr lvl="3">
              <a:defRPr/>
            </a:pPr>
            <a:r>
              <a:rPr lang="ko-KR" altLang="en-US" dirty="0"/>
              <a:t>서명자가 서명한 사실을 나중에 부인할 수 없음</a:t>
            </a: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1">
              <a:defRPr/>
            </a:pPr>
            <a:r>
              <a:rPr lang="ko-KR" altLang="en-US" dirty="0"/>
              <a:t>전자 서명의 대표적인 표준</a:t>
            </a:r>
            <a:endParaRPr lang="en-US" altLang="ko-KR" dirty="0"/>
          </a:p>
          <a:p>
            <a:pPr lvl="2">
              <a:defRPr/>
            </a:pPr>
            <a:r>
              <a:rPr lang="en-US" altLang="ko-KR" dirty="0"/>
              <a:t>1994</a:t>
            </a:r>
            <a:r>
              <a:rPr lang="ko-KR" altLang="en-US" dirty="0"/>
              <a:t>년 미국에서 만들어진 </a:t>
            </a:r>
            <a:r>
              <a:rPr lang="en-US" altLang="ko-KR" dirty="0"/>
              <a:t>DSS, </a:t>
            </a:r>
            <a:r>
              <a:rPr lang="ko-KR" altLang="en-US" dirty="0"/>
              <a:t>우리나라에는 </a:t>
            </a:r>
            <a:r>
              <a:rPr lang="en-US" altLang="ko-KR" dirty="0"/>
              <a:t>1996</a:t>
            </a:r>
            <a:r>
              <a:rPr lang="ko-KR" altLang="en-US" dirty="0"/>
              <a:t>년 개발된 </a:t>
            </a:r>
            <a:r>
              <a:rPr lang="en-US" altLang="ko-KR" dirty="0"/>
              <a:t>KCDSA</a:t>
            </a:r>
            <a:r>
              <a:rPr lang="ko-KR" altLang="en-US" dirty="0"/>
              <a:t>가 있음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우리나라의 전자서명법에 따르면 인터넷을 통해 전자 문서를 교환할 때 전자 서명은 일반 문서에 쓰이는 </a:t>
            </a:r>
            <a:endParaRPr lang="en-US" altLang="ko-KR" dirty="0"/>
          </a:p>
          <a:p>
            <a:pPr marL="447675" lvl="2" indent="0">
              <a:buNone/>
              <a:defRPr/>
            </a:pPr>
            <a:r>
              <a:rPr lang="en-US" altLang="ko-KR" dirty="0"/>
              <a:t>   </a:t>
            </a:r>
            <a:r>
              <a:rPr lang="ko-KR" altLang="en-US" dirty="0"/>
              <a:t>인감도장과 법적으로 똑같은 효력</a:t>
            </a: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5796574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전자 서명과 전자 봉투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290266" cy="5400600"/>
          </a:xfrm>
        </p:spPr>
        <p:txBody>
          <a:bodyPr>
            <a:noAutofit/>
          </a:bodyPr>
          <a:lstStyle/>
          <a:p>
            <a:r>
              <a:rPr lang="ko-KR" altLang="en-US" dirty="0"/>
              <a:t>전자 봉투</a:t>
            </a:r>
            <a:endParaRPr lang="en-US" altLang="ko-KR" dirty="0"/>
          </a:p>
          <a:p>
            <a:pPr lvl="2"/>
            <a:r>
              <a:rPr lang="ko-KR" altLang="en-US" sz="1150" dirty="0">
                <a:solidFill>
                  <a:srgbClr val="FF0000"/>
                </a:solidFill>
              </a:rPr>
              <a:t>전달하려는 메시지를 암호화</a:t>
            </a:r>
            <a:r>
              <a:rPr lang="ko-KR" altLang="en-US" sz="1150" dirty="0"/>
              <a:t>하여 한 사람을 통해 보내고 암호화 키는 다른 사람이 가져가도록 암호학적으로 구현</a:t>
            </a:r>
            <a:endParaRPr lang="en-US" altLang="ko-KR" sz="1150" dirty="0"/>
          </a:p>
          <a:p>
            <a:pPr lvl="2"/>
            <a:r>
              <a:rPr lang="ko-KR" altLang="en-US" dirty="0"/>
              <a:t>암호화의 종합 선물 세트라 할 만큼 많은 기능을 제공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sz="600" dirty="0"/>
          </a:p>
          <a:p>
            <a:pPr lvl="3"/>
            <a:r>
              <a:rPr lang="ko-KR" altLang="en-US" dirty="0"/>
              <a:t>철수는 전자 봉투를 사용하기 위해 먼저 전자 서명을 생성</a:t>
            </a:r>
            <a:endParaRPr lang="en-US" altLang="ko-KR" dirty="0"/>
          </a:p>
          <a:p>
            <a:pPr lvl="3"/>
            <a:r>
              <a:rPr lang="ko-KR" altLang="en-US" dirty="0"/>
              <a:t>전자 서명과 원문</a:t>
            </a:r>
            <a:r>
              <a:rPr lang="en-US" altLang="ko-KR" dirty="0"/>
              <a:t>, </a:t>
            </a:r>
            <a:r>
              <a:rPr lang="ko-KR" altLang="en-US" dirty="0"/>
              <a:t>자신의 공개 키가 들어 있는 인증서를 비밀 키</a:t>
            </a:r>
            <a:r>
              <a:rPr lang="en-US" altLang="ko-KR" dirty="0"/>
              <a:t>(DES </a:t>
            </a:r>
            <a:r>
              <a:rPr lang="ko-KR" altLang="en-US" dirty="0"/>
              <a:t>알고리즘 등에 사용되는 대칭 키</a:t>
            </a:r>
            <a:r>
              <a:rPr lang="en-US" altLang="ko-KR" dirty="0"/>
              <a:t>)</a:t>
            </a:r>
            <a:r>
              <a:rPr lang="ko-KR" altLang="en-US" dirty="0"/>
              <a:t>로 암호화</a:t>
            </a:r>
            <a:endParaRPr lang="en-US" altLang="ko-KR" dirty="0"/>
          </a:p>
          <a:p>
            <a:pPr lvl="3"/>
            <a:r>
              <a:rPr lang="ko-KR" altLang="en-US" dirty="0"/>
              <a:t>전자 서명 세트와 인증서</a:t>
            </a:r>
            <a:r>
              <a:rPr lang="en-US" altLang="ko-KR" dirty="0"/>
              <a:t>, </a:t>
            </a:r>
            <a:r>
              <a:rPr lang="ko-KR" altLang="en-US" dirty="0"/>
              <a:t>암호화한 비밀 키가 영희의 공개 키로 암호화</a:t>
            </a:r>
            <a:endParaRPr lang="en-US" altLang="ko-KR" dirty="0"/>
          </a:p>
          <a:p>
            <a:pPr lvl="3">
              <a:defRPr/>
            </a:pPr>
            <a:r>
              <a:rPr lang="ko-KR" altLang="en-US" dirty="0"/>
              <a:t>최종적으로 철수는 비밀 키로 암호화한 결과와 비밀 키가 암호화된 전자 봉투를 영희에게 전송</a:t>
            </a:r>
            <a:endParaRPr lang="en-US" altLang="ko-KR" dirty="0"/>
          </a:p>
          <a:p>
            <a:pPr lvl="2">
              <a:defRPr/>
            </a:pPr>
            <a:endParaRPr lang="en-US" altLang="ko-KR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1063" y="2204864"/>
            <a:ext cx="4968552" cy="3394408"/>
          </a:xfrm>
          <a:prstGeom prst="rect">
            <a:avLst/>
          </a:prstGeom>
        </p:spPr>
      </p:pic>
      <p:sp>
        <p:nvSpPr>
          <p:cNvPr id="4" name="모서리가 둥근 직사각형 3"/>
          <p:cNvSpPr/>
          <p:nvPr/>
        </p:nvSpPr>
        <p:spPr>
          <a:xfrm>
            <a:off x="5148064" y="4581128"/>
            <a:ext cx="648072" cy="21602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모서리가 둥근 직사각형 6"/>
          <p:cNvSpPr/>
          <p:nvPr/>
        </p:nvSpPr>
        <p:spPr>
          <a:xfrm>
            <a:off x="4401764" y="3356991"/>
            <a:ext cx="279648" cy="50405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모서리가 둥근 직사각형 7"/>
          <p:cNvSpPr/>
          <p:nvPr/>
        </p:nvSpPr>
        <p:spPr>
          <a:xfrm>
            <a:off x="3207558" y="4509120"/>
            <a:ext cx="356329" cy="43204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92880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전자 서명과 전자 봉투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290266" cy="5400600"/>
          </a:xfrm>
        </p:spPr>
        <p:txBody>
          <a:bodyPr>
            <a:noAutofit/>
          </a:bodyPr>
          <a:lstStyle/>
          <a:p>
            <a:r>
              <a:rPr lang="ko-KR" altLang="en-US" dirty="0"/>
              <a:t>전자 봉투</a:t>
            </a:r>
            <a:endParaRPr lang="en-US" altLang="ko-KR" dirty="0"/>
          </a:p>
          <a:p>
            <a:pPr lvl="2"/>
            <a:r>
              <a:rPr lang="ko-KR" altLang="en-US" dirty="0" err="1"/>
              <a:t>전자봉투는</a:t>
            </a:r>
            <a:r>
              <a:rPr lang="ko-KR" altLang="en-US" dirty="0"/>
              <a:t> </a:t>
            </a:r>
            <a:r>
              <a:rPr lang="ko-KR" altLang="en-US" dirty="0">
                <a:solidFill>
                  <a:srgbClr val="FF0000"/>
                </a:solidFill>
              </a:rPr>
              <a:t>기밀성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무결성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부인 방지를 모두 지원</a:t>
            </a:r>
            <a:endParaRPr lang="en-US" altLang="ko-KR" dirty="0">
              <a:solidFill>
                <a:srgbClr val="FF0000"/>
              </a:solidFill>
            </a:endParaRPr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sz="600" dirty="0"/>
          </a:p>
          <a:p>
            <a:pPr lvl="3"/>
            <a:endParaRPr lang="en-US" altLang="ko-KR" dirty="0"/>
          </a:p>
          <a:p>
            <a:pPr lvl="3"/>
            <a:r>
              <a:rPr lang="ko-KR" altLang="en-US" dirty="0"/>
              <a:t>전달받은 영희는 전자 봉투를 자신의 개인 키로 </a:t>
            </a:r>
            <a:r>
              <a:rPr lang="ko-KR" altLang="en-US" dirty="0" err="1"/>
              <a:t>복호화하여</a:t>
            </a:r>
            <a:r>
              <a:rPr lang="ko-KR" altLang="en-US" dirty="0"/>
              <a:t> 비밀 키를 획득</a:t>
            </a:r>
            <a:endParaRPr lang="en-US" altLang="ko-KR" dirty="0"/>
          </a:p>
          <a:p>
            <a:pPr lvl="3"/>
            <a:r>
              <a:rPr lang="ko-KR" altLang="en-US" dirty="0"/>
              <a:t>비밀 키를 이용하여 전자 서명과 편지</a:t>
            </a:r>
            <a:r>
              <a:rPr lang="en-US" altLang="ko-KR" dirty="0"/>
              <a:t>, </a:t>
            </a:r>
            <a:r>
              <a:rPr lang="ko-KR" altLang="en-US" dirty="0"/>
              <a:t>철수의 인증서를 </a:t>
            </a:r>
            <a:r>
              <a:rPr lang="ko-KR" altLang="en-US" dirty="0" err="1"/>
              <a:t>복호화</a:t>
            </a:r>
            <a:r>
              <a:rPr lang="en-US" altLang="ko-KR" dirty="0"/>
              <a:t>(</a:t>
            </a:r>
            <a:r>
              <a:rPr lang="ko-KR" altLang="en-US" dirty="0"/>
              <a:t>해독</a:t>
            </a:r>
            <a:r>
              <a:rPr lang="en-US" altLang="ko-KR" dirty="0"/>
              <a:t>)</a:t>
            </a:r>
          </a:p>
          <a:p>
            <a:pPr lvl="3"/>
            <a:r>
              <a:rPr lang="ko-KR" altLang="en-US" dirty="0" err="1"/>
              <a:t>복호화한</a:t>
            </a:r>
            <a:r>
              <a:rPr lang="ko-KR" altLang="en-US" dirty="0"/>
              <a:t> 인증서에서 철수의 공개 키를 얻어 전자 서명을 </a:t>
            </a:r>
            <a:r>
              <a:rPr lang="ko-KR" altLang="en-US" dirty="0" err="1"/>
              <a:t>복호화하고</a:t>
            </a:r>
            <a:r>
              <a:rPr lang="ko-KR" altLang="en-US" dirty="0"/>
              <a:t> 이를 편지의 해시 결과와 비교</a:t>
            </a:r>
            <a:endParaRPr lang="en-US" altLang="ko-KR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5696" y="2132856"/>
            <a:ext cx="5904656" cy="2994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7059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전자 결제와 가상 화폐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290266" cy="5400600"/>
          </a:xfrm>
        </p:spPr>
        <p:txBody>
          <a:bodyPr>
            <a:noAutofit/>
          </a:bodyPr>
          <a:lstStyle/>
          <a:p>
            <a:r>
              <a:rPr lang="en-US" altLang="ko-KR" dirty="0"/>
              <a:t>SET</a:t>
            </a:r>
          </a:p>
          <a:p>
            <a:pPr lvl="2"/>
            <a:r>
              <a:rPr lang="en-US" altLang="ko-KR" dirty="0"/>
              <a:t>1996</a:t>
            </a:r>
            <a:r>
              <a:rPr lang="ko-KR" altLang="en-US" dirty="0"/>
              <a:t>년 </a:t>
            </a:r>
            <a:r>
              <a:rPr lang="ko-KR" altLang="en-US" dirty="0">
                <a:solidFill>
                  <a:srgbClr val="FF0000"/>
                </a:solidFill>
              </a:rPr>
              <a:t>비자와 마스터카드</a:t>
            </a:r>
            <a:r>
              <a:rPr lang="ko-KR" altLang="en-US" dirty="0"/>
              <a:t>의 합의로 만들어진 프로토콜</a:t>
            </a:r>
            <a:endParaRPr lang="en-US" altLang="ko-KR" dirty="0"/>
          </a:p>
          <a:p>
            <a:pPr lvl="2"/>
            <a:r>
              <a:rPr lang="ko-KR" altLang="en-US" dirty="0"/>
              <a:t>신용카드 거래에서 사실상의 표준</a:t>
            </a:r>
            <a:endParaRPr lang="en-US" altLang="ko-KR" dirty="0"/>
          </a:p>
          <a:p>
            <a:pPr lvl="2"/>
            <a:endParaRPr lang="en-US" altLang="ko-KR" sz="100" dirty="0"/>
          </a:p>
          <a:p>
            <a:pPr lvl="1"/>
            <a:r>
              <a:rPr lang="en-US" altLang="ko-KR" dirty="0"/>
              <a:t>SET </a:t>
            </a:r>
            <a:r>
              <a:rPr lang="ko-KR" altLang="en-US" dirty="0"/>
              <a:t>구성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</p:txBody>
      </p:sp>
      <p:sp>
        <p:nvSpPr>
          <p:cNvPr id="5" name="내용 개체 틀 2"/>
          <p:cNvSpPr txBox="1">
            <a:spLocks/>
          </p:cNvSpPr>
          <p:nvPr/>
        </p:nvSpPr>
        <p:spPr>
          <a:xfrm>
            <a:off x="107504" y="2492896"/>
            <a:ext cx="5328592" cy="24482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685800" rtl="0" eaLnBrk="1" latinLnBrk="1" hangingPunct="1">
              <a:lnSpc>
                <a:spcPct val="150000"/>
              </a:lnSpc>
              <a:spcBef>
                <a:spcPts val="0"/>
              </a:spcBef>
              <a:buClr>
                <a:srgbClr val="009BA8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defTabSz="685800" rtl="0" eaLnBrk="1" latinLnBrk="1" hangingPunct="1">
              <a:lnSpc>
                <a:spcPct val="90000"/>
              </a:lnSpc>
              <a:spcBef>
                <a:spcPts val="375"/>
              </a:spcBef>
              <a:spcAft>
                <a:spcPts val="400"/>
              </a:spcAft>
              <a:buClr>
                <a:srgbClr val="00B2C0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defTabSz="685800" rtl="0" eaLnBrk="1" latinLnBrk="1" hangingPunct="1">
              <a:lnSpc>
                <a:spcPct val="90000"/>
              </a:lnSpc>
              <a:spcBef>
                <a:spcPts val="375"/>
              </a:spcBef>
              <a:spcAft>
                <a:spcPts val="300"/>
              </a:spcAft>
              <a:buClr>
                <a:srgbClr val="00C1D0"/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defTabSz="685800" rtl="0" eaLnBrk="1" latinLnBrk="1" hangingPunct="1">
              <a:lnSpc>
                <a:spcPct val="90000"/>
              </a:lnSpc>
              <a:spcBef>
                <a:spcPts val="375"/>
              </a:spcBef>
              <a:spcAft>
                <a:spcPts val="300"/>
              </a:spcAft>
              <a:buClr>
                <a:srgbClr val="00C1D0"/>
              </a:buClr>
              <a:buSzPct val="96000"/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defTabSz="685800" rtl="0" eaLnBrk="1" latinLnBrk="1" hangingPunct="1">
              <a:lnSpc>
                <a:spcPct val="90000"/>
              </a:lnSpc>
              <a:spcBef>
                <a:spcPts val="375"/>
              </a:spcBef>
              <a:buClr>
                <a:srgbClr val="00C1D0"/>
              </a:buClr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57250" lvl="3" indent="-228600">
              <a:buFont typeface="+mj-ea"/>
              <a:buAutoNum type="circleNumDbPlain"/>
            </a:pPr>
            <a:r>
              <a:rPr lang="ko-KR" altLang="en-US" dirty="0"/>
              <a:t>신용카드 사용자</a:t>
            </a:r>
            <a:r>
              <a:rPr lang="en-US" altLang="ko-KR" dirty="0"/>
              <a:t>: </a:t>
            </a:r>
            <a:r>
              <a:rPr lang="ko-KR" altLang="en-US" dirty="0"/>
              <a:t>신용카드를 소지한 사람</a:t>
            </a:r>
            <a:endParaRPr lang="en-US" altLang="ko-KR" dirty="0"/>
          </a:p>
          <a:p>
            <a:pPr marL="809625" lvl="4" indent="0">
              <a:buNone/>
            </a:pPr>
            <a:r>
              <a:rPr lang="en-US" altLang="ko-KR" sz="1050" dirty="0"/>
              <a:t> SET</a:t>
            </a:r>
            <a:r>
              <a:rPr lang="ko-KR" altLang="en-US" sz="1050" dirty="0"/>
              <a:t>에 이용하는 공인 인증서를 소유</a:t>
            </a:r>
            <a:r>
              <a:rPr lang="en-US" altLang="ko-KR" sz="1050" dirty="0"/>
              <a:t> </a:t>
            </a:r>
          </a:p>
          <a:p>
            <a:pPr marL="809625" lvl="4" indent="0">
              <a:buNone/>
            </a:pPr>
            <a:endParaRPr lang="en-US" altLang="ko-KR" sz="100" dirty="0"/>
          </a:p>
          <a:p>
            <a:pPr marL="857250" lvl="3" indent="-228600">
              <a:buFont typeface="+mj-ea"/>
              <a:buAutoNum type="circleNumDbPlain"/>
            </a:pPr>
            <a:r>
              <a:rPr lang="ko-KR" altLang="en-US" dirty="0"/>
              <a:t>상점</a:t>
            </a:r>
            <a:r>
              <a:rPr lang="en-US" altLang="ko-KR" dirty="0"/>
              <a:t>: </a:t>
            </a:r>
            <a:r>
              <a:rPr lang="ko-KR" altLang="en-US" dirty="0"/>
              <a:t>인터넷 쇼핑몰을 운영하며 </a:t>
            </a:r>
            <a:r>
              <a:rPr lang="en-US" altLang="ko-KR" dirty="0"/>
              <a:t>SET</a:t>
            </a:r>
            <a:r>
              <a:rPr lang="ko-KR" altLang="en-US" dirty="0"/>
              <a:t>를 이용하여 상품을 판매</a:t>
            </a:r>
            <a:r>
              <a:rPr lang="en-US" altLang="ko-KR" dirty="0"/>
              <a:t> </a:t>
            </a:r>
          </a:p>
          <a:p>
            <a:pPr marL="857250" lvl="3" indent="-228600">
              <a:buFont typeface="+mj-ea"/>
              <a:buAutoNum type="circleNumDbPlain"/>
            </a:pPr>
            <a:endParaRPr lang="en-US" altLang="ko-KR" sz="100" dirty="0"/>
          </a:p>
          <a:p>
            <a:pPr marL="857250" lvl="3" indent="-228600">
              <a:buFont typeface="+mj-ea"/>
              <a:buAutoNum type="circleNumDbPlain"/>
            </a:pPr>
            <a:r>
              <a:rPr lang="ko-KR" altLang="en-US" dirty="0"/>
              <a:t>지불 게이트웨이</a:t>
            </a:r>
            <a:r>
              <a:rPr lang="en-US" altLang="ko-KR" dirty="0"/>
              <a:t>(PG): </a:t>
            </a:r>
            <a:r>
              <a:rPr lang="ko-KR" altLang="en-US" dirty="0"/>
              <a:t>기존의 신용카드 지불 방식으로 은행과 </a:t>
            </a:r>
            <a:endParaRPr lang="en-US" altLang="ko-KR" dirty="0"/>
          </a:p>
          <a:p>
            <a:pPr marL="809625" lvl="4" indent="0">
              <a:buNone/>
            </a:pPr>
            <a:r>
              <a:rPr lang="ko-KR" altLang="en-US" sz="1050" dirty="0"/>
              <a:t> 거래 내역을 주고받음</a:t>
            </a:r>
            <a:endParaRPr lang="en-US" altLang="ko-KR" sz="1050" dirty="0"/>
          </a:p>
          <a:p>
            <a:pPr marL="809625" lvl="4" indent="0">
              <a:buNone/>
            </a:pPr>
            <a:endParaRPr lang="en-US" altLang="ko-KR" sz="100" dirty="0"/>
          </a:p>
          <a:p>
            <a:pPr marL="857250" lvl="3" indent="-228600">
              <a:buFont typeface="+mj-ea"/>
              <a:buAutoNum type="circleNumDbPlain"/>
            </a:pPr>
            <a:r>
              <a:rPr lang="ko-KR" altLang="en-US" dirty="0"/>
              <a:t>신용카드 회사</a:t>
            </a:r>
            <a:r>
              <a:rPr lang="en-US" altLang="ko-KR" dirty="0"/>
              <a:t>: </a:t>
            </a:r>
            <a:r>
              <a:rPr lang="ko-KR" altLang="en-US" dirty="0"/>
              <a:t>사용자에게 신용카드를 발급하고</a:t>
            </a:r>
            <a:r>
              <a:rPr lang="en-US" altLang="ko-KR" dirty="0"/>
              <a:t>, CA</a:t>
            </a:r>
            <a:r>
              <a:rPr lang="ko-KR" altLang="en-US" dirty="0"/>
              <a:t>를 운영하여 </a:t>
            </a:r>
            <a:endParaRPr lang="en-US" altLang="ko-KR" dirty="0"/>
          </a:p>
          <a:p>
            <a:pPr marL="809625" lvl="4" indent="0">
              <a:buNone/>
            </a:pPr>
            <a:r>
              <a:rPr lang="ko-KR" altLang="en-US" sz="1050" dirty="0"/>
              <a:t> 사용자에게 공인 인증서를 발급</a:t>
            </a:r>
            <a:r>
              <a:rPr lang="en-US" altLang="ko-KR" sz="1050" dirty="0"/>
              <a:t> </a:t>
            </a:r>
          </a:p>
          <a:p>
            <a:pPr marL="809625" lvl="4" indent="0">
              <a:buNone/>
            </a:pPr>
            <a:endParaRPr lang="en-US" altLang="ko-KR" sz="100" dirty="0"/>
          </a:p>
          <a:p>
            <a:pPr marL="857250" lvl="3" indent="-228600">
              <a:buFont typeface="+mj-ea"/>
              <a:buAutoNum type="circleNumDbPlain"/>
            </a:pPr>
            <a:r>
              <a:rPr lang="ko-KR" altLang="en-US" dirty="0"/>
              <a:t>은행</a:t>
            </a:r>
            <a:r>
              <a:rPr lang="en-US" altLang="ko-KR" dirty="0"/>
              <a:t>: </a:t>
            </a:r>
            <a:r>
              <a:rPr lang="ko-KR" altLang="en-US" dirty="0"/>
              <a:t>상점의 계좌가 있는 곳으로 지불 게이트웨이를 운영하고</a:t>
            </a:r>
            <a:r>
              <a:rPr lang="en-US" altLang="ko-KR" dirty="0"/>
              <a:t>, </a:t>
            </a:r>
          </a:p>
          <a:p>
            <a:pPr marL="809625" lvl="4" indent="0">
              <a:buNone/>
            </a:pPr>
            <a:r>
              <a:rPr lang="en-US" altLang="ko-KR" sz="1050" dirty="0"/>
              <a:t> CA</a:t>
            </a:r>
            <a:r>
              <a:rPr lang="ko-KR" altLang="en-US" sz="1050" dirty="0"/>
              <a:t>를 운영하여 상점에 공인 인증서를 발급</a:t>
            </a:r>
            <a:r>
              <a:rPr lang="en-US" altLang="ko-KR" sz="1050" dirty="0"/>
              <a:t> </a:t>
            </a:r>
          </a:p>
          <a:p>
            <a:pPr marL="857250" lvl="3" indent="-228600">
              <a:buFont typeface="+mj-ea"/>
              <a:buAutoNum type="circleNumDbPlain"/>
            </a:pPr>
            <a:endParaRPr lang="en-US" altLang="ko-KR" sz="100" dirty="0"/>
          </a:p>
          <a:p>
            <a:pPr marL="857250" lvl="3" indent="-228600">
              <a:buFont typeface="+mj-ea"/>
              <a:buAutoNum type="circleNumDbPlain"/>
            </a:pPr>
            <a:r>
              <a:rPr lang="ko-KR" altLang="en-US" dirty="0"/>
              <a:t>인증 기관</a:t>
            </a:r>
            <a:r>
              <a:rPr lang="en-US" altLang="ko-KR" dirty="0"/>
              <a:t>: SET</a:t>
            </a:r>
            <a:r>
              <a:rPr lang="ko-KR" altLang="en-US" dirty="0"/>
              <a:t>에 참여하는 모든 구성원의 정당성을 보장하는 루트</a:t>
            </a:r>
            <a:r>
              <a:rPr lang="en-US" altLang="ko-KR" dirty="0"/>
              <a:t> CA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2504" y="1772816"/>
            <a:ext cx="3611561" cy="3643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2697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전자 결제와 가상 화폐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290266" cy="5400600"/>
          </a:xfrm>
        </p:spPr>
        <p:txBody>
          <a:bodyPr>
            <a:noAutofit/>
          </a:bodyPr>
          <a:lstStyle/>
          <a:p>
            <a:r>
              <a:rPr lang="en-US" altLang="ko-KR" dirty="0"/>
              <a:t>SET</a:t>
            </a:r>
          </a:p>
          <a:p>
            <a:pPr lvl="1"/>
            <a:r>
              <a:rPr lang="en-US" altLang="ko-KR" dirty="0"/>
              <a:t>SET </a:t>
            </a:r>
            <a:r>
              <a:rPr lang="ko-KR" altLang="en-US" dirty="0"/>
              <a:t>지불 과정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신용카드 사용자가 </a:t>
            </a:r>
            <a:r>
              <a:rPr lang="en-US" altLang="ko-KR" dirty="0"/>
              <a:t>SET</a:t>
            </a:r>
            <a:r>
              <a:rPr lang="ko-KR" altLang="en-US" dirty="0"/>
              <a:t>를 이용하여 상점에 결제 의뢰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주문서를 받은 </a:t>
            </a:r>
            <a:r>
              <a:rPr lang="ko-KR" altLang="en-US" dirty="0" err="1"/>
              <a:t>판매자는</a:t>
            </a:r>
            <a:r>
              <a:rPr lang="ko-KR" altLang="en-US" dirty="0"/>
              <a:t> 고객의 신용카드 회사에서 신용카드의 유효성 여부 확인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신용카드가 정상임을 확인하면 주문 확인 메시지를 고객에게 전송</a:t>
            </a:r>
            <a:endParaRPr lang="en-US" altLang="ko-KR" dirty="0"/>
          </a:p>
          <a:p>
            <a:pPr marL="447675" lvl="2" indent="0">
              <a:buNone/>
              <a:defRPr/>
            </a:pPr>
            <a:r>
              <a:rPr lang="en-US" altLang="ko-KR" dirty="0"/>
              <a:t>   </a:t>
            </a:r>
            <a:r>
              <a:rPr lang="ko-KR" altLang="en-US" dirty="0"/>
              <a:t>고객은 자신의 신용카드 정보를 </a:t>
            </a:r>
            <a:r>
              <a:rPr lang="ko-KR" altLang="en-US" dirty="0" err="1"/>
              <a:t>판매자에게</a:t>
            </a:r>
            <a:r>
              <a:rPr lang="ko-KR" altLang="en-US" dirty="0"/>
              <a:t> 전송</a:t>
            </a:r>
            <a:endParaRPr lang="en-US" altLang="ko-KR" dirty="0"/>
          </a:p>
          <a:p>
            <a:pPr lvl="2">
              <a:defRPr/>
            </a:pPr>
            <a:r>
              <a:rPr lang="ko-KR" altLang="en-US" dirty="0" err="1"/>
              <a:t>판매자는</a:t>
            </a:r>
            <a:r>
              <a:rPr lang="ko-KR" altLang="en-US" dirty="0"/>
              <a:t> 고객에게 받은 정보를 신용카드 결제에 다시 이용</a:t>
            </a:r>
            <a:r>
              <a:rPr lang="en-US" altLang="ko-KR" dirty="0"/>
              <a:t>, </a:t>
            </a:r>
            <a:r>
              <a:rPr lang="ko-KR" altLang="en-US" dirty="0"/>
              <a:t>이때 </a:t>
            </a:r>
            <a:r>
              <a:rPr lang="en-US" altLang="ko-KR" dirty="0"/>
              <a:t>SET</a:t>
            </a:r>
            <a:r>
              <a:rPr lang="ko-KR" altLang="en-US" dirty="0"/>
              <a:t>는 </a:t>
            </a:r>
            <a:r>
              <a:rPr lang="ko-KR" altLang="en-US" dirty="0" err="1"/>
              <a:t>전자봉투와</a:t>
            </a:r>
            <a:r>
              <a:rPr lang="ko-KR" altLang="en-US" dirty="0"/>
              <a:t> 이중 서명을 사용</a:t>
            </a: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1">
              <a:defRPr/>
            </a:pPr>
            <a:r>
              <a:rPr lang="ko-KR" altLang="en-US" dirty="0">
                <a:solidFill>
                  <a:srgbClr val="FF0000"/>
                </a:solidFill>
              </a:rPr>
              <a:t>이중 서명</a:t>
            </a:r>
            <a:endParaRPr lang="en-US" altLang="ko-KR" dirty="0">
              <a:solidFill>
                <a:srgbClr val="FF0000"/>
              </a:solidFill>
            </a:endParaRPr>
          </a:p>
          <a:p>
            <a:pPr lvl="2">
              <a:defRPr/>
            </a:pPr>
            <a:r>
              <a:rPr lang="ko-KR" altLang="en-US" dirty="0"/>
              <a:t>신용카드 사용자의 구매 정보와 지불 정보를 각각 </a:t>
            </a:r>
            <a:r>
              <a:rPr lang="ko-KR" altLang="en-US" dirty="0" err="1"/>
              <a:t>해시한</a:t>
            </a:r>
            <a:r>
              <a:rPr lang="ko-KR" altLang="en-US" dirty="0"/>
              <a:t> 후 두 값을 합하여 다시 </a:t>
            </a:r>
            <a:r>
              <a:rPr lang="ko-KR" altLang="en-US" dirty="0" err="1"/>
              <a:t>해시함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최종 해시 값을 신용카드 사용자의 개인 키로 암호화</a:t>
            </a:r>
            <a:r>
              <a:rPr lang="en-US" altLang="ko-KR" dirty="0"/>
              <a:t>(</a:t>
            </a:r>
            <a:r>
              <a:rPr lang="ko-KR" altLang="en-US" dirty="0"/>
              <a:t>서명</a:t>
            </a:r>
            <a:r>
              <a:rPr lang="en-US" altLang="ko-KR" dirty="0"/>
              <a:t>)</a:t>
            </a:r>
            <a:r>
              <a:rPr lang="ko-KR" altLang="en-US" dirty="0"/>
              <a:t>하면 이중 서명 값 생성</a:t>
            </a:r>
            <a:endParaRPr lang="en-US" altLang="ko-KR" dirty="0"/>
          </a:p>
          <a:p>
            <a:pPr lvl="2">
              <a:defRPr/>
            </a:pPr>
            <a:r>
              <a:rPr lang="ko-KR" altLang="en-US" dirty="0">
                <a:solidFill>
                  <a:srgbClr val="FF0000"/>
                </a:solidFill>
              </a:rPr>
              <a:t>상점에 대금을 지불하는 은행은 신용카드 사용자가 구입한 물건을 모르지만 상점이 요구한 결제 대금이 </a:t>
            </a:r>
            <a:endParaRPr lang="en-US" altLang="ko-KR" dirty="0">
              <a:solidFill>
                <a:srgbClr val="FF0000"/>
              </a:solidFill>
            </a:endParaRPr>
          </a:p>
          <a:p>
            <a:pPr marL="447675" lvl="2" indent="0">
              <a:buNone/>
              <a:defRPr/>
            </a:pPr>
            <a:r>
              <a:rPr lang="ko-KR" altLang="en-US" sz="1100" dirty="0">
                <a:solidFill>
                  <a:srgbClr val="FF0000"/>
                </a:solidFill>
              </a:rPr>
              <a:t>    </a:t>
            </a:r>
            <a:r>
              <a:rPr lang="ko-KR" altLang="en-US" dirty="0">
                <a:solidFill>
                  <a:srgbClr val="FF0000"/>
                </a:solidFill>
              </a:rPr>
              <a:t>정확한지 확인 할 수 있게 하기 위한 목적</a:t>
            </a:r>
            <a:endParaRPr lang="en-US" altLang="ko-KR" dirty="0">
              <a:solidFill>
                <a:srgbClr val="FF0000"/>
              </a:solidFill>
            </a:endParaRPr>
          </a:p>
          <a:p>
            <a:pPr marL="266700" lvl="1" indent="0">
              <a:buNone/>
              <a:defRPr/>
            </a:pPr>
            <a:r>
              <a:rPr lang="ko-KR" altLang="en-US" dirty="0"/>
              <a:t>   </a:t>
            </a:r>
            <a:endParaRPr lang="en-US" altLang="ko-KR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664" y="4943111"/>
            <a:ext cx="5544616" cy="1603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1987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전자 결제와 가상 화폐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290266" cy="5400600"/>
          </a:xfrm>
        </p:spPr>
        <p:txBody>
          <a:bodyPr>
            <a:noAutofit/>
          </a:bodyPr>
          <a:lstStyle/>
          <a:p>
            <a:r>
              <a:rPr lang="en-US" altLang="ko-KR" dirty="0"/>
              <a:t>SET</a:t>
            </a:r>
          </a:p>
          <a:p>
            <a:pPr lvl="1"/>
            <a:r>
              <a:rPr lang="ko-KR" altLang="en-US" dirty="0"/>
              <a:t>이중 서명의 원리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신용카드 사용자는 하나의 비밀 키</a:t>
            </a:r>
            <a:r>
              <a:rPr lang="en-US" altLang="ko-KR" dirty="0"/>
              <a:t>(</a:t>
            </a:r>
            <a:r>
              <a:rPr lang="ko-KR" altLang="en-US" dirty="0"/>
              <a:t>대칭 키</a:t>
            </a:r>
            <a:r>
              <a:rPr lang="en-US" altLang="ko-KR" dirty="0"/>
              <a:t>)</a:t>
            </a:r>
            <a:r>
              <a:rPr lang="ko-KR" altLang="en-US" dirty="0"/>
              <a:t>를 생성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비밀 키를 사용하여 지불 정보를 암호화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비밀 키는 은행이 운영하는 지불 게이트웨이의 공개 키로 암호화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신용카드 사용자는 결제를 위한 데이터를 모두 생성하여 상점에 전송</a:t>
            </a:r>
            <a:endParaRPr lang="en-US" altLang="ko-KR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2997221"/>
            <a:ext cx="4248472" cy="1889254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5087808"/>
            <a:ext cx="4824536" cy="1437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3718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전자 결제와 가상 화폐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290266" cy="5400600"/>
          </a:xfrm>
        </p:spPr>
        <p:txBody>
          <a:bodyPr>
            <a:noAutofit/>
          </a:bodyPr>
          <a:lstStyle/>
          <a:p>
            <a:r>
              <a:rPr lang="en-US" altLang="ko-KR" dirty="0"/>
              <a:t>SET</a:t>
            </a:r>
          </a:p>
          <a:p>
            <a:pPr lvl="1"/>
            <a:r>
              <a:rPr lang="ko-KR" altLang="en-US" dirty="0"/>
              <a:t>이중 서명의 원리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상점은 구매 정보를 확인</a:t>
            </a:r>
            <a:endParaRPr lang="en-US" altLang="ko-KR" dirty="0"/>
          </a:p>
          <a:p>
            <a:pPr marL="857250" lvl="3" indent="-228600">
              <a:buFont typeface="+mj-ea"/>
              <a:buAutoNum type="circleNumDbPlain"/>
              <a:defRPr/>
            </a:pPr>
            <a:r>
              <a:rPr lang="ko-KR" altLang="en-US" dirty="0"/>
              <a:t>신용카드 사용자가 구매한 물건에 대한 구매 정보의 해시를 구함</a:t>
            </a:r>
            <a:endParaRPr lang="en-US" altLang="ko-KR" dirty="0"/>
          </a:p>
          <a:p>
            <a:pPr marL="857250" lvl="3" indent="-228600">
              <a:buFont typeface="+mj-ea"/>
              <a:buAutoNum type="circleNumDbPlain"/>
              <a:defRPr/>
            </a:pPr>
            <a:r>
              <a:rPr lang="ko-KR" altLang="en-US" dirty="0"/>
              <a:t>신용카드 사용자가 보내온 한 쌍의 해시 값을 새로 구한 해시로 대치</a:t>
            </a:r>
            <a:endParaRPr lang="en-US" altLang="ko-KR" dirty="0"/>
          </a:p>
          <a:p>
            <a:pPr marL="857250" lvl="3" indent="-228600">
              <a:buFont typeface="+mj-ea"/>
              <a:buAutoNum type="circleNumDbPlain"/>
              <a:defRPr/>
            </a:pPr>
            <a:r>
              <a:rPr lang="ko-KR" altLang="en-US" dirty="0"/>
              <a:t>새로운 이 중 해시를 구함</a:t>
            </a:r>
            <a:endParaRPr lang="en-US" altLang="ko-KR" dirty="0"/>
          </a:p>
          <a:p>
            <a:pPr marL="857250" lvl="3" indent="-228600">
              <a:buFont typeface="+mj-ea"/>
              <a:buAutoNum type="circleNumDbPlain"/>
              <a:defRPr/>
            </a:pPr>
            <a:r>
              <a:rPr lang="ko-KR" altLang="en-US" dirty="0"/>
              <a:t>신용카드 사용자의 개인 키로 암호화된 해시 값을 </a:t>
            </a:r>
            <a:r>
              <a:rPr lang="ko-KR" altLang="en-US" dirty="0" err="1"/>
              <a:t>복호화하여</a:t>
            </a:r>
            <a:r>
              <a:rPr lang="en-US" altLang="ko-KR" dirty="0"/>
              <a:t> </a:t>
            </a:r>
            <a:r>
              <a:rPr lang="ko-KR" altLang="en-US" dirty="0"/>
              <a:t>이를 새로 구한 이중 해시 값과 비교</a:t>
            </a:r>
            <a:endParaRPr lang="en-US" altLang="ko-KR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9652" y="3356992"/>
            <a:ext cx="5760640" cy="2908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326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전자 결제와 가상 화폐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434282" cy="5400600"/>
          </a:xfrm>
        </p:spPr>
        <p:txBody>
          <a:bodyPr>
            <a:noAutofit/>
          </a:bodyPr>
          <a:lstStyle/>
          <a:p>
            <a:r>
              <a:rPr lang="en-US" altLang="ko-KR" dirty="0"/>
              <a:t>SET</a:t>
            </a:r>
          </a:p>
          <a:p>
            <a:pPr lvl="1"/>
            <a:r>
              <a:rPr lang="ko-KR" altLang="en-US" dirty="0"/>
              <a:t>이중 서명의 원리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구매 정보를 확인한 상점은 다시 데이터 세트를 만들어 지불 게이트웨이로 전송</a:t>
            </a:r>
            <a:endParaRPr lang="en-US" altLang="ko-KR" dirty="0"/>
          </a:p>
          <a:p>
            <a:pPr lvl="2">
              <a:defRPr/>
            </a:pPr>
            <a:r>
              <a:rPr lang="ko-KR" altLang="en-US" sz="1150" dirty="0"/>
              <a:t>상점이 지불 게이트웨이로 보내는 데이터는 구매 정보만 빼면 신용카드 사용자가 처음 상점에 전송한 데이터와 같음</a:t>
            </a:r>
            <a:endParaRPr lang="en-US" altLang="ko-KR" sz="1150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664" y="2960822"/>
            <a:ext cx="5989550" cy="1668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9712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전자 결제와 가상 화폐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290266" cy="5400600"/>
          </a:xfrm>
        </p:spPr>
        <p:txBody>
          <a:bodyPr>
            <a:noAutofit/>
          </a:bodyPr>
          <a:lstStyle/>
          <a:p>
            <a:r>
              <a:rPr lang="en-US" altLang="ko-KR" dirty="0"/>
              <a:t>SET</a:t>
            </a:r>
          </a:p>
          <a:p>
            <a:pPr lvl="1"/>
            <a:r>
              <a:rPr lang="ko-KR" altLang="en-US" dirty="0"/>
              <a:t>이중 서명의 원리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데이터를 상점으로부터 받은 지불 게이트웨이는 자신의 개인 키로 비밀 키를 </a:t>
            </a:r>
            <a:r>
              <a:rPr lang="ko-KR" altLang="en-US" dirty="0" err="1"/>
              <a:t>복호화하여</a:t>
            </a:r>
            <a:r>
              <a:rPr lang="ko-KR" altLang="en-US" dirty="0"/>
              <a:t> 지불 정보를 확인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상점이 한 것처럼 지불 정보를 </a:t>
            </a:r>
            <a:r>
              <a:rPr lang="ko-KR" altLang="en-US" dirty="0" err="1"/>
              <a:t>해시한</a:t>
            </a:r>
            <a:r>
              <a:rPr lang="ko-KR" altLang="en-US" dirty="0"/>
              <a:t> 값으로 한 쌍의 해시 값을 대치하여 이중 해시 값을 비교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지불 정보의 변조 여부를 확인한 뒤 상점에 대금을 지불</a:t>
            </a:r>
            <a:endParaRPr lang="en-US" altLang="ko-KR" sz="1100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3051" y="2780928"/>
            <a:ext cx="5184576" cy="3870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035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전자 결제와 가상 화폐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290266" cy="5400600"/>
          </a:xfrm>
        </p:spPr>
        <p:txBody>
          <a:bodyPr>
            <a:noAutofit/>
          </a:bodyPr>
          <a:lstStyle/>
          <a:p>
            <a:r>
              <a:rPr lang="ko-KR" altLang="en-US" dirty="0" err="1"/>
              <a:t>간편결제</a:t>
            </a:r>
            <a:endParaRPr lang="en-US" altLang="ko-KR" sz="700" dirty="0"/>
          </a:p>
          <a:p>
            <a:pPr lvl="2"/>
            <a:r>
              <a:rPr lang="ko-KR" altLang="en-US" dirty="0"/>
              <a:t>모바일 앱이나 웹 서비스 제공자에게 신용카드 정보 등을 </a:t>
            </a:r>
            <a:r>
              <a:rPr lang="ko-KR" altLang="en-US" dirty="0" err="1"/>
              <a:t>입력해두고</a:t>
            </a:r>
            <a:r>
              <a:rPr lang="ko-KR" altLang="en-US" dirty="0"/>
              <a:t> 결제 시 신용카드 정보 입력과 공인</a:t>
            </a:r>
            <a:endParaRPr lang="en-US" altLang="ko-KR" dirty="0"/>
          </a:p>
          <a:p>
            <a:pPr marL="447675" lvl="2" indent="0">
              <a:buNone/>
            </a:pPr>
            <a:r>
              <a:rPr lang="en-US" altLang="ko-KR" dirty="0"/>
              <a:t>   </a:t>
            </a:r>
            <a:r>
              <a:rPr lang="ko-KR" altLang="en-US" dirty="0"/>
              <a:t>인증서 등록 없이 </a:t>
            </a:r>
            <a:r>
              <a:rPr lang="ko-KR" altLang="en-US" dirty="0">
                <a:solidFill>
                  <a:srgbClr val="FF0000"/>
                </a:solidFill>
              </a:rPr>
              <a:t>패스워드 입력과 같은 간단한 인증만으로 결제</a:t>
            </a:r>
            <a:r>
              <a:rPr lang="ko-KR" altLang="en-US" dirty="0"/>
              <a:t>를 하는 서비스</a:t>
            </a:r>
            <a:endParaRPr lang="en-US" altLang="ko-KR" dirty="0"/>
          </a:p>
          <a:p>
            <a:pPr lvl="2"/>
            <a:r>
              <a:rPr lang="ko-KR" altLang="en-US" dirty="0"/>
              <a:t>초기에는 공인인증서와 같이 암호나 해시 기술이 적용되었으나 최근에는 </a:t>
            </a:r>
            <a:r>
              <a:rPr lang="ko-KR" altLang="en-US" dirty="0" err="1"/>
              <a:t>보안성보다</a:t>
            </a:r>
            <a:r>
              <a:rPr lang="ko-KR" altLang="en-US" dirty="0"/>
              <a:t> 간편성에 더 중점</a:t>
            </a:r>
            <a:endParaRPr lang="en-US" altLang="ko-KR" dirty="0"/>
          </a:p>
          <a:p>
            <a:pPr lvl="2"/>
            <a:r>
              <a:rPr lang="ko-KR" altLang="en-US" dirty="0" err="1"/>
              <a:t>간편결제를</a:t>
            </a:r>
            <a:r>
              <a:rPr lang="ko-KR" altLang="en-US" dirty="0"/>
              <a:t> 기존의 신용카드 보안</a:t>
            </a:r>
            <a:r>
              <a:rPr lang="en-US" altLang="ko-KR" dirty="0"/>
              <a:t>, </a:t>
            </a:r>
            <a:r>
              <a:rPr lang="ko-KR" altLang="en-US" dirty="0"/>
              <a:t>은행 입출금 보안에 간편성을 더한 것으로 볼 수도 있음</a:t>
            </a:r>
            <a:endParaRPr lang="en-US" altLang="ko-KR" dirty="0"/>
          </a:p>
          <a:p>
            <a:pPr lvl="2"/>
            <a:r>
              <a:rPr lang="ko-KR" altLang="en-US" dirty="0"/>
              <a:t>간편 결제 시장은 가상 화폐</a:t>
            </a:r>
            <a:r>
              <a:rPr lang="en-US" altLang="ko-KR" dirty="0"/>
              <a:t>, </a:t>
            </a:r>
            <a:r>
              <a:rPr lang="ko-KR" altLang="en-US" dirty="0"/>
              <a:t>스마트카드에 기반한 전자 </a:t>
            </a:r>
            <a:r>
              <a:rPr lang="ko-KR" altLang="en-US" dirty="0" err="1"/>
              <a:t>화폐와도</a:t>
            </a:r>
            <a:r>
              <a:rPr lang="ko-KR" altLang="en-US" dirty="0"/>
              <a:t> 연계되어 시장 상황을 단정 짓기 어려움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2996952"/>
            <a:ext cx="2448272" cy="2548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8190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전자 결제와 가상 화폐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290266" cy="5400600"/>
          </a:xfrm>
        </p:spPr>
        <p:txBody>
          <a:bodyPr>
            <a:noAutofit/>
          </a:bodyPr>
          <a:lstStyle/>
          <a:p>
            <a:r>
              <a:rPr lang="ko-KR" altLang="en-US" dirty="0"/>
              <a:t>전자화폐</a:t>
            </a:r>
            <a:endParaRPr lang="en-US" altLang="ko-KR" dirty="0"/>
          </a:p>
          <a:p>
            <a:pPr lvl="2"/>
            <a:r>
              <a:rPr lang="ko-KR" altLang="en-US" dirty="0"/>
              <a:t>전자금융거래법 제</a:t>
            </a:r>
            <a:r>
              <a:rPr lang="en-US" altLang="ko-KR" dirty="0"/>
              <a:t>2</a:t>
            </a:r>
            <a:r>
              <a:rPr lang="ko-KR" altLang="en-US" dirty="0"/>
              <a:t>조 </a:t>
            </a:r>
            <a:r>
              <a:rPr lang="en-US" altLang="ko-KR" dirty="0"/>
              <a:t>15</a:t>
            </a:r>
            <a:r>
              <a:rPr lang="ko-KR" altLang="en-US" dirty="0"/>
              <a:t>항에 “이전 가능한 금전적 가치가 전자적 방법으로 저장되어 발행된 증표 또는 </a:t>
            </a:r>
            <a:endParaRPr lang="en-US" altLang="ko-KR" dirty="0"/>
          </a:p>
          <a:p>
            <a:pPr marL="447675" lvl="2" indent="0">
              <a:buNone/>
            </a:pPr>
            <a:r>
              <a:rPr lang="en-US" altLang="ko-KR" dirty="0"/>
              <a:t>   </a:t>
            </a:r>
            <a:r>
              <a:rPr lang="ko-KR" altLang="en-US" dirty="0"/>
              <a:t>그 증표에 관한 </a:t>
            </a:r>
            <a:r>
              <a:rPr lang="ko-KR" altLang="en-US" dirty="0" err="1"/>
              <a:t>정보”로</a:t>
            </a:r>
            <a:r>
              <a:rPr lang="ko-KR" altLang="en-US" dirty="0"/>
              <a:t> 정의</a:t>
            </a:r>
            <a:endParaRPr lang="en-US" altLang="ko-KR" dirty="0"/>
          </a:p>
          <a:p>
            <a:pPr lvl="2"/>
            <a:r>
              <a:rPr lang="ko-KR" altLang="en-US" dirty="0"/>
              <a:t>전자 화폐는 지금까지 소액이 거래되거나 포인트처럼 사용되고 있으며 전 세계적으로도 성공한 사례가 적음</a:t>
            </a:r>
            <a:endParaRPr lang="en-US" altLang="ko-KR" dirty="0"/>
          </a:p>
          <a:p>
            <a:pPr lvl="2"/>
            <a:r>
              <a:rPr lang="ko-KR" altLang="en-US" dirty="0"/>
              <a:t>과거에는 다양한 방식으로 전자 화폐를 상용화하려고 시도했으나 현재 교통 카드를 제외하고는 전자 화폐가 </a:t>
            </a:r>
            <a:endParaRPr lang="en-US" altLang="ko-KR" dirty="0"/>
          </a:p>
          <a:p>
            <a:pPr marL="447675" lvl="2" indent="0">
              <a:buNone/>
            </a:pPr>
            <a:r>
              <a:rPr lang="en-US" altLang="ko-KR" dirty="0"/>
              <a:t>   </a:t>
            </a:r>
            <a:r>
              <a:rPr lang="ko-KR" altLang="en-US" dirty="0"/>
              <a:t>거의 없음</a:t>
            </a:r>
            <a:endParaRPr lang="en-US" altLang="ko-KR" dirty="0"/>
          </a:p>
          <a:p>
            <a:pPr marL="447675" lvl="2" indent="0">
              <a:buNone/>
            </a:pPr>
            <a:endParaRPr lang="en-US" altLang="ko-KR" dirty="0"/>
          </a:p>
          <a:p>
            <a:pPr lvl="1"/>
            <a:r>
              <a:rPr lang="ko-KR" altLang="en-US" dirty="0"/>
              <a:t>전자화폐의 </a:t>
            </a:r>
            <a:r>
              <a:rPr lang="ko-KR" altLang="en-US" dirty="0">
                <a:solidFill>
                  <a:srgbClr val="FF0000"/>
                </a:solidFill>
              </a:rPr>
              <a:t>위험성</a:t>
            </a:r>
          </a:p>
          <a:p>
            <a:pPr lvl="2"/>
            <a:r>
              <a:rPr lang="ko-KR" altLang="en-US" dirty="0"/>
              <a:t>전자화폐는 구현된 방식에 따라 </a:t>
            </a:r>
            <a:r>
              <a:rPr lang="ko-KR" altLang="en-US" dirty="0">
                <a:solidFill>
                  <a:srgbClr val="FF0000"/>
                </a:solidFill>
              </a:rPr>
              <a:t>쉽게 복제 가능</a:t>
            </a:r>
            <a:endParaRPr lang="en-US" altLang="ko-KR" dirty="0">
              <a:solidFill>
                <a:srgbClr val="FF0000"/>
              </a:solidFill>
            </a:endParaRPr>
          </a:p>
          <a:p>
            <a:pPr lvl="2"/>
            <a:r>
              <a:rPr lang="ko-KR" altLang="en-US" dirty="0"/>
              <a:t>인터넷에서 다양한 경로로 사용되어 </a:t>
            </a:r>
            <a:r>
              <a:rPr lang="ko-KR" altLang="en-US" dirty="0">
                <a:solidFill>
                  <a:srgbClr val="FF0000"/>
                </a:solidFill>
              </a:rPr>
              <a:t>취약점에 노출</a:t>
            </a:r>
            <a:r>
              <a:rPr lang="ko-KR" altLang="en-US" dirty="0"/>
              <a:t>되는 경우가 많음</a:t>
            </a:r>
            <a:endParaRPr lang="en-US" altLang="ko-KR" dirty="0"/>
          </a:p>
          <a:p>
            <a:pPr lvl="2"/>
            <a:r>
              <a:rPr lang="ko-KR" altLang="en-US" dirty="0"/>
              <a:t>전자화폐를 도입할 때는 이러한 위험성을 충분히 파악하고 신중하게 결정해야 함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6718674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전자 결제와 가상 화폐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290266" cy="5400600"/>
          </a:xfrm>
        </p:spPr>
        <p:txBody>
          <a:bodyPr>
            <a:noAutofit/>
          </a:bodyPr>
          <a:lstStyle/>
          <a:p>
            <a:r>
              <a:rPr lang="ko-KR" altLang="en-US" dirty="0"/>
              <a:t>스마트카드의 구조</a:t>
            </a:r>
            <a:endParaRPr lang="en-US" altLang="ko-KR" dirty="0"/>
          </a:p>
          <a:p>
            <a:pPr lvl="1"/>
            <a:r>
              <a:rPr lang="ko-KR" altLang="en-US" dirty="0" err="1"/>
              <a:t>접촉식</a:t>
            </a:r>
            <a:r>
              <a:rPr lang="ko-KR" altLang="en-US" dirty="0"/>
              <a:t> 카드 </a:t>
            </a:r>
            <a:endParaRPr lang="en-US" altLang="ko-KR" dirty="0"/>
          </a:p>
          <a:p>
            <a:pPr lvl="2"/>
            <a:r>
              <a:rPr lang="ko-KR" altLang="en-US" dirty="0"/>
              <a:t>스마트카드 리더기와 스마트카드 </a:t>
            </a:r>
            <a:r>
              <a:rPr lang="ko-KR" altLang="en-US" dirty="0" err="1"/>
              <a:t>접촉부</a:t>
            </a:r>
            <a:r>
              <a:rPr lang="en-US" altLang="ko-KR" dirty="0"/>
              <a:t>CHIP </a:t>
            </a:r>
            <a:r>
              <a:rPr lang="ko-KR" altLang="en-US" dirty="0"/>
              <a:t>사이의 물리적 접촉으로 작동하는 스마트카드</a:t>
            </a:r>
            <a:endParaRPr lang="en-US" altLang="ko-KR" dirty="0"/>
          </a:p>
          <a:p>
            <a:pPr lvl="2"/>
            <a:r>
              <a:rPr lang="ko-KR" altLang="en-US" dirty="0"/>
              <a:t>플라스틱 카드에 스마트카드 리더기와 통신하는데 필요한 </a:t>
            </a:r>
            <a:r>
              <a:rPr lang="ko-KR" altLang="en-US" dirty="0" err="1"/>
              <a:t>접촉부</a:t>
            </a:r>
            <a:r>
              <a:rPr lang="en-US" altLang="ko-KR" dirty="0"/>
              <a:t>, </a:t>
            </a:r>
            <a:r>
              <a:rPr lang="en-US" altLang="ko-KR" dirty="0">
                <a:solidFill>
                  <a:srgbClr val="FF0000"/>
                </a:solidFill>
              </a:rPr>
              <a:t>IC</a:t>
            </a:r>
            <a:r>
              <a:rPr lang="ko-KR" altLang="en-US" dirty="0">
                <a:solidFill>
                  <a:srgbClr val="FF0000"/>
                </a:solidFill>
              </a:rPr>
              <a:t>칩</a:t>
            </a:r>
            <a:r>
              <a:rPr lang="ko-KR" altLang="en-US" dirty="0"/>
              <a:t>이 </a:t>
            </a:r>
            <a:r>
              <a:rPr lang="ko-KR" altLang="en-US" dirty="0">
                <a:solidFill>
                  <a:srgbClr val="FF0000"/>
                </a:solidFill>
              </a:rPr>
              <a:t>내장</a:t>
            </a:r>
            <a:r>
              <a:rPr lang="ko-KR" altLang="en-US" dirty="0"/>
              <a:t>되어 있음</a:t>
            </a:r>
            <a:endParaRPr lang="en-US" altLang="ko-KR" dirty="0"/>
          </a:p>
          <a:p>
            <a:pPr lvl="2"/>
            <a:r>
              <a:rPr lang="ko-KR" altLang="en-US" dirty="0"/>
              <a:t>많은 데이터를 처리하는 거래 인증이나 전자 서명 등의 응용에 적합</a:t>
            </a:r>
            <a:endParaRPr lang="en-US" altLang="ko-KR" dirty="0"/>
          </a:p>
          <a:p>
            <a:pPr lvl="2"/>
            <a:r>
              <a:rPr lang="ko-KR" altLang="en-US" dirty="0"/>
              <a:t>잦은 접촉으로 인해 접점이 전기적 충격을 받거나 손상이 생길 우려가 있음</a:t>
            </a:r>
            <a:endParaRPr lang="en-US" altLang="ko-KR" dirty="0"/>
          </a:p>
          <a:p>
            <a:pPr lvl="2"/>
            <a:endParaRPr lang="en-US" altLang="ko-KR" sz="100" dirty="0"/>
          </a:p>
          <a:p>
            <a:pPr lvl="1"/>
            <a:r>
              <a:rPr lang="ko-KR" altLang="en-US" dirty="0" err="1"/>
              <a:t>비접촉식</a:t>
            </a:r>
            <a:r>
              <a:rPr lang="ko-KR" altLang="en-US" dirty="0"/>
              <a:t> 카드 </a:t>
            </a:r>
            <a:endParaRPr lang="en-US" altLang="ko-KR" dirty="0"/>
          </a:p>
          <a:p>
            <a:pPr lvl="2"/>
            <a:r>
              <a:rPr lang="ko-KR" altLang="en-US" dirty="0"/>
              <a:t>안테나 겸 전기 코일로 이용되는 </a:t>
            </a:r>
            <a:r>
              <a:rPr lang="ko-KR" altLang="en-US" dirty="0" err="1"/>
              <a:t>구리선을</a:t>
            </a:r>
            <a:r>
              <a:rPr lang="ko-KR" altLang="en-US" dirty="0"/>
              <a:t> 통해 무선 주파수 파장을 전력으로 전환하는 방식으로 구동하여 </a:t>
            </a:r>
            <a:endParaRPr lang="en-US" altLang="ko-KR" dirty="0"/>
          </a:p>
          <a:p>
            <a:pPr marL="447675" lvl="2" indent="0">
              <a:buNone/>
            </a:pPr>
            <a:r>
              <a:rPr lang="ko-KR" altLang="en-US" sz="1100" dirty="0"/>
              <a:t>    </a:t>
            </a:r>
            <a:r>
              <a:rPr lang="ko-KR" altLang="en-US" dirty="0"/>
              <a:t>스마트카드 리더기와 통신하는 카드</a:t>
            </a:r>
            <a:endParaRPr lang="en-US" altLang="ko-KR" dirty="0"/>
          </a:p>
          <a:p>
            <a:pPr lvl="2"/>
            <a:r>
              <a:rPr lang="ko-KR" altLang="en-US" dirty="0"/>
              <a:t>스마트카드 리더기와 물리적으로 접촉 할 필요가 없음</a:t>
            </a:r>
            <a:endParaRPr lang="en-US" altLang="ko-KR" dirty="0"/>
          </a:p>
          <a:p>
            <a:pPr lvl="2"/>
            <a:r>
              <a:rPr lang="ko-KR" altLang="en-US" dirty="0"/>
              <a:t>처리 시간에 제한을 받는 </a:t>
            </a:r>
            <a:r>
              <a:rPr lang="ko-KR" altLang="en-US" dirty="0">
                <a:solidFill>
                  <a:srgbClr val="FF0000"/>
                </a:solidFill>
              </a:rPr>
              <a:t>교통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유통 </a:t>
            </a:r>
            <a:r>
              <a:rPr lang="ko-KR" altLang="en-US" dirty="0"/>
              <a:t>등에 적합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210" y="4494745"/>
            <a:ext cx="4248472" cy="2029664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3148" y="4494745"/>
            <a:ext cx="3681039" cy="2029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0837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전자 결제와 가상 화폐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290266" cy="5400600"/>
          </a:xfrm>
        </p:spPr>
        <p:txBody>
          <a:bodyPr>
            <a:noAutofit/>
          </a:bodyPr>
          <a:lstStyle/>
          <a:p>
            <a:r>
              <a:rPr lang="ko-KR" altLang="en-US" dirty="0"/>
              <a:t>스마트카드의 구조</a:t>
            </a:r>
            <a:endParaRPr lang="en-US" altLang="ko-KR" sz="100" dirty="0"/>
          </a:p>
          <a:p>
            <a:pPr lvl="1"/>
            <a:r>
              <a:rPr lang="ko-KR" altLang="en-US" dirty="0"/>
              <a:t>콤비 카드</a:t>
            </a:r>
            <a:endParaRPr lang="en-US" altLang="ko-KR" dirty="0"/>
          </a:p>
          <a:p>
            <a:pPr lvl="2"/>
            <a:r>
              <a:rPr lang="ko-KR" altLang="en-US" dirty="0" err="1"/>
              <a:t>접촉식</a:t>
            </a:r>
            <a:r>
              <a:rPr lang="ko-KR" altLang="en-US" dirty="0"/>
              <a:t> 카드와 </a:t>
            </a:r>
            <a:r>
              <a:rPr lang="ko-KR" altLang="en-US" dirty="0" err="1"/>
              <a:t>비접촉식</a:t>
            </a:r>
            <a:r>
              <a:rPr lang="ko-KR" altLang="en-US" dirty="0"/>
              <a:t> 카드가 공유할 수 있는 부분을 상호 공유하는 스마트카드</a:t>
            </a:r>
            <a:endParaRPr lang="en-US" altLang="ko-KR" dirty="0"/>
          </a:p>
          <a:p>
            <a:pPr lvl="2"/>
            <a:r>
              <a:rPr lang="ko-KR" altLang="en-US" dirty="0"/>
              <a:t>공유되는 메모리 영역이 훼손되면 </a:t>
            </a:r>
            <a:r>
              <a:rPr lang="ko-KR" altLang="en-US" dirty="0" err="1"/>
              <a:t>접촉식</a:t>
            </a:r>
            <a:r>
              <a:rPr lang="en-US" altLang="ko-KR" dirty="0"/>
              <a:t>·</a:t>
            </a:r>
            <a:r>
              <a:rPr lang="ko-KR" altLang="en-US" dirty="0" err="1"/>
              <a:t>비접촉식</a:t>
            </a:r>
            <a:r>
              <a:rPr lang="ko-KR" altLang="en-US" dirty="0"/>
              <a:t> 카드 기능이 모두 마비될 위험이 있음</a:t>
            </a:r>
            <a:endParaRPr lang="en-US" altLang="ko-KR" dirty="0"/>
          </a:p>
          <a:p>
            <a:pPr lvl="2"/>
            <a:r>
              <a:rPr lang="ko-KR" altLang="en-US" dirty="0"/>
              <a:t>현재까지는 </a:t>
            </a:r>
            <a:r>
              <a:rPr lang="ko-KR" altLang="en-US" dirty="0">
                <a:solidFill>
                  <a:srgbClr val="FF0000"/>
                </a:solidFill>
              </a:rPr>
              <a:t>가장 효율적인 형태</a:t>
            </a:r>
            <a:r>
              <a:rPr lang="ko-KR" altLang="en-US" dirty="0"/>
              <a:t>로 여겨지고 있음</a:t>
            </a:r>
            <a:endParaRPr lang="en-US" altLang="ko-KR" dirty="0"/>
          </a:p>
          <a:p>
            <a:pPr lvl="2"/>
            <a:endParaRPr lang="en-US" altLang="ko-KR" dirty="0"/>
          </a:p>
          <a:p>
            <a:pPr lvl="1"/>
            <a:r>
              <a:rPr lang="en-US" altLang="ko-KR" dirty="0"/>
              <a:t>SIM</a:t>
            </a:r>
            <a:r>
              <a:rPr lang="ko-KR" altLang="en-US" dirty="0"/>
              <a:t> 카드 </a:t>
            </a:r>
            <a:endParaRPr lang="en-US" altLang="ko-KR" dirty="0"/>
          </a:p>
          <a:p>
            <a:pPr lvl="2"/>
            <a:r>
              <a:rPr lang="ko-KR" altLang="en-US" dirty="0">
                <a:solidFill>
                  <a:srgbClr val="FF0000"/>
                </a:solidFill>
              </a:rPr>
              <a:t>가입자 식별 모듈</a:t>
            </a:r>
            <a:r>
              <a:rPr lang="en-US" altLang="ko-KR" dirty="0">
                <a:solidFill>
                  <a:srgbClr val="FF0000"/>
                </a:solidFill>
              </a:rPr>
              <a:t>(SIM)</a:t>
            </a:r>
            <a:r>
              <a:rPr lang="ko-KR" altLang="en-US" dirty="0"/>
              <a:t>을 구현한 </a:t>
            </a:r>
            <a:r>
              <a:rPr lang="en-US" altLang="ko-KR" dirty="0"/>
              <a:t>IC </a:t>
            </a:r>
            <a:r>
              <a:rPr lang="ko-KR" altLang="en-US" dirty="0"/>
              <a:t>카드로 </a:t>
            </a:r>
            <a:r>
              <a:rPr lang="en-US" altLang="ko-KR" dirty="0"/>
              <a:t>GSM </a:t>
            </a:r>
            <a:r>
              <a:rPr lang="ko-KR" altLang="en-US" dirty="0"/>
              <a:t>단말기의 필수 요소</a:t>
            </a:r>
            <a:r>
              <a:rPr lang="en-US" altLang="ko-KR" dirty="0"/>
              <a:t>.</a:t>
            </a:r>
          </a:p>
          <a:p>
            <a:pPr lvl="2"/>
            <a:r>
              <a:rPr lang="ko-KR" altLang="en-US" dirty="0"/>
              <a:t>단말기 뒤의 슬롯에 </a:t>
            </a:r>
            <a:r>
              <a:rPr lang="ko-KR" altLang="en-US" dirty="0" err="1"/>
              <a:t>끼워넣는</a:t>
            </a:r>
            <a:r>
              <a:rPr lang="ko-KR" altLang="en-US" dirty="0"/>
              <a:t> 작은 카드 형태</a:t>
            </a:r>
            <a:endParaRPr lang="en-US" altLang="ko-KR" dirty="0"/>
          </a:p>
          <a:p>
            <a:pPr lvl="2"/>
            <a:r>
              <a:rPr lang="ko-KR" altLang="en-US" dirty="0" err="1"/>
              <a:t>보안성이</a:t>
            </a:r>
            <a:r>
              <a:rPr lang="ko-KR" altLang="en-US" dirty="0"/>
              <a:t> 뛰어나 </a:t>
            </a:r>
            <a:r>
              <a:rPr lang="ko-KR" altLang="en-US" dirty="0">
                <a:solidFill>
                  <a:srgbClr val="FF0000"/>
                </a:solidFill>
              </a:rPr>
              <a:t>전자 상거래 </a:t>
            </a:r>
            <a:r>
              <a:rPr lang="ko-KR" altLang="en-US" dirty="0"/>
              <a:t>등에 서도 효용성이 높음</a:t>
            </a:r>
            <a:endParaRPr lang="en-US" altLang="ko-KR" dirty="0"/>
          </a:p>
          <a:p>
            <a:pPr lvl="2"/>
            <a:r>
              <a:rPr lang="en-US" altLang="ko-KR" dirty="0"/>
              <a:t>3</a:t>
            </a:r>
            <a:r>
              <a:rPr lang="ko-KR" altLang="en-US" dirty="0"/>
              <a:t>세대 이동통신 단말기는 범용 사용자 식별 모듈인 </a:t>
            </a:r>
            <a:r>
              <a:rPr lang="en-US" altLang="ko-KR" dirty="0"/>
              <a:t>USIM</a:t>
            </a:r>
            <a:r>
              <a:rPr lang="ko-KR" altLang="en-US" dirty="0"/>
              <a:t>으로 표준이 확장</a:t>
            </a:r>
            <a:endParaRPr lang="en-US" altLang="ko-KR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779" y="4548161"/>
            <a:ext cx="4248472" cy="1988957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2120" y="4854888"/>
            <a:ext cx="2368223" cy="169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4475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전자 결제와 가상 화폐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290266" cy="5400600"/>
          </a:xfrm>
        </p:spPr>
        <p:txBody>
          <a:bodyPr>
            <a:noAutofit/>
          </a:bodyPr>
          <a:lstStyle/>
          <a:p>
            <a:r>
              <a:rPr lang="ko-KR" altLang="en-US" dirty="0"/>
              <a:t>스마트카드 인증</a:t>
            </a:r>
            <a:endParaRPr lang="en-US" altLang="ko-KR" dirty="0"/>
          </a:p>
          <a:p>
            <a:pPr lvl="1"/>
            <a:r>
              <a:rPr lang="ko-KR" altLang="en-US" dirty="0"/>
              <a:t>정적 데이터 인증</a:t>
            </a:r>
            <a:endParaRPr lang="en-US" altLang="ko-KR" dirty="0"/>
          </a:p>
          <a:p>
            <a:pPr lvl="2"/>
            <a:r>
              <a:rPr lang="ko-KR" altLang="en-US" dirty="0"/>
              <a:t>인증할 때마다 같은 데이터를 사용하는 방식</a:t>
            </a:r>
            <a:endParaRPr lang="en-US" altLang="ko-KR" dirty="0"/>
          </a:p>
          <a:p>
            <a:pPr lvl="2"/>
            <a:r>
              <a:rPr lang="ko-KR" altLang="en-US" dirty="0"/>
              <a:t>정적 데이터 인증을 이용한 스마트카드의 대표적인 예는 출입 카드</a:t>
            </a:r>
            <a:endParaRPr lang="en-US" altLang="ko-KR" dirty="0"/>
          </a:p>
          <a:p>
            <a:pPr lvl="2"/>
            <a:endParaRPr lang="en-US" altLang="ko-KR" dirty="0"/>
          </a:p>
          <a:p>
            <a:pPr lvl="1"/>
            <a:r>
              <a:rPr lang="ko-KR" altLang="en-US" dirty="0">
                <a:solidFill>
                  <a:prstClr val="black"/>
                </a:solidFill>
              </a:rPr>
              <a:t>정적 데이터 인증 스마트카드의 발행 구조</a:t>
            </a:r>
            <a:endParaRPr lang="en-US" altLang="ko-KR" dirty="0">
              <a:solidFill>
                <a:prstClr val="black"/>
              </a:solidFill>
            </a:endParaRPr>
          </a:p>
          <a:p>
            <a:pPr marL="857250" lvl="3" indent="-228600">
              <a:buFont typeface="+mj-ea"/>
              <a:buAutoNum type="circleNumDbPlain"/>
            </a:pPr>
            <a:r>
              <a:rPr lang="ko-KR" altLang="en-US" dirty="0"/>
              <a:t>정적 응용 프로그램 데이터</a:t>
            </a:r>
            <a:endParaRPr lang="en-US" altLang="ko-KR" sz="100" dirty="0"/>
          </a:p>
          <a:p>
            <a:pPr marL="857250" lvl="3" indent="-228600">
              <a:buFont typeface="+mj-ea"/>
              <a:buAutoNum type="circleNumDbPlain"/>
            </a:pPr>
            <a:r>
              <a:rPr lang="ko-KR" altLang="en-US" dirty="0"/>
              <a:t>정적 응용 프로그램 데이터 암호화</a:t>
            </a:r>
            <a:endParaRPr lang="en-US" altLang="ko-KR" sz="400" dirty="0"/>
          </a:p>
          <a:p>
            <a:pPr marL="857250" lvl="3" indent="-228600">
              <a:buFont typeface="+mj-ea"/>
              <a:buAutoNum type="circleNumDbPlain"/>
            </a:pPr>
            <a:r>
              <a:rPr lang="ko-KR" altLang="en-US" dirty="0"/>
              <a:t>인증 기관</a:t>
            </a:r>
            <a:r>
              <a:rPr lang="en-US" altLang="ko-KR" dirty="0"/>
              <a:t>(CA)</a:t>
            </a:r>
            <a:r>
              <a:rPr lang="ko-KR" altLang="en-US" dirty="0"/>
              <a:t>의 개인 키로 발행자의 공개 키를 암호화</a:t>
            </a:r>
            <a:endParaRPr lang="en-US" altLang="ko-KR" dirty="0"/>
          </a:p>
          <a:p>
            <a:pPr marL="857250" lvl="3" indent="-228600">
              <a:buFont typeface="+mj-ea"/>
              <a:buAutoNum type="circleNumDbPlain"/>
            </a:pPr>
            <a:r>
              <a:rPr lang="ko-KR" altLang="en-US" dirty="0"/>
              <a:t>인증 데이터 저장</a:t>
            </a:r>
            <a:endParaRPr lang="en-US" altLang="ko-KR" sz="400" dirty="0"/>
          </a:p>
          <a:p>
            <a:pPr marL="857250" lvl="3" indent="-228600">
              <a:buFont typeface="+mj-ea"/>
              <a:buAutoNum type="circleNumDbPlain"/>
            </a:pPr>
            <a:r>
              <a:rPr lang="ko-KR" altLang="en-US" dirty="0"/>
              <a:t>인증 기관의 공개 키를 스마트카드 리더기에 배포</a:t>
            </a:r>
            <a:endParaRPr lang="en-US" altLang="ko-KR" dirty="0"/>
          </a:p>
          <a:p>
            <a:pPr marL="857250" lvl="3" indent="-228600">
              <a:buFont typeface="+mj-ea"/>
              <a:buAutoNum type="circleNumDbPlain"/>
            </a:pPr>
            <a:endParaRPr lang="en-US" altLang="ko-KR" dirty="0"/>
          </a:p>
          <a:p>
            <a:pPr lvl="2"/>
            <a:endParaRPr lang="en-US" altLang="ko-KR" dirty="0"/>
          </a:p>
          <a:p>
            <a:pPr lvl="1"/>
            <a:endParaRPr lang="en-US" altLang="ko-KR" sz="100" dirty="0"/>
          </a:p>
          <a:p>
            <a:pPr lvl="3"/>
            <a:endParaRPr lang="en-US" altLang="ko-KR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0032" y="2461408"/>
            <a:ext cx="4005697" cy="3186736"/>
          </a:xfrm>
          <a:prstGeom prst="rect">
            <a:avLst/>
          </a:prstGeom>
        </p:spPr>
      </p:pic>
      <p:sp>
        <p:nvSpPr>
          <p:cNvPr id="8" name="내용 개체 틀 2"/>
          <p:cNvSpPr txBox="1">
            <a:spLocks/>
          </p:cNvSpPr>
          <p:nvPr/>
        </p:nvSpPr>
        <p:spPr>
          <a:xfrm>
            <a:off x="-252536" y="2636912"/>
            <a:ext cx="5508612" cy="30243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685800" rtl="0" eaLnBrk="1" latinLnBrk="1" hangingPunct="1">
              <a:lnSpc>
                <a:spcPct val="150000"/>
              </a:lnSpc>
              <a:spcBef>
                <a:spcPts val="0"/>
              </a:spcBef>
              <a:buClr>
                <a:srgbClr val="009BA8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defTabSz="685800" rtl="0" eaLnBrk="1" latinLnBrk="1" hangingPunct="1">
              <a:lnSpc>
                <a:spcPct val="90000"/>
              </a:lnSpc>
              <a:spcBef>
                <a:spcPts val="375"/>
              </a:spcBef>
              <a:spcAft>
                <a:spcPts val="400"/>
              </a:spcAft>
              <a:buClr>
                <a:srgbClr val="00B2C0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defTabSz="685800" rtl="0" eaLnBrk="1" latinLnBrk="1" hangingPunct="1">
              <a:lnSpc>
                <a:spcPct val="90000"/>
              </a:lnSpc>
              <a:spcBef>
                <a:spcPts val="375"/>
              </a:spcBef>
              <a:spcAft>
                <a:spcPts val="300"/>
              </a:spcAft>
              <a:buClr>
                <a:srgbClr val="00C1D0"/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defTabSz="685800" rtl="0" eaLnBrk="1" latinLnBrk="1" hangingPunct="1">
              <a:lnSpc>
                <a:spcPct val="90000"/>
              </a:lnSpc>
              <a:spcBef>
                <a:spcPts val="375"/>
              </a:spcBef>
              <a:spcAft>
                <a:spcPts val="300"/>
              </a:spcAft>
              <a:buClr>
                <a:srgbClr val="00C1D0"/>
              </a:buClr>
              <a:buSzPct val="96000"/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defTabSz="685800" rtl="0" eaLnBrk="1" latinLnBrk="1" hangingPunct="1">
              <a:lnSpc>
                <a:spcPct val="90000"/>
              </a:lnSpc>
              <a:spcBef>
                <a:spcPts val="375"/>
              </a:spcBef>
              <a:buClr>
                <a:srgbClr val="00C1D0"/>
              </a:buClr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57250" lvl="3" indent="-228600">
              <a:buFont typeface="+mj-ea"/>
              <a:buAutoNum type="circleNumDbPlain"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2961701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전자 결제와 가상 화폐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290266" cy="5400600"/>
          </a:xfrm>
        </p:spPr>
        <p:txBody>
          <a:bodyPr>
            <a:noAutofit/>
          </a:bodyPr>
          <a:lstStyle/>
          <a:p>
            <a:r>
              <a:rPr lang="ko-KR" altLang="en-US" dirty="0"/>
              <a:t>스마트카드 인증</a:t>
            </a:r>
            <a:endParaRPr lang="en-US" altLang="ko-KR" dirty="0"/>
          </a:p>
          <a:p>
            <a:pPr lvl="1"/>
            <a:r>
              <a:rPr lang="ko-KR" altLang="en-US" dirty="0"/>
              <a:t>정적 데이터 인증 스마트카드의 인증 과정</a:t>
            </a:r>
            <a:endParaRPr lang="en-US" altLang="ko-KR" dirty="0"/>
          </a:p>
          <a:p>
            <a:pPr marL="676275" lvl="2" indent="-228600">
              <a:buFont typeface="+mj-ea"/>
              <a:buAutoNum type="circleNumDbPlain"/>
            </a:pPr>
            <a:r>
              <a:rPr lang="ko-KR" altLang="en-US" dirty="0"/>
              <a:t>인증 기관의 개인 키로 암호화된 발행 기관의 공개 키가 전달</a:t>
            </a:r>
            <a:r>
              <a:rPr lang="en-US" altLang="ko-KR" dirty="0"/>
              <a:t>, </a:t>
            </a:r>
            <a:r>
              <a:rPr lang="ko-KR" altLang="en-US" dirty="0"/>
              <a:t>전달된 발행 기관의 공개 키는 카드 리더기에 </a:t>
            </a:r>
            <a:endParaRPr lang="en-US" altLang="ko-KR" dirty="0"/>
          </a:p>
          <a:p>
            <a:pPr marL="447675" lvl="2" indent="0">
              <a:buNone/>
            </a:pPr>
            <a:r>
              <a:rPr lang="ko-KR" altLang="en-US" sz="1050" dirty="0"/>
              <a:t>     </a:t>
            </a:r>
            <a:r>
              <a:rPr lang="ko-KR" altLang="en-US" dirty="0"/>
              <a:t>저장된 인증 기관의 공개 키로 </a:t>
            </a:r>
            <a:r>
              <a:rPr lang="ko-KR" altLang="en-US" dirty="0" err="1"/>
              <a:t>복호화</a:t>
            </a:r>
            <a:endParaRPr lang="en-US" altLang="ko-KR" dirty="0"/>
          </a:p>
          <a:p>
            <a:pPr marL="676275" lvl="2" indent="-228600">
              <a:buFont typeface="+mj-ea"/>
              <a:buAutoNum type="circleNumDbPlain" startAt="2"/>
            </a:pPr>
            <a:r>
              <a:rPr lang="ko-KR" altLang="en-US" dirty="0" err="1"/>
              <a:t>복호화된</a:t>
            </a:r>
            <a:r>
              <a:rPr lang="ko-KR" altLang="en-US" dirty="0"/>
              <a:t> 인증 기관의 공개 키로 스마트카드에 저장된 ‘서명된 정적 응용 프로그램 </a:t>
            </a:r>
            <a:r>
              <a:rPr lang="ko-KR" altLang="en-US" dirty="0" err="1"/>
              <a:t>데이터’를</a:t>
            </a:r>
            <a:r>
              <a:rPr lang="ko-KR" altLang="en-US" dirty="0"/>
              <a:t> </a:t>
            </a:r>
            <a:r>
              <a:rPr lang="ko-KR" altLang="en-US" dirty="0" err="1"/>
              <a:t>복호화하여</a:t>
            </a:r>
            <a:r>
              <a:rPr lang="ko-KR" altLang="en-US" dirty="0"/>
              <a:t> </a:t>
            </a:r>
            <a:endParaRPr lang="en-US" altLang="ko-KR" dirty="0"/>
          </a:p>
          <a:p>
            <a:pPr marL="447675" lvl="2" indent="0">
              <a:buNone/>
            </a:pPr>
            <a:r>
              <a:rPr lang="ko-KR" altLang="en-US" dirty="0"/>
              <a:t>    카드 리더기가 정적 응용 프로그램 데이터를 확인</a:t>
            </a:r>
            <a:endParaRPr lang="en-US" altLang="ko-KR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8955" y="3456129"/>
            <a:ext cx="6912768" cy="2535913"/>
          </a:xfrm>
          <a:prstGeom prst="rect">
            <a:avLst/>
          </a:prstGeom>
        </p:spPr>
      </p:pic>
      <p:sp>
        <p:nvSpPr>
          <p:cNvPr id="8" name="내용 개체 틀 2"/>
          <p:cNvSpPr txBox="1">
            <a:spLocks/>
          </p:cNvSpPr>
          <p:nvPr/>
        </p:nvSpPr>
        <p:spPr>
          <a:xfrm>
            <a:off x="-108520" y="3429000"/>
            <a:ext cx="9649072" cy="30243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685800" rtl="0" eaLnBrk="1" latinLnBrk="1" hangingPunct="1">
              <a:lnSpc>
                <a:spcPct val="150000"/>
              </a:lnSpc>
              <a:spcBef>
                <a:spcPts val="0"/>
              </a:spcBef>
              <a:buClr>
                <a:srgbClr val="009BA8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defTabSz="685800" rtl="0" eaLnBrk="1" latinLnBrk="1" hangingPunct="1">
              <a:lnSpc>
                <a:spcPct val="90000"/>
              </a:lnSpc>
              <a:spcBef>
                <a:spcPts val="375"/>
              </a:spcBef>
              <a:spcAft>
                <a:spcPts val="400"/>
              </a:spcAft>
              <a:buClr>
                <a:srgbClr val="00B2C0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defTabSz="685800" rtl="0" eaLnBrk="1" latinLnBrk="1" hangingPunct="1">
              <a:lnSpc>
                <a:spcPct val="90000"/>
              </a:lnSpc>
              <a:spcBef>
                <a:spcPts val="375"/>
              </a:spcBef>
              <a:spcAft>
                <a:spcPts val="300"/>
              </a:spcAft>
              <a:buClr>
                <a:srgbClr val="00C1D0"/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defTabSz="685800" rtl="0" eaLnBrk="1" latinLnBrk="1" hangingPunct="1">
              <a:lnSpc>
                <a:spcPct val="90000"/>
              </a:lnSpc>
              <a:spcBef>
                <a:spcPts val="375"/>
              </a:spcBef>
              <a:spcAft>
                <a:spcPts val="300"/>
              </a:spcAft>
              <a:buClr>
                <a:srgbClr val="00C1D0"/>
              </a:buClr>
              <a:buSzPct val="96000"/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defTabSz="685800" rtl="0" eaLnBrk="1" latinLnBrk="1" hangingPunct="1">
              <a:lnSpc>
                <a:spcPct val="90000"/>
              </a:lnSpc>
              <a:spcBef>
                <a:spcPts val="375"/>
              </a:spcBef>
              <a:buClr>
                <a:srgbClr val="00C1D0"/>
              </a:buClr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527735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제목 1">
            <a:extLst>
              <a:ext uri="{FF2B5EF4-FFF2-40B4-BE49-F238E27FC236}">
                <a16:creationId xmlns:a16="http://schemas.microsoft.com/office/drawing/2014/main" xmlns="" id="{CEE2BBCC-5FD4-4E0B-8F7C-28B065E39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5" y="104775"/>
            <a:ext cx="7561263" cy="547688"/>
          </a:xfrm>
        </p:spPr>
        <p:txBody>
          <a:bodyPr/>
          <a:lstStyle/>
          <a:p>
            <a:r>
              <a:rPr lang="en-US" altLang="ko-KR"/>
              <a:t>04. </a:t>
            </a:r>
            <a:r>
              <a:rPr lang="ko-KR" altLang="en-US"/>
              <a:t>전자결제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98A7C47C-94CC-403E-85EB-58BF9C9E68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5" y="1031875"/>
            <a:ext cx="8642350" cy="5472113"/>
          </a:xfrm>
        </p:spPr>
        <p:txBody>
          <a:bodyPr/>
          <a:lstStyle/>
          <a:p>
            <a:pPr>
              <a:defRPr/>
            </a:pPr>
            <a:r>
              <a:rPr lang="ko-KR" altLang="en-US" dirty="0"/>
              <a:t>스마트카드</a:t>
            </a:r>
          </a:p>
          <a:p>
            <a:pPr lvl="1">
              <a:defRPr/>
            </a:pPr>
            <a:r>
              <a:rPr lang="ko-KR" altLang="en-US" dirty="0"/>
              <a:t>인증</a:t>
            </a:r>
          </a:p>
          <a:p>
            <a:pPr lvl="2">
              <a:defRPr/>
            </a:pPr>
            <a:r>
              <a:rPr lang="ko-KR" altLang="en-US" dirty="0"/>
              <a:t>동적 데이터 인증</a:t>
            </a:r>
          </a:p>
          <a:p>
            <a:pPr lvl="3">
              <a:defRPr/>
            </a:pPr>
            <a:r>
              <a:rPr lang="ko-KR" altLang="en-US" dirty="0">
                <a:solidFill>
                  <a:srgbClr val="FF0000"/>
                </a:solidFill>
              </a:rPr>
              <a:t>인증할 때마다 다른 데이터를 사용</a:t>
            </a:r>
            <a:r>
              <a:rPr lang="ko-KR" altLang="en-US" dirty="0"/>
              <a:t>하는 방식</a:t>
            </a:r>
            <a:r>
              <a:rPr lang="en-US" altLang="ko-KR" dirty="0"/>
              <a:t>.</a:t>
            </a:r>
          </a:p>
          <a:p>
            <a:pPr lvl="3">
              <a:defRPr/>
            </a:pPr>
            <a:r>
              <a:rPr lang="ko-KR" altLang="en-US" dirty="0"/>
              <a:t>보안 수준이 높고</a:t>
            </a:r>
            <a:r>
              <a:rPr lang="en-US" altLang="ko-KR" dirty="0"/>
              <a:t>, IC </a:t>
            </a:r>
            <a:r>
              <a:rPr lang="ko-KR" altLang="en-US" dirty="0"/>
              <a:t>카드 측에 암호 계산을 위한 암호화 프로세서가 탑재되어 있음</a:t>
            </a:r>
            <a:r>
              <a:rPr lang="en-US" altLang="ko-KR" dirty="0"/>
              <a:t>.</a:t>
            </a:r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</p:txBody>
      </p:sp>
      <p:pic>
        <p:nvPicPr>
          <p:cNvPr id="38916" name="그림 3">
            <a:extLst>
              <a:ext uri="{FF2B5EF4-FFF2-40B4-BE49-F238E27FC236}">
                <a16:creationId xmlns:a16="http://schemas.microsoft.com/office/drawing/2014/main" xmlns="" id="{9FE5CAA6-629D-4B6E-A86F-FF24A5C8C9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2781300"/>
            <a:ext cx="5618162" cy="392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17" name="TextBox 10">
            <a:extLst>
              <a:ext uri="{FF2B5EF4-FFF2-40B4-BE49-F238E27FC236}">
                <a16:creationId xmlns:a16="http://schemas.microsoft.com/office/drawing/2014/main" xmlns="" id="{F8F0EADD-6E50-4250-8339-714DD21773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8975" y="6421438"/>
            <a:ext cx="3282950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Font typeface="Arial" panose="020B0604020202020204" pitchFamily="34" charset="0"/>
              <a:buBlip>
                <a:blip r:embed="rId3"/>
              </a:buBlip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r>
              <a:rPr lang="en-US" altLang="ko-KR" sz="1000" dirty="0">
                <a:latin typeface="돋움" panose="020B0600000101010101" pitchFamily="50" charset="-127"/>
                <a:ea typeface="돋움" panose="020B0600000101010101" pitchFamily="50" charset="-127"/>
              </a:rPr>
              <a:t>[</a:t>
            </a:r>
            <a:r>
              <a:rPr lang="ko-KR" altLang="en-US" sz="1000" dirty="0">
                <a:latin typeface="돋움" panose="020B0600000101010101" pitchFamily="50" charset="-127"/>
                <a:ea typeface="돋움" panose="020B0600000101010101" pitchFamily="50" charset="-127"/>
              </a:rPr>
              <a:t>그림 </a:t>
            </a:r>
            <a:r>
              <a:rPr lang="en-US" altLang="ko-KR" sz="1000" dirty="0">
                <a:latin typeface="돋움" panose="020B0600000101010101" pitchFamily="50" charset="-127"/>
                <a:ea typeface="돋움" panose="020B0600000101010101" pitchFamily="50" charset="-127"/>
              </a:rPr>
              <a:t>8-29] </a:t>
            </a:r>
            <a:r>
              <a:rPr lang="ko-KR" altLang="en-US" sz="1000" dirty="0">
                <a:latin typeface="돋움" panose="020B0600000101010101" pitchFamily="50" charset="-127"/>
                <a:ea typeface="돋움" panose="020B0600000101010101" pitchFamily="50" charset="-127"/>
              </a:rPr>
              <a:t>동적 데이터 인증 스마트카드의 발행 구조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전자 결제와 가상 화폐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290266" cy="5400600"/>
          </a:xfrm>
        </p:spPr>
        <p:txBody>
          <a:bodyPr>
            <a:noAutofit/>
          </a:bodyPr>
          <a:lstStyle/>
          <a:p>
            <a:r>
              <a:rPr lang="ko-KR" altLang="en-US" dirty="0"/>
              <a:t>스마트카드 인증</a:t>
            </a:r>
            <a:endParaRPr lang="en-US" altLang="ko-KR" dirty="0"/>
          </a:p>
          <a:p>
            <a:pPr lvl="1"/>
            <a:r>
              <a:rPr lang="ko-KR" altLang="en-US" dirty="0"/>
              <a:t>동적 데이터 인증</a:t>
            </a:r>
            <a:endParaRPr lang="en-US" altLang="ko-KR" dirty="0"/>
          </a:p>
          <a:p>
            <a:pPr marL="857250" lvl="3" indent="-228600">
              <a:buFont typeface="+mj-ea"/>
              <a:buAutoNum type="circleNumDbPlain"/>
            </a:pPr>
            <a:r>
              <a:rPr lang="ko-KR" altLang="en-US" dirty="0"/>
              <a:t>카드 리더기는 스마트카드에 임의의 </a:t>
            </a:r>
            <a:r>
              <a:rPr lang="ko-KR" altLang="en-US" dirty="0" err="1"/>
              <a:t>난수와</a:t>
            </a:r>
            <a:r>
              <a:rPr lang="ko-KR" altLang="en-US" dirty="0"/>
              <a:t> 기타 동적 데이터를 생성하여 스마트카드로 전송</a:t>
            </a:r>
            <a:endParaRPr lang="en-US" altLang="ko-KR" dirty="0"/>
          </a:p>
          <a:p>
            <a:pPr marL="857250" lvl="3" indent="-228600">
              <a:buFont typeface="+mj-ea"/>
              <a:buAutoNum type="circleNumDbPlain"/>
            </a:pPr>
            <a:endParaRPr lang="en-US" altLang="ko-KR" sz="100" dirty="0"/>
          </a:p>
          <a:p>
            <a:pPr marL="857250" lvl="3" indent="-228600">
              <a:buFont typeface="+mj-ea"/>
              <a:buAutoNum type="circleNumDbPlain"/>
            </a:pPr>
            <a:r>
              <a:rPr lang="ko-KR" altLang="en-US" dirty="0"/>
              <a:t>스마트카드는 자신의 스마트카드 개인 키를 사용하여 전달받은 데이터와 기타 응용 프로그램 데이터를 암호화</a:t>
            </a:r>
            <a:r>
              <a:rPr lang="en-US" altLang="ko-KR" dirty="0"/>
              <a:t>(</a:t>
            </a:r>
            <a:r>
              <a:rPr lang="ko-KR" altLang="en-US" dirty="0"/>
              <a:t>서명</a:t>
            </a:r>
            <a:r>
              <a:rPr lang="en-US" altLang="ko-KR" dirty="0"/>
              <a:t>)</a:t>
            </a:r>
            <a:r>
              <a:rPr lang="ko-KR" altLang="en-US" dirty="0"/>
              <a:t>하여 </a:t>
            </a:r>
            <a:endParaRPr lang="en-US" altLang="ko-KR" dirty="0"/>
          </a:p>
          <a:p>
            <a:pPr marL="809625" lvl="4" indent="0">
              <a:buNone/>
            </a:pPr>
            <a:r>
              <a:rPr lang="ko-KR" altLang="en-US" sz="1050" dirty="0"/>
              <a:t> 카드 리더기에 전달</a:t>
            </a:r>
            <a:endParaRPr lang="en-US" altLang="ko-KR" sz="1050" dirty="0"/>
          </a:p>
          <a:p>
            <a:pPr marL="809625" lvl="4" indent="0">
              <a:buNone/>
            </a:pPr>
            <a:endParaRPr lang="en-US" altLang="ko-KR" sz="100" dirty="0"/>
          </a:p>
          <a:p>
            <a:pPr marL="857250" lvl="3" indent="-228600">
              <a:buFont typeface="+mj-ea"/>
              <a:buAutoNum type="circleNumDbPlain"/>
            </a:pPr>
            <a:r>
              <a:rPr lang="ko-KR" altLang="en-US" dirty="0"/>
              <a:t>인증 기관</a:t>
            </a:r>
            <a:r>
              <a:rPr lang="en-US" altLang="ko-KR" dirty="0"/>
              <a:t>CA</a:t>
            </a:r>
            <a:r>
              <a:rPr lang="ko-KR" altLang="en-US" dirty="0"/>
              <a:t>의 개인 키로 암호화된 발행 기관의 공개 키가 전달</a:t>
            </a:r>
            <a:endParaRPr lang="en-US" altLang="ko-KR" dirty="0"/>
          </a:p>
          <a:p>
            <a:pPr marL="809625" lvl="4" indent="0">
              <a:buNone/>
            </a:pPr>
            <a:r>
              <a:rPr lang="ko-KR" altLang="en-US" sz="1050" dirty="0"/>
              <a:t> 전달된 발행 기관의 공개 키는 리더기에 저장된 인증 기관의 공개 키로 </a:t>
            </a:r>
            <a:r>
              <a:rPr lang="ko-KR" altLang="en-US" sz="1050" dirty="0" err="1"/>
              <a:t>복호화</a:t>
            </a:r>
            <a:endParaRPr lang="en-US" altLang="ko-KR" sz="1050" dirty="0"/>
          </a:p>
          <a:p>
            <a:pPr marL="809625" lvl="4" indent="0">
              <a:buNone/>
            </a:pPr>
            <a:endParaRPr lang="en-US" altLang="ko-KR" sz="100" dirty="0"/>
          </a:p>
          <a:p>
            <a:pPr marL="857250" lvl="3" indent="-228600">
              <a:buFont typeface="+mj-ea"/>
              <a:buAutoNum type="circleNumDbPlain"/>
            </a:pPr>
            <a:r>
              <a:rPr lang="ko-KR" altLang="en-US" dirty="0" err="1"/>
              <a:t>복호화된</a:t>
            </a:r>
            <a:r>
              <a:rPr lang="ko-KR" altLang="en-US" dirty="0"/>
              <a:t> 인증 기관의 공개 키로 스마트카드에 저장된 ‘서명된 정적 응용 프로그램 </a:t>
            </a:r>
            <a:r>
              <a:rPr lang="ko-KR" altLang="en-US" dirty="0" err="1"/>
              <a:t>데이터’를</a:t>
            </a:r>
            <a:r>
              <a:rPr lang="ko-KR" altLang="en-US" dirty="0"/>
              <a:t> </a:t>
            </a:r>
            <a:r>
              <a:rPr lang="ko-KR" altLang="en-US" dirty="0" err="1"/>
              <a:t>복호화하고</a:t>
            </a:r>
            <a:r>
              <a:rPr lang="ko-KR" altLang="en-US" dirty="0"/>
              <a:t> 카드 리더기는 </a:t>
            </a:r>
            <a:endParaRPr lang="en-US" altLang="ko-KR" dirty="0"/>
          </a:p>
          <a:p>
            <a:pPr marL="809625" lvl="4" indent="0">
              <a:buNone/>
            </a:pPr>
            <a:r>
              <a:rPr lang="ko-KR" altLang="en-US" sz="1050" dirty="0"/>
              <a:t> 정적 응용 프로그램 데이터와 스마트카드의 공개 키를 확인</a:t>
            </a:r>
            <a:endParaRPr lang="en-US" altLang="ko-KR" sz="1050" dirty="0"/>
          </a:p>
          <a:p>
            <a:pPr marL="809625" lvl="4" indent="0">
              <a:buNone/>
            </a:pPr>
            <a:endParaRPr lang="en-US" altLang="ko-KR" sz="100" dirty="0"/>
          </a:p>
          <a:p>
            <a:pPr marL="857250" lvl="3" indent="-228600">
              <a:buFont typeface="+mj-ea"/>
              <a:buAutoNum type="circleNumDbPlain"/>
            </a:pPr>
            <a:r>
              <a:rPr lang="ko-KR" altLang="en-US" dirty="0">
                <a:solidFill>
                  <a:srgbClr val="009BA8"/>
                </a:solidFill>
              </a:rPr>
              <a:t>④</a:t>
            </a:r>
            <a:r>
              <a:rPr lang="ko-KR" altLang="en-US" dirty="0"/>
              <a:t>에서 얻은 스마트카드의 공개 키를 이용하여 </a:t>
            </a:r>
            <a:r>
              <a:rPr lang="ko-KR" altLang="en-US" dirty="0">
                <a:solidFill>
                  <a:srgbClr val="009BA8"/>
                </a:solidFill>
              </a:rPr>
              <a:t>②</a:t>
            </a:r>
            <a:r>
              <a:rPr lang="ko-KR" altLang="en-US" dirty="0"/>
              <a:t>에서 스마트카드로부터 전달받은 데이터를 </a:t>
            </a:r>
            <a:r>
              <a:rPr lang="ko-KR" altLang="en-US" dirty="0" err="1"/>
              <a:t>복호화하고</a:t>
            </a:r>
            <a:r>
              <a:rPr lang="ko-KR" altLang="en-US" dirty="0"/>
              <a:t> </a:t>
            </a:r>
            <a:endParaRPr lang="en-US" altLang="ko-KR" dirty="0"/>
          </a:p>
          <a:p>
            <a:pPr marL="809625" lvl="4" indent="0">
              <a:buNone/>
            </a:pPr>
            <a:r>
              <a:rPr lang="ko-KR" altLang="en-US" sz="1050" dirty="0"/>
              <a:t> 스마트카드에서 전송한 데이터의 진위 여부를 확인하여 처리</a:t>
            </a:r>
            <a:endParaRPr lang="en-US" altLang="ko-KR" sz="1050" dirty="0"/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-108520" y="3429000"/>
            <a:ext cx="9649072" cy="30243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685800" rtl="0" eaLnBrk="1" latinLnBrk="1" hangingPunct="1">
              <a:lnSpc>
                <a:spcPct val="150000"/>
              </a:lnSpc>
              <a:spcBef>
                <a:spcPts val="0"/>
              </a:spcBef>
              <a:buClr>
                <a:srgbClr val="009BA8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defTabSz="685800" rtl="0" eaLnBrk="1" latinLnBrk="1" hangingPunct="1">
              <a:lnSpc>
                <a:spcPct val="90000"/>
              </a:lnSpc>
              <a:spcBef>
                <a:spcPts val="375"/>
              </a:spcBef>
              <a:spcAft>
                <a:spcPts val="400"/>
              </a:spcAft>
              <a:buClr>
                <a:srgbClr val="00B2C0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defTabSz="685800" rtl="0" eaLnBrk="1" latinLnBrk="1" hangingPunct="1">
              <a:lnSpc>
                <a:spcPct val="90000"/>
              </a:lnSpc>
              <a:spcBef>
                <a:spcPts val="375"/>
              </a:spcBef>
              <a:spcAft>
                <a:spcPts val="300"/>
              </a:spcAft>
              <a:buClr>
                <a:srgbClr val="00C1D0"/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defTabSz="685800" rtl="0" eaLnBrk="1" latinLnBrk="1" hangingPunct="1">
              <a:lnSpc>
                <a:spcPct val="90000"/>
              </a:lnSpc>
              <a:spcBef>
                <a:spcPts val="375"/>
              </a:spcBef>
              <a:spcAft>
                <a:spcPts val="300"/>
              </a:spcAft>
              <a:buClr>
                <a:srgbClr val="00C1D0"/>
              </a:buClr>
              <a:buSzPct val="96000"/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defTabSz="685800" rtl="0" eaLnBrk="1" latinLnBrk="1" hangingPunct="1">
              <a:lnSpc>
                <a:spcPct val="90000"/>
              </a:lnSpc>
              <a:spcBef>
                <a:spcPts val="375"/>
              </a:spcBef>
              <a:buClr>
                <a:srgbClr val="00C1D0"/>
              </a:buClr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altLang="ko-KR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xmlns="" id="{783BB040-2E18-4135-AB50-9FB7810E70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0749" y="4205846"/>
            <a:ext cx="4681537" cy="2201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10">
            <a:extLst>
              <a:ext uri="{FF2B5EF4-FFF2-40B4-BE49-F238E27FC236}">
                <a16:creationId xmlns:a16="http://schemas.microsoft.com/office/drawing/2014/main" xmlns="" id="{67BAD3FE-8390-4D4A-BA69-8E4890B918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0042" y="6518003"/>
            <a:ext cx="3282950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Font typeface="Arial" panose="020B0604020202020204" pitchFamily="34" charset="0"/>
              <a:buBlip>
                <a:blip r:embed="rId3"/>
              </a:buBlip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r>
              <a:rPr lang="en-US" altLang="ko-KR" sz="1000" dirty="0">
                <a:latin typeface="돋움" panose="020B0600000101010101" pitchFamily="50" charset="-127"/>
                <a:ea typeface="돋움" panose="020B0600000101010101" pitchFamily="50" charset="-127"/>
              </a:rPr>
              <a:t>[</a:t>
            </a:r>
            <a:r>
              <a:rPr lang="ko-KR" altLang="en-US" sz="1000" dirty="0">
                <a:latin typeface="돋움" panose="020B0600000101010101" pitchFamily="50" charset="-127"/>
                <a:ea typeface="돋움" panose="020B0600000101010101" pitchFamily="50" charset="-127"/>
              </a:rPr>
              <a:t>그림 </a:t>
            </a:r>
            <a:r>
              <a:rPr lang="en-US" altLang="ko-KR" sz="1000" dirty="0">
                <a:latin typeface="돋움" panose="020B0600000101010101" pitchFamily="50" charset="-127"/>
                <a:ea typeface="돋움" panose="020B0600000101010101" pitchFamily="50" charset="-127"/>
              </a:rPr>
              <a:t>8-30] </a:t>
            </a:r>
            <a:r>
              <a:rPr lang="ko-KR" altLang="en-US" sz="1000" dirty="0">
                <a:latin typeface="돋움" panose="020B0600000101010101" pitchFamily="50" charset="-127"/>
                <a:ea typeface="돋움" panose="020B0600000101010101" pitchFamily="50" charset="-127"/>
              </a:rPr>
              <a:t>동적 데이터 인증 카드와 인증 과정</a:t>
            </a:r>
          </a:p>
        </p:txBody>
      </p:sp>
    </p:spTree>
    <p:extLst>
      <p:ext uri="{BB962C8B-B14F-4D97-AF65-F5344CB8AC3E}">
        <p14:creationId xmlns:p14="http://schemas.microsoft.com/office/powerpoint/2010/main" val="779570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전자 결제와 가상 화폐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290266" cy="5400600"/>
          </a:xfrm>
        </p:spPr>
        <p:txBody>
          <a:bodyPr>
            <a:noAutofit/>
          </a:bodyPr>
          <a:lstStyle/>
          <a:p>
            <a:r>
              <a:rPr lang="ko-KR" altLang="en-US" dirty="0"/>
              <a:t>가상 화폐</a:t>
            </a:r>
            <a:r>
              <a:rPr lang="en-US" altLang="ko-KR" dirty="0"/>
              <a:t>(</a:t>
            </a:r>
            <a:r>
              <a:rPr lang="ko-KR" altLang="en-US" dirty="0"/>
              <a:t>비트코인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가상 화폐와 전자 화폐</a:t>
            </a:r>
            <a:endParaRPr lang="en-US" altLang="ko-KR" dirty="0"/>
          </a:p>
          <a:p>
            <a:pPr lvl="2"/>
            <a:r>
              <a:rPr lang="ko-KR" altLang="en-US" dirty="0"/>
              <a:t>전자 화폐와 다름</a:t>
            </a:r>
            <a:endParaRPr lang="en-US" altLang="ko-KR" dirty="0"/>
          </a:p>
          <a:p>
            <a:pPr lvl="3"/>
            <a:r>
              <a:rPr lang="ko-KR" altLang="en-US" dirty="0"/>
              <a:t>전자 화폐는 ‘금전적 </a:t>
            </a:r>
            <a:r>
              <a:rPr lang="ko-KR" altLang="en-US" dirty="0" err="1"/>
              <a:t>가치’가</a:t>
            </a:r>
            <a:r>
              <a:rPr lang="ko-KR" altLang="en-US" dirty="0"/>
              <a:t> 있어야 하는데 가상 화폐는 ‘금전적 </a:t>
            </a:r>
            <a:r>
              <a:rPr lang="ko-KR" altLang="en-US" dirty="0" err="1"/>
              <a:t>가치’가</a:t>
            </a:r>
            <a:r>
              <a:rPr lang="ko-KR" altLang="en-US" dirty="0"/>
              <a:t> 없기 때문에 가짜 화폐에 가까움</a:t>
            </a:r>
            <a:endParaRPr lang="en-US" altLang="ko-KR" dirty="0"/>
          </a:p>
          <a:p>
            <a:pPr lvl="3"/>
            <a:endParaRPr lang="en-US" altLang="ko-KR" sz="100" dirty="0"/>
          </a:p>
          <a:p>
            <a:pPr lvl="1"/>
            <a:r>
              <a:rPr lang="ko-KR" altLang="en-US" dirty="0"/>
              <a:t>비트코인</a:t>
            </a:r>
            <a:endParaRPr lang="en-US" altLang="ko-KR" dirty="0"/>
          </a:p>
          <a:p>
            <a:pPr lvl="2"/>
            <a:r>
              <a:rPr lang="en-US" altLang="ko-KR" dirty="0"/>
              <a:t>2008</a:t>
            </a:r>
            <a:r>
              <a:rPr lang="ko-KR" altLang="en-US" dirty="0"/>
              <a:t>년 </a:t>
            </a:r>
            <a:r>
              <a:rPr lang="en-US" altLang="ko-KR" dirty="0"/>
              <a:t>10</a:t>
            </a:r>
            <a:r>
              <a:rPr lang="ko-KR" altLang="en-US" dirty="0"/>
              <a:t>월 </a:t>
            </a:r>
            <a:r>
              <a:rPr lang="ko-KR" altLang="en-US" dirty="0" err="1"/>
              <a:t>사토시</a:t>
            </a:r>
            <a:r>
              <a:rPr lang="ko-KR" altLang="en-US" dirty="0"/>
              <a:t> </a:t>
            </a:r>
            <a:r>
              <a:rPr lang="ko-KR" altLang="en-US" dirty="0" err="1"/>
              <a:t>나가모토가</a:t>
            </a:r>
            <a:r>
              <a:rPr lang="ko-KR" altLang="en-US" dirty="0"/>
              <a:t> </a:t>
            </a:r>
            <a:r>
              <a:rPr lang="en-US" altLang="ko-KR" dirty="0"/>
              <a:t>〈</a:t>
            </a:r>
            <a:r>
              <a:rPr lang="ko-KR" altLang="en-US" dirty="0"/>
              <a:t>비트 코인</a:t>
            </a:r>
            <a:r>
              <a:rPr lang="en-US" altLang="ko-KR" dirty="0"/>
              <a:t>-P2P </a:t>
            </a:r>
            <a:r>
              <a:rPr lang="ko-KR" altLang="en-US" dirty="0"/>
              <a:t>전자 화폐 시스템</a:t>
            </a:r>
            <a:r>
              <a:rPr lang="en-US" altLang="ko-KR" dirty="0"/>
              <a:t>〉</a:t>
            </a:r>
            <a:r>
              <a:rPr lang="ko-KR" altLang="en-US" dirty="0"/>
              <a:t>이라는 제목의 논문을 발표하며 알려짐</a:t>
            </a:r>
            <a:endParaRPr lang="en-US" altLang="ko-KR" dirty="0"/>
          </a:p>
          <a:p>
            <a:pPr lvl="2"/>
            <a:r>
              <a:rPr lang="en-US" altLang="ko-KR" dirty="0"/>
              <a:t>1998</a:t>
            </a:r>
            <a:r>
              <a:rPr lang="ko-KR" altLang="en-US" dirty="0"/>
              <a:t>년 프로그래머인 웨이 </a:t>
            </a:r>
            <a:r>
              <a:rPr lang="ko-KR" altLang="en-US" dirty="0" err="1"/>
              <a:t>다이가</a:t>
            </a:r>
            <a:r>
              <a:rPr lang="ko-KR" altLang="en-US" dirty="0"/>
              <a:t> 제안한 암호화 화폐</a:t>
            </a:r>
            <a:r>
              <a:rPr lang="en-US" altLang="ko-KR" dirty="0"/>
              <a:t> </a:t>
            </a:r>
            <a:r>
              <a:rPr lang="ko-KR" altLang="en-US" dirty="0"/>
              <a:t>라는 개념을 처음으로 실현</a:t>
            </a:r>
            <a:endParaRPr lang="en-US" altLang="ko-KR" dirty="0"/>
          </a:p>
          <a:p>
            <a:pPr lvl="2"/>
            <a:r>
              <a:rPr lang="ko-KR" altLang="en-US" dirty="0"/>
              <a:t>가상 화폐는 </a:t>
            </a:r>
            <a:r>
              <a:rPr lang="ko-KR" altLang="en-US" dirty="0" err="1"/>
              <a:t>비트코인이</a:t>
            </a:r>
            <a:r>
              <a:rPr lang="ko-KR" altLang="en-US" dirty="0"/>
              <a:t> 가장 활성화되어 있으나 이 밖에도 다양한 가상 화폐가 존재</a:t>
            </a:r>
            <a:endParaRPr lang="en-US" altLang="ko-KR" dirty="0"/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-108520" y="3429000"/>
            <a:ext cx="9649072" cy="30243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685800" rtl="0" eaLnBrk="1" latinLnBrk="1" hangingPunct="1">
              <a:lnSpc>
                <a:spcPct val="150000"/>
              </a:lnSpc>
              <a:spcBef>
                <a:spcPts val="0"/>
              </a:spcBef>
              <a:buClr>
                <a:srgbClr val="009BA8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defTabSz="685800" rtl="0" eaLnBrk="1" latinLnBrk="1" hangingPunct="1">
              <a:lnSpc>
                <a:spcPct val="90000"/>
              </a:lnSpc>
              <a:spcBef>
                <a:spcPts val="375"/>
              </a:spcBef>
              <a:spcAft>
                <a:spcPts val="400"/>
              </a:spcAft>
              <a:buClr>
                <a:srgbClr val="00B2C0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defTabSz="685800" rtl="0" eaLnBrk="1" latinLnBrk="1" hangingPunct="1">
              <a:lnSpc>
                <a:spcPct val="90000"/>
              </a:lnSpc>
              <a:spcBef>
                <a:spcPts val="375"/>
              </a:spcBef>
              <a:spcAft>
                <a:spcPts val="300"/>
              </a:spcAft>
              <a:buClr>
                <a:srgbClr val="00C1D0"/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defTabSz="685800" rtl="0" eaLnBrk="1" latinLnBrk="1" hangingPunct="1">
              <a:lnSpc>
                <a:spcPct val="90000"/>
              </a:lnSpc>
              <a:spcBef>
                <a:spcPts val="375"/>
              </a:spcBef>
              <a:spcAft>
                <a:spcPts val="300"/>
              </a:spcAft>
              <a:buClr>
                <a:srgbClr val="00C1D0"/>
              </a:buClr>
              <a:buSzPct val="96000"/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defTabSz="685800" rtl="0" eaLnBrk="1" latinLnBrk="1" hangingPunct="1">
              <a:lnSpc>
                <a:spcPct val="90000"/>
              </a:lnSpc>
              <a:spcBef>
                <a:spcPts val="375"/>
              </a:spcBef>
              <a:buClr>
                <a:srgbClr val="00C1D0"/>
              </a:buClr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altLang="ko-KR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728" y="3645024"/>
            <a:ext cx="4968552" cy="2957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75930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전자 결제와 가상 화폐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290266" cy="5400600"/>
          </a:xfrm>
        </p:spPr>
        <p:txBody>
          <a:bodyPr>
            <a:noAutofit/>
          </a:bodyPr>
          <a:lstStyle/>
          <a:p>
            <a:r>
              <a:rPr lang="ko-KR" altLang="en-US" dirty="0"/>
              <a:t>가상 화폐</a:t>
            </a:r>
            <a:r>
              <a:rPr lang="en-US" altLang="ko-KR" dirty="0"/>
              <a:t>(</a:t>
            </a:r>
            <a:r>
              <a:rPr lang="ko-KR" altLang="en-US" dirty="0"/>
              <a:t>비트코인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지갑</a:t>
            </a:r>
            <a:endParaRPr lang="en-US" altLang="ko-KR" dirty="0"/>
          </a:p>
          <a:p>
            <a:pPr lvl="2"/>
            <a:r>
              <a:rPr lang="ko-KR" altLang="en-US" dirty="0"/>
              <a:t>코인을 거래하려면 우선 비트코인 지갑이 필요</a:t>
            </a:r>
            <a:endParaRPr lang="en-US" altLang="ko-KR" dirty="0"/>
          </a:p>
          <a:p>
            <a:pPr lvl="2"/>
            <a:r>
              <a:rPr lang="ko-KR" altLang="en-US" dirty="0"/>
              <a:t>비트코인 이용자가 지갑 프로그램을 통해 공개 주소를 만들면 개인 키가 함께 생성</a:t>
            </a:r>
            <a:endParaRPr lang="en-US" altLang="ko-KR" dirty="0"/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-108520" y="3429000"/>
            <a:ext cx="9649072" cy="30243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685800" rtl="0" eaLnBrk="1" latinLnBrk="1" hangingPunct="1">
              <a:lnSpc>
                <a:spcPct val="150000"/>
              </a:lnSpc>
              <a:spcBef>
                <a:spcPts val="0"/>
              </a:spcBef>
              <a:buClr>
                <a:srgbClr val="009BA8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defTabSz="685800" rtl="0" eaLnBrk="1" latinLnBrk="1" hangingPunct="1">
              <a:lnSpc>
                <a:spcPct val="90000"/>
              </a:lnSpc>
              <a:spcBef>
                <a:spcPts val="375"/>
              </a:spcBef>
              <a:spcAft>
                <a:spcPts val="400"/>
              </a:spcAft>
              <a:buClr>
                <a:srgbClr val="00B2C0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defTabSz="685800" rtl="0" eaLnBrk="1" latinLnBrk="1" hangingPunct="1">
              <a:lnSpc>
                <a:spcPct val="90000"/>
              </a:lnSpc>
              <a:spcBef>
                <a:spcPts val="375"/>
              </a:spcBef>
              <a:spcAft>
                <a:spcPts val="300"/>
              </a:spcAft>
              <a:buClr>
                <a:srgbClr val="00C1D0"/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defTabSz="685800" rtl="0" eaLnBrk="1" latinLnBrk="1" hangingPunct="1">
              <a:lnSpc>
                <a:spcPct val="90000"/>
              </a:lnSpc>
              <a:spcBef>
                <a:spcPts val="375"/>
              </a:spcBef>
              <a:spcAft>
                <a:spcPts val="300"/>
              </a:spcAft>
              <a:buClr>
                <a:srgbClr val="00C1D0"/>
              </a:buClr>
              <a:buSzPct val="96000"/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defTabSz="685800" rtl="0" eaLnBrk="1" latinLnBrk="1" hangingPunct="1">
              <a:lnSpc>
                <a:spcPct val="90000"/>
              </a:lnSpc>
              <a:spcBef>
                <a:spcPts val="375"/>
              </a:spcBef>
              <a:buClr>
                <a:srgbClr val="00C1D0"/>
              </a:buClr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altLang="ko-KR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1063" y="2924944"/>
            <a:ext cx="4968552" cy="2777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85644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전자 결제와 가상 화폐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506290" cy="5400600"/>
          </a:xfrm>
        </p:spPr>
        <p:txBody>
          <a:bodyPr>
            <a:noAutofit/>
          </a:bodyPr>
          <a:lstStyle/>
          <a:p>
            <a:r>
              <a:rPr lang="ko-KR" altLang="en-US" dirty="0"/>
              <a:t>가상 화폐</a:t>
            </a:r>
            <a:r>
              <a:rPr lang="en-US" altLang="ko-KR" dirty="0"/>
              <a:t>(</a:t>
            </a:r>
            <a:r>
              <a:rPr lang="ko-KR" altLang="en-US" dirty="0"/>
              <a:t>비트코인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 err="1"/>
              <a:t>블록체인</a:t>
            </a:r>
            <a:endParaRPr lang="en-US" altLang="ko-KR" dirty="0"/>
          </a:p>
          <a:p>
            <a:pPr lvl="2"/>
            <a:r>
              <a:rPr lang="ko-KR" altLang="en-US" dirty="0"/>
              <a:t>최초의 블록부터 바로 앞 블록의 링크를 가지고 있는</a:t>
            </a:r>
            <a:r>
              <a:rPr lang="en-US" altLang="ko-KR" dirty="0"/>
              <a:t>, </a:t>
            </a:r>
            <a:r>
              <a:rPr lang="ko-KR" altLang="en-US" dirty="0"/>
              <a:t>연결된 리스트로 분산되어 저장 및 관리</a:t>
            </a:r>
            <a:endParaRPr lang="en-US" altLang="ko-KR" dirty="0"/>
          </a:p>
          <a:p>
            <a:pPr lvl="2"/>
            <a:r>
              <a:rPr lang="ko-KR" altLang="en-US" dirty="0"/>
              <a:t>블록에는 거래 정보가 포함되어 있으며</a:t>
            </a:r>
            <a:r>
              <a:rPr lang="en-US" altLang="ko-KR" dirty="0"/>
              <a:t>, </a:t>
            </a:r>
            <a:r>
              <a:rPr lang="ko-KR" altLang="en-US" dirty="0"/>
              <a:t>블록의 집합체인 블록체인에는 </a:t>
            </a:r>
            <a:r>
              <a:rPr lang="ko-KR" altLang="en-US" dirty="0" err="1"/>
              <a:t>비트코인의</a:t>
            </a:r>
            <a:r>
              <a:rPr lang="ko-KR" altLang="en-US" dirty="0"/>
              <a:t> 모든 거래 정보가 담겨 있음</a:t>
            </a:r>
            <a:endParaRPr lang="en-US" altLang="ko-KR" dirty="0"/>
          </a:p>
          <a:p>
            <a:pPr lvl="2"/>
            <a:endParaRPr lang="en-US" altLang="ko-KR" dirty="0"/>
          </a:p>
          <a:p>
            <a:pPr lvl="1"/>
            <a:r>
              <a:rPr lang="ko-KR" altLang="en-US" dirty="0" err="1"/>
              <a:t>블록체인</a:t>
            </a:r>
            <a:r>
              <a:rPr lang="en-US" altLang="ko-KR" dirty="0"/>
              <a:t>: </a:t>
            </a:r>
            <a:r>
              <a:rPr lang="ko-KR" altLang="en-US" dirty="0"/>
              <a:t>블록</a:t>
            </a:r>
            <a:endParaRPr lang="en-US" altLang="ko-KR" dirty="0"/>
          </a:p>
          <a:p>
            <a:pPr lvl="2"/>
            <a:r>
              <a:rPr lang="ko-KR" altLang="en-US" dirty="0"/>
              <a:t>블록은 </a:t>
            </a:r>
            <a:r>
              <a:rPr lang="ko-KR" altLang="en-US" dirty="0" err="1"/>
              <a:t>블록헤더와</a:t>
            </a:r>
            <a:r>
              <a:rPr lang="ko-KR" altLang="en-US" dirty="0"/>
              <a:t> 거래 정보</a:t>
            </a:r>
            <a:r>
              <a:rPr lang="en-US" altLang="ko-KR" dirty="0"/>
              <a:t>, </a:t>
            </a:r>
            <a:r>
              <a:rPr lang="ko-KR" altLang="en-US" dirty="0"/>
              <a:t>기타 정보로 이루어짐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1"/>
            <a:r>
              <a:rPr lang="ko-KR" altLang="en-US" dirty="0" err="1"/>
              <a:t>블록체인</a:t>
            </a:r>
            <a:r>
              <a:rPr lang="en-US" altLang="ko-KR" dirty="0"/>
              <a:t>: </a:t>
            </a:r>
            <a:r>
              <a:rPr lang="ko-KR" altLang="en-US" dirty="0" err="1"/>
              <a:t>블록해시</a:t>
            </a:r>
            <a:endParaRPr lang="en-US" altLang="ko-KR" dirty="0"/>
          </a:p>
          <a:p>
            <a:pPr lvl="2"/>
            <a:r>
              <a:rPr lang="ko-KR" altLang="en-US" dirty="0"/>
              <a:t>블록의 </a:t>
            </a:r>
            <a:r>
              <a:rPr lang="ko-KR" altLang="en-US" dirty="0" err="1"/>
              <a:t>식별자</a:t>
            </a:r>
            <a:r>
              <a:rPr lang="ko-KR" altLang="en-US" dirty="0"/>
              <a:t> 역할</a:t>
            </a:r>
            <a:endParaRPr lang="en-US" altLang="ko-KR" dirty="0"/>
          </a:p>
          <a:p>
            <a:pPr lvl="2"/>
            <a:r>
              <a:rPr lang="ko-KR" altLang="en-US" dirty="0" err="1"/>
              <a:t>블록헤더의</a:t>
            </a:r>
            <a:r>
              <a:rPr lang="ko-KR" altLang="en-US" dirty="0"/>
              <a:t> 여섯 가지 정보를 묶어 </a:t>
            </a:r>
            <a:r>
              <a:rPr lang="en-US" altLang="ko-KR" dirty="0"/>
              <a:t>SHA256 </a:t>
            </a:r>
            <a:r>
              <a:rPr lang="ko-KR" altLang="en-US" dirty="0"/>
              <a:t>해시 함수를 반복하여 두 번 적용해서 계산한 값으로 </a:t>
            </a:r>
            <a:r>
              <a:rPr lang="en-US" altLang="ko-KR" dirty="0"/>
              <a:t>32</a:t>
            </a:r>
            <a:r>
              <a:rPr lang="ko-KR" altLang="en-US" dirty="0"/>
              <a:t>바이트 숫자</a:t>
            </a:r>
            <a:endParaRPr lang="en-US" altLang="ko-KR" dirty="0"/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-108520" y="3429000"/>
            <a:ext cx="9649072" cy="30243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685800" rtl="0" eaLnBrk="1" latinLnBrk="1" hangingPunct="1">
              <a:lnSpc>
                <a:spcPct val="150000"/>
              </a:lnSpc>
              <a:spcBef>
                <a:spcPts val="0"/>
              </a:spcBef>
              <a:buClr>
                <a:srgbClr val="009BA8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defTabSz="685800" rtl="0" eaLnBrk="1" latinLnBrk="1" hangingPunct="1">
              <a:lnSpc>
                <a:spcPct val="90000"/>
              </a:lnSpc>
              <a:spcBef>
                <a:spcPts val="375"/>
              </a:spcBef>
              <a:spcAft>
                <a:spcPts val="400"/>
              </a:spcAft>
              <a:buClr>
                <a:srgbClr val="00B2C0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defTabSz="685800" rtl="0" eaLnBrk="1" latinLnBrk="1" hangingPunct="1">
              <a:lnSpc>
                <a:spcPct val="90000"/>
              </a:lnSpc>
              <a:spcBef>
                <a:spcPts val="375"/>
              </a:spcBef>
              <a:spcAft>
                <a:spcPts val="300"/>
              </a:spcAft>
              <a:buClr>
                <a:srgbClr val="00C1D0"/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defTabSz="685800" rtl="0" eaLnBrk="1" latinLnBrk="1" hangingPunct="1">
              <a:lnSpc>
                <a:spcPct val="90000"/>
              </a:lnSpc>
              <a:spcBef>
                <a:spcPts val="375"/>
              </a:spcBef>
              <a:spcAft>
                <a:spcPts val="300"/>
              </a:spcAft>
              <a:buClr>
                <a:srgbClr val="00C1D0"/>
              </a:buClr>
              <a:buSzPct val="96000"/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defTabSz="685800" rtl="0" eaLnBrk="1" latinLnBrk="1" hangingPunct="1">
              <a:lnSpc>
                <a:spcPct val="90000"/>
              </a:lnSpc>
              <a:spcBef>
                <a:spcPts val="375"/>
              </a:spcBef>
              <a:buClr>
                <a:srgbClr val="00C1D0"/>
              </a:buClr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altLang="ko-KR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3140968"/>
            <a:ext cx="4932040" cy="1900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565799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전자 결제와 가상 화폐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506290" cy="5400600"/>
          </a:xfrm>
        </p:spPr>
        <p:txBody>
          <a:bodyPr>
            <a:noAutofit/>
          </a:bodyPr>
          <a:lstStyle/>
          <a:p>
            <a:r>
              <a:rPr lang="ko-KR" altLang="en-US" dirty="0"/>
              <a:t>가상 화폐</a:t>
            </a:r>
            <a:r>
              <a:rPr lang="en-US" altLang="ko-KR" dirty="0"/>
              <a:t>(</a:t>
            </a:r>
            <a:r>
              <a:rPr lang="ko-KR" altLang="en-US" dirty="0"/>
              <a:t>비트코인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 err="1"/>
              <a:t>블록체인</a:t>
            </a:r>
            <a:r>
              <a:rPr lang="en-US" altLang="ko-KR" dirty="0"/>
              <a:t>: </a:t>
            </a:r>
            <a:r>
              <a:rPr lang="ko-KR" altLang="en-US" dirty="0" err="1"/>
              <a:t>블록체인</a:t>
            </a:r>
            <a:r>
              <a:rPr lang="ko-KR" altLang="en-US" dirty="0"/>
              <a:t> 구성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sz="900" dirty="0"/>
          </a:p>
          <a:p>
            <a:pPr lvl="2"/>
            <a:endParaRPr lang="en-US" altLang="ko-KR" sz="100" dirty="0"/>
          </a:p>
          <a:p>
            <a:pPr lvl="1"/>
            <a:r>
              <a:rPr lang="ko-KR" altLang="en-US" dirty="0" err="1"/>
              <a:t>블록체인</a:t>
            </a:r>
            <a:r>
              <a:rPr lang="en-US" altLang="ko-KR" dirty="0"/>
              <a:t>: </a:t>
            </a:r>
            <a:r>
              <a:rPr lang="ko-KR" altLang="en-US" dirty="0"/>
              <a:t>채굴 </a:t>
            </a:r>
            <a:endParaRPr lang="en-US" altLang="ko-KR" dirty="0"/>
          </a:p>
          <a:p>
            <a:pPr lvl="2"/>
            <a:r>
              <a:rPr lang="ko-KR" altLang="en-US" dirty="0"/>
              <a:t>처음에 실제로 돈을 주고 구입하는 전자 화폐와 달리 비트코인은 채굴이라는 과정을 거쳐 생성</a:t>
            </a:r>
            <a:endParaRPr lang="en-US" altLang="ko-KR" dirty="0"/>
          </a:p>
          <a:p>
            <a:pPr lvl="2"/>
            <a:r>
              <a:rPr lang="ko-KR" altLang="en-US" dirty="0"/>
              <a:t>채굴 과정은 끊임없는 </a:t>
            </a:r>
            <a:r>
              <a:rPr lang="ko-KR" altLang="en-US" dirty="0" err="1"/>
              <a:t>해싱</a:t>
            </a:r>
            <a:r>
              <a:rPr lang="ko-KR" altLang="en-US" dirty="0"/>
              <a:t> 작업을 통해 목표 값 이하의 해시 값을 찾는 과정</a:t>
            </a:r>
            <a:endParaRPr lang="en-US" altLang="ko-KR" dirty="0"/>
          </a:p>
          <a:p>
            <a:pPr lvl="2"/>
            <a:r>
              <a:rPr lang="ko-KR" altLang="en-US" dirty="0"/>
              <a:t>채굴은 새로운 블록을 </a:t>
            </a:r>
            <a:r>
              <a:rPr lang="ko-KR" altLang="en-US" dirty="0" err="1"/>
              <a:t>블록체인에</a:t>
            </a:r>
            <a:r>
              <a:rPr lang="ko-KR" altLang="en-US" dirty="0"/>
              <a:t> 추가하는 ‘</a:t>
            </a:r>
            <a:r>
              <a:rPr lang="ko-KR" altLang="en-US" dirty="0" err="1"/>
              <a:t>작업’을</a:t>
            </a:r>
            <a:r>
              <a:rPr lang="ko-KR" altLang="en-US" dirty="0"/>
              <a:t> 완료했음 을 ‘</a:t>
            </a:r>
            <a:r>
              <a:rPr lang="ko-KR" altLang="en-US" dirty="0" err="1"/>
              <a:t>증명’할</a:t>
            </a:r>
            <a:r>
              <a:rPr lang="ko-KR" altLang="en-US" dirty="0"/>
              <a:t> 때 이루어짐</a:t>
            </a:r>
            <a:endParaRPr lang="en-US" altLang="ko-KR" dirty="0"/>
          </a:p>
          <a:p>
            <a:pPr lvl="2">
              <a:defRPr/>
            </a:pPr>
            <a:r>
              <a:rPr lang="ko-KR" altLang="en-US" dirty="0" err="1"/>
              <a:t>비트코인을</a:t>
            </a:r>
            <a:r>
              <a:rPr lang="ko-KR" altLang="en-US" dirty="0"/>
              <a:t> 생성하는 그룹에 가담하여 일정 부분의 해시를 생성하는 역할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역할 수준에 따라 발견한 </a:t>
            </a:r>
            <a:r>
              <a:rPr lang="ko-KR" altLang="en-US" dirty="0" err="1"/>
              <a:t>비트코인을</a:t>
            </a:r>
            <a:r>
              <a:rPr lang="ko-KR" altLang="en-US" dirty="0"/>
              <a:t> </a:t>
            </a:r>
            <a:r>
              <a:rPr lang="ko-KR" altLang="en-US" dirty="0" err="1"/>
              <a:t>할당받음</a:t>
            </a:r>
            <a:r>
              <a:rPr lang="en-US" altLang="ko-KR" dirty="0"/>
              <a:t>.</a:t>
            </a:r>
          </a:p>
          <a:p>
            <a:pPr lvl="2">
              <a:defRPr/>
            </a:pPr>
            <a:r>
              <a:rPr lang="ko-KR" altLang="en-US" dirty="0"/>
              <a:t>할당된 비트코인은 비트코인 지갑 주소를 통해 받을 수 있음</a:t>
            </a:r>
            <a:endParaRPr lang="en-US" altLang="ko-KR" dirty="0"/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-108520" y="3429000"/>
            <a:ext cx="9649072" cy="30243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685800" rtl="0" eaLnBrk="1" latinLnBrk="1" hangingPunct="1">
              <a:lnSpc>
                <a:spcPct val="150000"/>
              </a:lnSpc>
              <a:spcBef>
                <a:spcPts val="0"/>
              </a:spcBef>
              <a:buClr>
                <a:srgbClr val="009BA8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defTabSz="685800" rtl="0" eaLnBrk="1" latinLnBrk="1" hangingPunct="1">
              <a:lnSpc>
                <a:spcPct val="90000"/>
              </a:lnSpc>
              <a:spcBef>
                <a:spcPts val="375"/>
              </a:spcBef>
              <a:spcAft>
                <a:spcPts val="400"/>
              </a:spcAft>
              <a:buClr>
                <a:srgbClr val="00B2C0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defTabSz="685800" rtl="0" eaLnBrk="1" latinLnBrk="1" hangingPunct="1">
              <a:lnSpc>
                <a:spcPct val="90000"/>
              </a:lnSpc>
              <a:spcBef>
                <a:spcPts val="375"/>
              </a:spcBef>
              <a:spcAft>
                <a:spcPts val="300"/>
              </a:spcAft>
              <a:buClr>
                <a:srgbClr val="00C1D0"/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defTabSz="685800" rtl="0" eaLnBrk="1" latinLnBrk="1" hangingPunct="1">
              <a:lnSpc>
                <a:spcPct val="90000"/>
              </a:lnSpc>
              <a:spcBef>
                <a:spcPts val="375"/>
              </a:spcBef>
              <a:spcAft>
                <a:spcPts val="300"/>
              </a:spcAft>
              <a:buClr>
                <a:srgbClr val="00C1D0"/>
              </a:buClr>
              <a:buSzPct val="96000"/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defTabSz="685800" rtl="0" eaLnBrk="1" latinLnBrk="1" hangingPunct="1">
              <a:lnSpc>
                <a:spcPct val="90000"/>
              </a:lnSpc>
              <a:spcBef>
                <a:spcPts val="375"/>
              </a:spcBef>
              <a:buClr>
                <a:srgbClr val="00C1D0"/>
              </a:buClr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altLang="ko-KR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648" y="1929160"/>
            <a:ext cx="3726231" cy="2608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14089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전자 결제와 가상 화폐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506290" cy="5400600"/>
          </a:xfrm>
        </p:spPr>
        <p:txBody>
          <a:bodyPr>
            <a:noAutofit/>
          </a:bodyPr>
          <a:lstStyle/>
          <a:p>
            <a:r>
              <a:rPr lang="ko-KR" altLang="en-US" dirty="0"/>
              <a:t>가상 화폐</a:t>
            </a:r>
            <a:r>
              <a:rPr lang="en-US" altLang="ko-KR" dirty="0"/>
              <a:t>(</a:t>
            </a:r>
            <a:r>
              <a:rPr lang="ko-KR" altLang="en-US" dirty="0"/>
              <a:t>비트코인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 err="1"/>
              <a:t>블록체인</a:t>
            </a:r>
            <a:r>
              <a:rPr lang="en-US" altLang="ko-KR" dirty="0"/>
              <a:t>: </a:t>
            </a:r>
            <a:r>
              <a:rPr lang="ko-KR" altLang="en-US" dirty="0"/>
              <a:t>채굴</a:t>
            </a:r>
            <a:endParaRPr lang="en-US" altLang="ko-KR" dirty="0"/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-108520" y="3429000"/>
            <a:ext cx="9649072" cy="30243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685800" rtl="0" eaLnBrk="1" latinLnBrk="1" hangingPunct="1">
              <a:lnSpc>
                <a:spcPct val="150000"/>
              </a:lnSpc>
              <a:spcBef>
                <a:spcPts val="0"/>
              </a:spcBef>
              <a:buClr>
                <a:srgbClr val="009BA8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defTabSz="685800" rtl="0" eaLnBrk="1" latinLnBrk="1" hangingPunct="1">
              <a:lnSpc>
                <a:spcPct val="90000"/>
              </a:lnSpc>
              <a:spcBef>
                <a:spcPts val="375"/>
              </a:spcBef>
              <a:spcAft>
                <a:spcPts val="400"/>
              </a:spcAft>
              <a:buClr>
                <a:srgbClr val="00B2C0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defTabSz="685800" rtl="0" eaLnBrk="1" latinLnBrk="1" hangingPunct="1">
              <a:lnSpc>
                <a:spcPct val="90000"/>
              </a:lnSpc>
              <a:spcBef>
                <a:spcPts val="375"/>
              </a:spcBef>
              <a:spcAft>
                <a:spcPts val="300"/>
              </a:spcAft>
              <a:buClr>
                <a:srgbClr val="00C1D0"/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defTabSz="685800" rtl="0" eaLnBrk="1" latinLnBrk="1" hangingPunct="1">
              <a:lnSpc>
                <a:spcPct val="90000"/>
              </a:lnSpc>
              <a:spcBef>
                <a:spcPts val="375"/>
              </a:spcBef>
              <a:spcAft>
                <a:spcPts val="300"/>
              </a:spcAft>
              <a:buClr>
                <a:srgbClr val="00C1D0"/>
              </a:buClr>
              <a:buSzPct val="96000"/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defTabSz="685800" rtl="0" eaLnBrk="1" latinLnBrk="1" hangingPunct="1">
              <a:lnSpc>
                <a:spcPct val="90000"/>
              </a:lnSpc>
              <a:spcBef>
                <a:spcPts val="375"/>
              </a:spcBef>
              <a:buClr>
                <a:srgbClr val="00C1D0"/>
              </a:buClr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altLang="ko-KR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7" y="4293096"/>
            <a:ext cx="5260817" cy="2363913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7" y="1914915"/>
            <a:ext cx="5260818" cy="2245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67029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전자 결제와 가상 화폐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434282" cy="5400600"/>
          </a:xfrm>
        </p:spPr>
        <p:txBody>
          <a:bodyPr>
            <a:noAutofit/>
          </a:bodyPr>
          <a:lstStyle/>
          <a:p>
            <a:r>
              <a:rPr lang="ko-KR" altLang="en-US" dirty="0"/>
              <a:t>가상 화폐</a:t>
            </a:r>
            <a:r>
              <a:rPr lang="en-US" altLang="ko-KR" dirty="0"/>
              <a:t>(</a:t>
            </a:r>
            <a:r>
              <a:rPr lang="ko-KR" altLang="en-US" dirty="0"/>
              <a:t>비트코인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 err="1"/>
              <a:t>블록체인</a:t>
            </a:r>
            <a:r>
              <a:rPr lang="en-US" altLang="ko-KR" dirty="0"/>
              <a:t>: </a:t>
            </a:r>
            <a:r>
              <a:rPr lang="ko-KR" altLang="en-US" dirty="0"/>
              <a:t>거래</a:t>
            </a:r>
            <a:endParaRPr lang="en-US" altLang="ko-KR" dirty="0"/>
          </a:p>
          <a:p>
            <a:pPr marL="676275" lvl="2" indent="-228600">
              <a:buFont typeface="+mj-ea"/>
              <a:buAutoNum type="circleNumDbPlain"/>
            </a:pPr>
            <a:r>
              <a:rPr lang="ko-KR" altLang="en-US" dirty="0"/>
              <a:t>이용자는 거래 상대방의 지갑 주소와 이체할 비트코인 액수 결정하여 자신의 개인 키로 서명하고 이체 신청</a:t>
            </a:r>
            <a:endParaRPr lang="en-US" altLang="ko-KR" dirty="0"/>
          </a:p>
          <a:p>
            <a:pPr marL="676275" lvl="2" indent="-228600">
              <a:buFont typeface="+mj-ea"/>
              <a:buAutoNum type="circleNumDbPlain"/>
            </a:pPr>
            <a:r>
              <a:rPr lang="ko-KR" altLang="en-US" dirty="0"/>
              <a:t>이체 신청에 대한 고유한 해시 값이 발행</a:t>
            </a:r>
            <a:endParaRPr lang="en-US" altLang="ko-KR" dirty="0"/>
          </a:p>
          <a:p>
            <a:pPr marL="676275" lvl="2" indent="-228600">
              <a:buFont typeface="+mj-ea"/>
              <a:buAutoNum type="circleNumDbPlain"/>
            </a:pPr>
            <a:r>
              <a:rPr lang="ko-KR" altLang="en-US" dirty="0"/>
              <a:t>이체 신청 내역을 </a:t>
            </a:r>
            <a:r>
              <a:rPr lang="ko-KR" altLang="en-US" dirty="0" err="1"/>
              <a:t>채굴자가</a:t>
            </a:r>
            <a:r>
              <a:rPr lang="ko-KR" altLang="en-US" dirty="0"/>
              <a:t> 자신의 개인 거래 풀에 넣어 보관</a:t>
            </a:r>
            <a:r>
              <a:rPr lang="en-US" altLang="ko-KR" dirty="0"/>
              <a:t>.</a:t>
            </a:r>
          </a:p>
          <a:p>
            <a:pPr marL="676275" lvl="2" indent="-228600">
              <a:buFont typeface="+mj-ea"/>
              <a:buAutoNum type="circleNumDbPlain"/>
            </a:pPr>
            <a:r>
              <a:rPr lang="ko-KR" altLang="en-US" dirty="0"/>
              <a:t>블록에 넣을 이체 신청 내역의 우선순위를 정한 뒤 이를 기준으로 채굴 과정인 목표 값 </a:t>
            </a:r>
            <a:r>
              <a:rPr lang="ko-KR" altLang="en-US" dirty="0" err="1"/>
              <a:t>해싱</a:t>
            </a:r>
            <a:r>
              <a:rPr lang="ko-KR" altLang="en-US" dirty="0"/>
              <a:t> 진행</a:t>
            </a:r>
            <a:r>
              <a:rPr lang="en-US" altLang="ko-KR" dirty="0"/>
              <a:t>. </a:t>
            </a:r>
            <a:r>
              <a:rPr lang="ko-KR" altLang="en-US" dirty="0"/>
              <a:t>목표 값 </a:t>
            </a:r>
            <a:endParaRPr lang="en-US" altLang="ko-KR" dirty="0"/>
          </a:p>
          <a:p>
            <a:pPr marL="628650" lvl="3" indent="0">
              <a:buNone/>
            </a:pPr>
            <a:r>
              <a:rPr lang="en-US" altLang="ko-KR" dirty="0"/>
              <a:t> </a:t>
            </a:r>
            <a:r>
              <a:rPr lang="ko-KR" altLang="en-US" sz="1200" dirty="0" err="1"/>
              <a:t>해싱에</a:t>
            </a:r>
            <a:r>
              <a:rPr lang="ko-KR" altLang="en-US" sz="1200" dirty="0"/>
              <a:t> 성공하면</a:t>
            </a:r>
            <a:r>
              <a:rPr lang="en-US" altLang="ko-KR" sz="1200" dirty="0"/>
              <a:t> </a:t>
            </a:r>
            <a:r>
              <a:rPr lang="ko-KR" altLang="en-US" sz="1200" dirty="0"/>
              <a:t>블록을 발행</a:t>
            </a:r>
            <a:endParaRPr lang="en-US" altLang="ko-KR" sz="1200" dirty="0"/>
          </a:p>
          <a:p>
            <a:pPr marL="676275" lvl="2" indent="-228600">
              <a:buFont typeface="+mj-ea"/>
              <a:buAutoNum type="circleNumDbPlain" startAt="5"/>
            </a:pPr>
            <a:r>
              <a:rPr lang="ko-KR" altLang="en-US" dirty="0"/>
              <a:t>이체 내역을 담은 블록이 네트워크로 전파</a:t>
            </a:r>
            <a:endParaRPr lang="en-US" altLang="ko-KR" dirty="0"/>
          </a:p>
          <a:p>
            <a:pPr marL="676275" lvl="2" indent="-228600">
              <a:buFont typeface="+mj-ea"/>
              <a:buAutoNum type="circleNumDbPlain" startAt="5"/>
            </a:pPr>
            <a:r>
              <a:rPr lang="ko-KR" altLang="en-US" dirty="0"/>
              <a:t>이체 내역의 이체 확인이 </a:t>
            </a:r>
            <a:r>
              <a:rPr lang="en-US" altLang="ko-KR" dirty="0"/>
              <a:t>1</a:t>
            </a:r>
            <a:r>
              <a:rPr lang="ko-KR" altLang="en-US" dirty="0"/>
              <a:t>이 됨</a:t>
            </a:r>
            <a:endParaRPr lang="en-US" altLang="ko-KR" dirty="0"/>
          </a:p>
          <a:p>
            <a:pPr marL="676275" lvl="2" indent="-228600">
              <a:buFont typeface="+mj-ea"/>
              <a:buAutoNum type="circleNumDbPlain" startAt="5"/>
            </a:pPr>
            <a:r>
              <a:rPr lang="ko-KR" altLang="en-US" dirty="0"/>
              <a:t>네트워크로 해당 블록을 </a:t>
            </a:r>
            <a:r>
              <a:rPr lang="ko-KR" altLang="en-US" dirty="0" err="1"/>
              <a:t>전파받은</a:t>
            </a:r>
            <a:r>
              <a:rPr lang="ko-KR" altLang="en-US" dirty="0"/>
              <a:t> 다음 </a:t>
            </a:r>
            <a:r>
              <a:rPr lang="ko-KR" altLang="en-US" dirty="0" err="1"/>
              <a:t>채굴자가</a:t>
            </a:r>
            <a:r>
              <a:rPr lang="ko-KR" altLang="en-US" dirty="0"/>
              <a:t> 블록을 생성하면 다음 블록도 네트워크로 전파되고 이체 </a:t>
            </a:r>
            <a:endParaRPr lang="en-US" altLang="ko-KR" dirty="0"/>
          </a:p>
          <a:p>
            <a:pPr marL="628650" lvl="3" indent="0">
              <a:buNone/>
            </a:pPr>
            <a:r>
              <a:rPr lang="ko-KR" altLang="en-US" sz="1200" dirty="0"/>
              <a:t> 내역의 이체 확인이 </a:t>
            </a:r>
            <a:r>
              <a:rPr lang="en-US" altLang="ko-KR" sz="1200" dirty="0"/>
              <a:t>2</a:t>
            </a:r>
            <a:r>
              <a:rPr lang="ko-KR" altLang="en-US" sz="1200" dirty="0"/>
              <a:t>가 됨</a:t>
            </a:r>
            <a:endParaRPr lang="en-US" altLang="ko-KR" sz="1200" dirty="0"/>
          </a:p>
          <a:p>
            <a:pPr marL="676275" lvl="2" indent="-228600">
              <a:buFont typeface="+mj-ea"/>
              <a:buAutoNum type="circleNumDbPlain" startAt="8"/>
            </a:pPr>
            <a:r>
              <a:rPr lang="ko-KR" altLang="en-US" dirty="0"/>
              <a:t>위의 과정을 끝없이 반복</a:t>
            </a:r>
            <a:endParaRPr lang="en-US" altLang="ko-KR" dirty="0"/>
          </a:p>
          <a:p>
            <a:pPr marL="676275" lvl="2" indent="-228600">
              <a:buFont typeface="+mj-ea"/>
              <a:buAutoNum type="circleNumDbPlain" startAt="8"/>
            </a:pPr>
            <a:r>
              <a:rPr lang="ko-KR" altLang="en-US" dirty="0" err="1"/>
              <a:t>이체받는</a:t>
            </a:r>
            <a:r>
              <a:rPr lang="ko-KR" altLang="en-US" dirty="0"/>
              <a:t> 주체가 이체 내역을 인정하면 이체 확정이 됨</a:t>
            </a:r>
            <a:endParaRPr lang="en-US" altLang="ko-KR" dirty="0"/>
          </a:p>
          <a:p>
            <a:pPr lvl="2"/>
            <a:endParaRPr lang="en-US" altLang="ko-KR" dirty="0"/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-108520" y="3429000"/>
            <a:ext cx="9649072" cy="30243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685800" rtl="0" eaLnBrk="1" latinLnBrk="1" hangingPunct="1">
              <a:lnSpc>
                <a:spcPct val="150000"/>
              </a:lnSpc>
              <a:spcBef>
                <a:spcPts val="0"/>
              </a:spcBef>
              <a:buClr>
                <a:srgbClr val="009BA8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defTabSz="685800" rtl="0" eaLnBrk="1" latinLnBrk="1" hangingPunct="1">
              <a:lnSpc>
                <a:spcPct val="90000"/>
              </a:lnSpc>
              <a:spcBef>
                <a:spcPts val="375"/>
              </a:spcBef>
              <a:spcAft>
                <a:spcPts val="400"/>
              </a:spcAft>
              <a:buClr>
                <a:srgbClr val="00B2C0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defTabSz="685800" rtl="0" eaLnBrk="1" latinLnBrk="1" hangingPunct="1">
              <a:lnSpc>
                <a:spcPct val="90000"/>
              </a:lnSpc>
              <a:spcBef>
                <a:spcPts val="375"/>
              </a:spcBef>
              <a:spcAft>
                <a:spcPts val="300"/>
              </a:spcAft>
              <a:buClr>
                <a:srgbClr val="00C1D0"/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defTabSz="685800" rtl="0" eaLnBrk="1" latinLnBrk="1" hangingPunct="1">
              <a:lnSpc>
                <a:spcPct val="90000"/>
              </a:lnSpc>
              <a:spcBef>
                <a:spcPts val="375"/>
              </a:spcBef>
              <a:spcAft>
                <a:spcPts val="300"/>
              </a:spcAft>
              <a:buClr>
                <a:srgbClr val="00C1D0"/>
              </a:buClr>
              <a:buSzPct val="96000"/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defTabSz="685800" rtl="0" eaLnBrk="1" latinLnBrk="1" hangingPunct="1">
              <a:lnSpc>
                <a:spcPct val="90000"/>
              </a:lnSpc>
              <a:spcBef>
                <a:spcPts val="375"/>
              </a:spcBef>
              <a:buClr>
                <a:srgbClr val="00C1D0"/>
              </a:buClr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22717543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전자 결제와 가상 화폐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506290" cy="5400600"/>
          </a:xfrm>
        </p:spPr>
        <p:txBody>
          <a:bodyPr>
            <a:noAutofit/>
          </a:bodyPr>
          <a:lstStyle/>
          <a:p>
            <a:r>
              <a:rPr lang="ko-KR" altLang="en-US" dirty="0"/>
              <a:t>가상 화폐</a:t>
            </a:r>
            <a:r>
              <a:rPr lang="en-US" altLang="ko-KR" dirty="0"/>
              <a:t>(</a:t>
            </a:r>
            <a:r>
              <a:rPr lang="ko-KR" altLang="en-US" dirty="0"/>
              <a:t>비트코인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 err="1"/>
              <a:t>블록체인</a:t>
            </a:r>
            <a:r>
              <a:rPr lang="en-US" altLang="ko-KR" dirty="0"/>
              <a:t>: </a:t>
            </a:r>
            <a:r>
              <a:rPr lang="ko-KR" altLang="en-US" dirty="0"/>
              <a:t>거래</a:t>
            </a:r>
            <a:endParaRPr lang="en-US" altLang="ko-KR" dirty="0"/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-108520" y="3429000"/>
            <a:ext cx="9649072" cy="30243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685800" rtl="0" eaLnBrk="1" latinLnBrk="1" hangingPunct="1">
              <a:lnSpc>
                <a:spcPct val="150000"/>
              </a:lnSpc>
              <a:spcBef>
                <a:spcPts val="0"/>
              </a:spcBef>
              <a:buClr>
                <a:srgbClr val="009BA8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defTabSz="685800" rtl="0" eaLnBrk="1" latinLnBrk="1" hangingPunct="1">
              <a:lnSpc>
                <a:spcPct val="90000"/>
              </a:lnSpc>
              <a:spcBef>
                <a:spcPts val="375"/>
              </a:spcBef>
              <a:spcAft>
                <a:spcPts val="400"/>
              </a:spcAft>
              <a:buClr>
                <a:srgbClr val="00B2C0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defTabSz="685800" rtl="0" eaLnBrk="1" latinLnBrk="1" hangingPunct="1">
              <a:lnSpc>
                <a:spcPct val="90000"/>
              </a:lnSpc>
              <a:spcBef>
                <a:spcPts val="375"/>
              </a:spcBef>
              <a:spcAft>
                <a:spcPts val="300"/>
              </a:spcAft>
              <a:buClr>
                <a:srgbClr val="00C1D0"/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defTabSz="685800" rtl="0" eaLnBrk="1" latinLnBrk="1" hangingPunct="1">
              <a:lnSpc>
                <a:spcPct val="90000"/>
              </a:lnSpc>
              <a:spcBef>
                <a:spcPts val="375"/>
              </a:spcBef>
              <a:spcAft>
                <a:spcPts val="300"/>
              </a:spcAft>
              <a:buClr>
                <a:srgbClr val="00C1D0"/>
              </a:buClr>
              <a:buSzPct val="96000"/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defTabSz="685800" rtl="0" eaLnBrk="1" latinLnBrk="1" hangingPunct="1">
              <a:lnSpc>
                <a:spcPct val="90000"/>
              </a:lnSpc>
              <a:spcBef>
                <a:spcPts val="375"/>
              </a:spcBef>
              <a:buClr>
                <a:srgbClr val="00C1D0"/>
              </a:buClr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altLang="ko-KR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1916832"/>
            <a:ext cx="6840760" cy="4132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45303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전자 결제와 가상 화폐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218258" cy="5400600"/>
          </a:xfrm>
        </p:spPr>
        <p:txBody>
          <a:bodyPr>
            <a:noAutofit/>
          </a:bodyPr>
          <a:lstStyle/>
          <a:p>
            <a:r>
              <a:rPr lang="ko-KR" altLang="en-US" dirty="0"/>
              <a:t>가상 화폐</a:t>
            </a:r>
            <a:r>
              <a:rPr lang="en-US" altLang="ko-KR" dirty="0"/>
              <a:t>(</a:t>
            </a:r>
            <a:r>
              <a:rPr lang="ko-KR" altLang="en-US" dirty="0"/>
              <a:t>비트코인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 err="1"/>
              <a:t>블록체인</a:t>
            </a:r>
            <a:r>
              <a:rPr lang="en-US" altLang="ko-KR" dirty="0"/>
              <a:t>: </a:t>
            </a:r>
            <a:r>
              <a:rPr lang="ko-KR" altLang="en-US" dirty="0"/>
              <a:t>보안 </a:t>
            </a:r>
            <a:endParaRPr lang="en-US" altLang="ko-KR" dirty="0"/>
          </a:p>
          <a:p>
            <a:pPr lvl="2"/>
            <a:r>
              <a:rPr lang="ko-KR" altLang="en-US" dirty="0"/>
              <a:t>실물이 없는 비트코인은 입출금 내역인 장부로만 존재</a:t>
            </a:r>
            <a:r>
              <a:rPr lang="en-US" altLang="ko-KR" dirty="0"/>
              <a:t>, </a:t>
            </a:r>
            <a:r>
              <a:rPr lang="ko-KR" altLang="en-US" dirty="0"/>
              <a:t>그 장부에 나타난 금액 합계가 잔액이 됨</a:t>
            </a:r>
            <a:endParaRPr lang="en-US" altLang="ko-KR" dirty="0"/>
          </a:p>
          <a:p>
            <a:pPr lvl="2"/>
            <a:r>
              <a:rPr lang="ko-KR" altLang="en-US" dirty="0"/>
              <a:t>거래 내역을 조작한다면 그것은 바로 장부를 조작하는 일</a:t>
            </a:r>
            <a:endParaRPr lang="en-US" altLang="ko-KR" dirty="0"/>
          </a:p>
          <a:p>
            <a:pPr lvl="2"/>
            <a:r>
              <a:rPr lang="ko-KR" altLang="en-US" dirty="0"/>
              <a:t>장부를 조작한다는 것은 변조된 블록을 생성하여 전파시키는 데 성공한다는 의미지만 현실적으로 불가능</a:t>
            </a:r>
            <a:endParaRPr lang="en-US" altLang="ko-KR" dirty="0"/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-108520" y="3429000"/>
            <a:ext cx="9649072" cy="30243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685800" rtl="0" eaLnBrk="1" latinLnBrk="1" hangingPunct="1">
              <a:lnSpc>
                <a:spcPct val="150000"/>
              </a:lnSpc>
              <a:spcBef>
                <a:spcPts val="0"/>
              </a:spcBef>
              <a:buClr>
                <a:srgbClr val="009BA8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defTabSz="685800" rtl="0" eaLnBrk="1" latinLnBrk="1" hangingPunct="1">
              <a:lnSpc>
                <a:spcPct val="90000"/>
              </a:lnSpc>
              <a:spcBef>
                <a:spcPts val="375"/>
              </a:spcBef>
              <a:spcAft>
                <a:spcPts val="400"/>
              </a:spcAft>
              <a:buClr>
                <a:srgbClr val="00B2C0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defTabSz="685800" rtl="0" eaLnBrk="1" latinLnBrk="1" hangingPunct="1">
              <a:lnSpc>
                <a:spcPct val="90000"/>
              </a:lnSpc>
              <a:spcBef>
                <a:spcPts val="375"/>
              </a:spcBef>
              <a:spcAft>
                <a:spcPts val="300"/>
              </a:spcAft>
              <a:buClr>
                <a:srgbClr val="00C1D0"/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defTabSz="685800" rtl="0" eaLnBrk="1" latinLnBrk="1" hangingPunct="1">
              <a:lnSpc>
                <a:spcPct val="90000"/>
              </a:lnSpc>
              <a:spcBef>
                <a:spcPts val="375"/>
              </a:spcBef>
              <a:spcAft>
                <a:spcPts val="300"/>
              </a:spcAft>
              <a:buClr>
                <a:srgbClr val="00C1D0"/>
              </a:buClr>
              <a:buSzPct val="96000"/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defTabSz="685800" rtl="0" eaLnBrk="1" latinLnBrk="1" hangingPunct="1">
              <a:lnSpc>
                <a:spcPct val="90000"/>
              </a:lnSpc>
              <a:spcBef>
                <a:spcPts val="375"/>
              </a:spcBef>
              <a:buClr>
                <a:srgbClr val="00C1D0"/>
              </a:buClr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altLang="ko-KR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9229" y="3016099"/>
            <a:ext cx="6480212" cy="317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17076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</a:t>
            </a:r>
            <a:r>
              <a:rPr lang="ko-KR" altLang="en-US" dirty="0"/>
              <a:t>암호화 통신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218258" cy="5400600"/>
          </a:xfrm>
        </p:spPr>
        <p:txBody>
          <a:bodyPr>
            <a:noAutofit/>
          </a:bodyPr>
          <a:lstStyle/>
          <a:p>
            <a:r>
              <a:rPr lang="ko-KR" altLang="en-US" dirty="0"/>
              <a:t>네트워크 암호화</a:t>
            </a:r>
            <a:endParaRPr lang="en-US" altLang="ko-KR" dirty="0"/>
          </a:p>
          <a:p>
            <a:pPr lvl="2"/>
            <a:r>
              <a:rPr lang="ko-KR" altLang="en-US" dirty="0"/>
              <a:t>전자상거래에 이용되는 암호화 프로토콜에는 실제 거래에 사용하는 응용 프로그램에 의한 것도 있고 </a:t>
            </a:r>
            <a:endParaRPr lang="en-US" altLang="ko-KR" dirty="0"/>
          </a:p>
          <a:p>
            <a:pPr marL="447675" lvl="2" indent="0">
              <a:buNone/>
            </a:pPr>
            <a:r>
              <a:rPr lang="en-US" altLang="ko-KR" sz="1100" dirty="0"/>
              <a:t>    </a:t>
            </a:r>
            <a:r>
              <a:rPr lang="en-US" altLang="ko-KR" dirty="0">
                <a:solidFill>
                  <a:srgbClr val="FF0000"/>
                </a:solidFill>
              </a:rPr>
              <a:t>2~4</a:t>
            </a:r>
            <a:r>
              <a:rPr lang="ko-KR" altLang="en-US" dirty="0">
                <a:solidFill>
                  <a:srgbClr val="FF0000"/>
                </a:solidFill>
              </a:rPr>
              <a:t>계층에서 동작하는 암호화 프로토콜</a:t>
            </a:r>
            <a:r>
              <a:rPr lang="ko-KR" altLang="en-US" dirty="0"/>
              <a:t>도 있음</a:t>
            </a:r>
            <a:endParaRPr lang="en-US" altLang="ko-KR" dirty="0"/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-108520" y="3429000"/>
            <a:ext cx="9649072" cy="30243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685800" rtl="0" eaLnBrk="1" latinLnBrk="1" hangingPunct="1">
              <a:lnSpc>
                <a:spcPct val="150000"/>
              </a:lnSpc>
              <a:spcBef>
                <a:spcPts val="0"/>
              </a:spcBef>
              <a:buClr>
                <a:srgbClr val="009BA8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defTabSz="685800" rtl="0" eaLnBrk="1" latinLnBrk="1" hangingPunct="1">
              <a:lnSpc>
                <a:spcPct val="90000"/>
              </a:lnSpc>
              <a:spcBef>
                <a:spcPts val="375"/>
              </a:spcBef>
              <a:spcAft>
                <a:spcPts val="400"/>
              </a:spcAft>
              <a:buClr>
                <a:srgbClr val="00B2C0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defTabSz="685800" rtl="0" eaLnBrk="1" latinLnBrk="1" hangingPunct="1">
              <a:lnSpc>
                <a:spcPct val="90000"/>
              </a:lnSpc>
              <a:spcBef>
                <a:spcPts val="375"/>
              </a:spcBef>
              <a:spcAft>
                <a:spcPts val="300"/>
              </a:spcAft>
              <a:buClr>
                <a:srgbClr val="00C1D0"/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defTabSz="685800" rtl="0" eaLnBrk="1" latinLnBrk="1" hangingPunct="1">
              <a:lnSpc>
                <a:spcPct val="90000"/>
              </a:lnSpc>
              <a:spcBef>
                <a:spcPts val="375"/>
              </a:spcBef>
              <a:spcAft>
                <a:spcPts val="300"/>
              </a:spcAft>
              <a:buClr>
                <a:srgbClr val="00C1D0"/>
              </a:buClr>
              <a:buSzPct val="96000"/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defTabSz="685800" rtl="0" eaLnBrk="1" latinLnBrk="1" hangingPunct="1">
              <a:lnSpc>
                <a:spcPct val="90000"/>
              </a:lnSpc>
              <a:spcBef>
                <a:spcPts val="375"/>
              </a:spcBef>
              <a:buClr>
                <a:srgbClr val="00C1D0"/>
              </a:buClr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altLang="ko-KR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8" y="2636912"/>
            <a:ext cx="5520171" cy="3220704"/>
          </a:xfrm>
          <a:prstGeom prst="rect">
            <a:avLst/>
          </a:prstGeom>
        </p:spPr>
      </p:pic>
      <p:sp>
        <p:nvSpPr>
          <p:cNvPr id="4" name="모서리가 둥근 직사각형 3"/>
          <p:cNvSpPr/>
          <p:nvPr/>
        </p:nvSpPr>
        <p:spPr>
          <a:xfrm>
            <a:off x="4639335" y="3861048"/>
            <a:ext cx="1343707" cy="1224136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31713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</a:t>
            </a:r>
            <a:r>
              <a:rPr lang="ko-KR" altLang="en-US" dirty="0"/>
              <a:t>암호화 통신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218258" cy="5400600"/>
          </a:xfrm>
        </p:spPr>
        <p:txBody>
          <a:bodyPr>
            <a:noAutofit/>
          </a:bodyPr>
          <a:lstStyle/>
          <a:p>
            <a:r>
              <a:rPr lang="ko-KR" altLang="en-US" dirty="0"/>
              <a:t>네트워크 암호화</a:t>
            </a:r>
            <a:endParaRPr lang="en-US" altLang="ko-KR" dirty="0"/>
          </a:p>
          <a:p>
            <a:pPr lvl="1"/>
            <a:r>
              <a:rPr lang="en-US" altLang="ko-KR" dirty="0">
                <a:solidFill>
                  <a:srgbClr val="FF0000"/>
                </a:solidFill>
              </a:rPr>
              <a:t>2</a:t>
            </a:r>
            <a:r>
              <a:rPr lang="ko-KR" altLang="en-US" dirty="0">
                <a:solidFill>
                  <a:srgbClr val="FF0000"/>
                </a:solidFill>
              </a:rPr>
              <a:t>계층</a:t>
            </a:r>
            <a:r>
              <a:rPr lang="ko-KR" altLang="en-US" dirty="0"/>
              <a:t>의 암호화 프로토콜</a:t>
            </a:r>
            <a:endParaRPr lang="en-US" altLang="ko-KR" dirty="0"/>
          </a:p>
          <a:p>
            <a:pPr lvl="2"/>
            <a:r>
              <a:rPr lang="en-US" altLang="ko-KR" dirty="0">
                <a:solidFill>
                  <a:srgbClr val="FF0000"/>
                </a:solidFill>
              </a:rPr>
              <a:t>PPTP</a:t>
            </a:r>
          </a:p>
          <a:p>
            <a:pPr lvl="3"/>
            <a:r>
              <a:rPr lang="ko-KR" altLang="en-US" dirty="0"/>
              <a:t>마이크로소프트가 제안한 </a:t>
            </a:r>
            <a:r>
              <a:rPr lang="en-US" altLang="ko-KR" dirty="0"/>
              <a:t>VPN </a:t>
            </a:r>
            <a:r>
              <a:rPr lang="ko-KR" altLang="en-US" dirty="0"/>
              <a:t>프로토콜로 두 대의 컴퓨터가 직렬 인터페이스로 통신할 때 이용</a:t>
            </a:r>
            <a:endParaRPr lang="en-US" altLang="ko-KR" dirty="0"/>
          </a:p>
          <a:p>
            <a:pPr lvl="3"/>
            <a:r>
              <a:rPr lang="ko-KR" altLang="en-US" dirty="0"/>
              <a:t>전화선으로 서버에 연결하는 </a:t>
            </a:r>
            <a:r>
              <a:rPr lang="en-US" altLang="ko-KR" dirty="0"/>
              <a:t>PC</a:t>
            </a:r>
            <a:r>
              <a:rPr lang="ko-KR" altLang="en-US" dirty="0"/>
              <a:t>에서 자주 사용됨</a:t>
            </a:r>
            <a:endParaRPr lang="en-US" altLang="ko-KR" dirty="0"/>
          </a:p>
          <a:p>
            <a:pPr lvl="2"/>
            <a:r>
              <a:rPr lang="en-US" altLang="ko-KR" dirty="0">
                <a:solidFill>
                  <a:srgbClr val="FF0000"/>
                </a:solidFill>
              </a:rPr>
              <a:t>L2TP</a:t>
            </a:r>
          </a:p>
          <a:p>
            <a:pPr lvl="3"/>
            <a:r>
              <a:rPr lang="ko-KR" altLang="en-US" dirty="0"/>
              <a:t>시스코가 제안한 </a:t>
            </a:r>
            <a:r>
              <a:rPr lang="en-US" altLang="ko-KR" dirty="0"/>
              <a:t>L2F</a:t>
            </a:r>
            <a:r>
              <a:rPr lang="ko-KR" altLang="en-US" dirty="0"/>
              <a:t>와 </a:t>
            </a:r>
            <a:r>
              <a:rPr lang="en-US" altLang="ko-KR" dirty="0"/>
              <a:t>PPTP</a:t>
            </a:r>
            <a:r>
              <a:rPr lang="ko-KR" altLang="en-US" dirty="0"/>
              <a:t>가 결합된 프로토콜</a:t>
            </a:r>
            <a:endParaRPr lang="en-US" altLang="ko-KR" dirty="0"/>
          </a:p>
          <a:p>
            <a:pPr lvl="3"/>
            <a:endParaRPr lang="en-US" altLang="ko-KR" dirty="0"/>
          </a:p>
          <a:p>
            <a:pPr lvl="2"/>
            <a:endParaRPr lang="en-US" altLang="ko-KR" dirty="0"/>
          </a:p>
          <a:p>
            <a:pPr lvl="1"/>
            <a:r>
              <a:rPr lang="en-US" altLang="ko-KR" dirty="0"/>
              <a:t>PPTP</a:t>
            </a:r>
            <a:r>
              <a:rPr lang="ko-KR" altLang="en-US" dirty="0"/>
              <a:t>와 </a:t>
            </a:r>
            <a:r>
              <a:rPr lang="en-US" altLang="ko-KR" dirty="0"/>
              <a:t>L2TP</a:t>
            </a:r>
            <a:r>
              <a:rPr lang="ko-KR" altLang="en-US" dirty="0"/>
              <a:t>의 공통점과 차이점</a:t>
            </a:r>
            <a:endParaRPr lang="en-US" altLang="ko-KR" dirty="0"/>
          </a:p>
          <a:p>
            <a:pPr lvl="2"/>
            <a:r>
              <a:rPr lang="en-US" altLang="ko-KR" dirty="0"/>
              <a:t>PPTP</a:t>
            </a:r>
            <a:r>
              <a:rPr lang="ko-KR" altLang="en-US" dirty="0"/>
              <a:t>와 </a:t>
            </a:r>
            <a:r>
              <a:rPr lang="en-US" altLang="ko-KR" dirty="0"/>
              <a:t>L2TP</a:t>
            </a:r>
            <a:r>
              <a:rPr lang="ko-KR" altLang="en-US" dirty="0"/>
              <a:t>는 모두 </a:t>
            </a:r>
            <a:r>
              <a:rPr lang="en-US" altLang="ko-KR" dirty="0"/>
              <a:t>PPP </a:t>
            </a:r>
            <a:r>
              <a:rPr lang="ko-KR" altLang="en-US" dirty="0"/>
              <a:t>트래픽을 암호화하므로 다양한 상위 로컬 네트워크 프로토콜 사용</a:t>
            </a:r>
            <a:endParaRPr lang="en-US" altLang="ko-KR" dirty="0"/>
          </a:p>
          <a:p>
            <a:pPr lvl="2"/>
            <a:r>
              <a:rPr lang="en-US" altLang="ko-KR" dirty="0"/>
              <a:t>PPP</a:t>
            </a:r>
            <a:r>
              <a:rPr lang="ko-KR" altLang="en-US" dirty="0"/>
              <a:t>에서 제공하는 사용자 인증이나 데이터 암호화 및 압축</a:t>
            </a:r>
            <a:r>
              <a:rPr lang="en-US" altLang="ko-KR" dirty="0"/>
              <a:t>(CCP, ECP) </a:t>
            </a:r>
            <a:r>
              <a:rPr lang="ko-KR" altLang="en-US" dirty="0"/>
              <a:t>등의 보안 기능 사용</a:t>
            </a:r>
            <a:endParaRPr lang="en-US" altLang="ko-KR" dirty="0"/>
          </a:p>
          <a:p>
            <a:pPr lvl="2"/>
            <a:endParaRPr lang="en-US" altLang="ko-KR" dirty="0"/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-108520" y="3429000"/>
            <a:ext cx="9649072" cy="30243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685800" rtl="0" eaLnBrk="1" latinLnBrk="1" hangingPunct="1">
              <a:lnSpc>
                <a:spcPct val="150000"/>
              </a:lnSpc>
              <a:spcBef>
                <a:spcPts val="0"/>
              </a:spcBef>
              <a:buClr>
                <a:srgbClr val="009BA8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defTabSz="685800" rtl="0" eaLnBrk="1" latinLnBrk="1" hangingPunct="1">
              <a:lnSpc>
                <a:spcPct val="90000"/>
              </a:lnSpc>
              <a:spcBef>
                <a:spcPts val="375"/>
              </a:spcBef>
              <a:spcAft>
                <a:spcPts val="400"/>
              </a:spcAft>
              <a:buClr>
                <a:srgbClr val="00B2C0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defTabSz="685800" rtl="0" eaLnBrk="1" latinLnBrk="1" hangingPunct="1">
              <a:lnSpc>
                <a:spcPct val="90000"/>
              </a:lnSpc>
              <a:spcBef>
                <a:spcPts val="375"/>
              </a:spcBef>
              <a:spcAft>
                <a:spcPts val="300"/>
              </a:spcAft>
              <a:buClr>
                <a:srgbClr val="00C1D0"/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defTabSz="685800" rtl="0" eaLnBrk="1" latinLnBrk="1" hangingPunct="1">
              <a:lnSpc>
                <a:spcPct val="90000"/>
              </a:lnSpc>
              <a:spcBef>
                <a:spcPts val="375"/>
              </a:spcBef>
              <a:spcAft>
                <a:spcPts val="300"/>
              </a:spcAft>
              <a:buClr>
                <a:srgbClr val="00C1D0"/>
              </a:buClr>
              <a:buSzPct val="96000"/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defTabSz="685800" rtl="0" eaLnBrk="1" latinLnBrk="1" hangingPunct="1">
              <a:lnSpc>
                <a:spcPct val="90000"/>
              </a:lnSpc>
              <a:spcBef>
                <a:spcPts val="375"/>
              </a:spcBef>
              <a:buClr>
                <a:srgbClr val="00C1D0"/>
              </a:buClr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altLang="ko-KR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24" y="4509120"/>
            <a:ext cx="4788024" cy="146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80496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</a:t>
            </a:r>
            <a:r>
              <a:rPr lang="ko-KR" altLang="en-US" dirty="0"/>
              <a:t>암호화 통신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218258" cy="5400600"/>
          </a:xfrm>
        </p:spPr>
        <p:txBody>
          <a:bodyPr>
            <a:noAutofit/>
          </a:bodyPr>
          <a:lstStyle/>
          <a:p>
            <a:r>
              <a:rPr lang="ko-KR" altLang="en-US" dirty="0"/>
              <a:t>네트워크 암호화</a:t>
            </a:r>
            <a:endParaRPr lang="en-US" altLang="ko-KR" dirty="0"/>
          </a:p>
          <a:p>
            <a:pPr lvl="1"/>
            <a:r>
              <a:rPr lang="en-US" altLang="ko-KR" dirty="0">
                <a:solidFill>
                  <a:srgbClr val="FF0000"/>
                </a:solidFill>
              </a:rPr>
              <a:t>3</a:t>
            </a:r>
            <a:r>
              <a:rPr lang="ko-KR" altLang="en-US" dirty="0">
                <a:solidFill>
                  <a:srgbClr val="FF0000"/>
                </a:solidFill>
              </a:rPr>
              <a:t>계층</a:t>
            </a:r>
            <a:r>
              <a:rPr lang="ko-KR" altLang="en-US" dirty="0"/>
              <a:t>의 암호화 프로토콜</a:t>
            </a:r>
            <a:endParaRPr lang="en-US" altLang="ko-KR" dirty="0"/>
          </a:p>
          <a:p>
            <a:pPr lvl="2">
              <a:defRPr/>
            </a:pPr>
            <a:r>
              <a:rPr lang="en-US" altLang="ko-KR" dirty="0" err="1">
                <a:solidFill>
                  <a:srgbClr val="FF0000"/>
                </a:solidFill>
              </a:rPr>
              <a:t>IPSec</a:t>
            </a:r>
            <a:endParaRPr lang="en-US" altLang="ko-KR" dirty="0">
              <a:solidFill>
                <a:srgbClr val="FF0000"/>
              </a:solidFill>
            </a:endParaRPr>
          </a:p>
          <a:p>
            <a:pPr lvl="3">
              <a:defRPr/>
            </a:pPr>
            <a:r>
              <a:rPr lang="en-US" altLang="ko-KR" dirty="0"/>
              <a:t>3</a:t>
            </a:r>
            <a:r>
              <a:rPr lang="ko-KR" altLang="en-US" dirty="0"/>
              <a:t>계층의 암호화 프로토콜</a:t>
            </a:r>
            <a:r>
              <a:rPr lang="en-US" altLang="ko-KR" dirty="0"/>
              <a:t>. IP</a:t>
            </a:r>
            <a:r>
              <a:rPr lang="ko-KR" altLang="en-US" dirty="0"/>
              <a:t>를 기반으로 한 네트워크에서만 동작</a:t>
            </a:r>
            <a:r>
              <a:rPr lang="en-US" altLang="ko-KR" dirty="0"/>
              <a:t>.</a:t>
            </a:r>
          </a:p>
          <a:p>
            <a:pPr lvl="3">
              <a:defRPr/>
            </a:pPr>
            <a:r>
              <a:rPr lang="en-US" altLang="ko-KR" dirty="0"/>
              <a:t>IP </a:t>
            </a:r>
            <a:r>
              <a:rPr lang="ko-KR" altLang="en-US" dirty="0" err="1"/>
              <a:t>스푸핑이나</a:t>
            </a:r>
            <a:r>
              <a:rPr lang="ko-KR" altLang="en-US" dirty="0"/>
              <a:t> </a:t>
            </a:r>
            <a:r>
              <a:rPr lang="ko-KR" altLang="en-US" dirty="0" err="1"/>
              <a:t>스니핑</a:t>
            </a:r>
            <a:r>
              <a:rPr lang="ko-KR" altLang="en-US" dirty="0"/>
              <a:t> 공격에 대한 대응 방안이 될 수 있음</a:t>
            </a:r>
            <a:endParaRPr lang="en-US" altLang="ko-KR" dirty="0"/>
          </a:p>
          <a:p>
            <a:pPr lvl="3">
              <a:defRPr/>
            </a:pPr>
            <a:r>
              <a:rPr lang="ko-KR" altLang="en-US" dirty="0"/>
              <a:t>주요 기능은 </a:t>
            </a:r>
            <a:r>
              <a:rPr lang="en-US" altLang="ko-KR" dirty="0"/>
              <a:t>AH</a:t>
            </a:r>
            <a:r>
              <a:rPr lang="ko-KR" altLang="en-US" dirty="0"/>
              <a:t>를 이용한 인증</a:t>
            </a:r>
            <a:r>
              <a:rPr lang="en-US" altLang="ko-KR" dirty="0"/>
              <a:t>, ESP</a:t>
            </a:r>
            <a:r>
              <a:rPr lang="ko-KR" altLang="en-US" dirty="0"/>
              <a:t>를 이용한 기밀성</a:t>
            </a:r>
            <a:r>
              <a:rPr lang="en-US" altLang="ko-KR" dirty="0"/>
              <a:t>, IKE</a:t>
            </a:r>
            <a:r>
              <a:rPr lang="ko-KR" altLang="en-US" dirty="0"/>
              <a:t>를 이용한 비밀 키 교환</a:t>
            </a:r>
            <a:endParaRPr lang="en-US" altLang="ko-KR" dirty="0"/>
          </a:p>
          <a:p>
            <a:pPr lvl="2"/>
            <a:endParaRPr lang="en-US" altLang="ko-KR" dirty="0"/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-108520" y="3429000"/>
            <a:ext cx="9649072" cy="30243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685800" rtl="0" eaLnBrk="1" latinLnBrk="1" hangingPunct="1">
              <a:lnSpc>
                <a:spcPct val="150000"/>
              </a:lnSpc>
              <a:spcBef>
                <a:spcPts val="0"/>
              </a:spcBef>
              <a:buClr>
                <a:srgbClr val="009BA8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defTabSz="685800" rtl="0" eaLnBrk="1" latinLnBrk="1" hangingPunct="1">
              <a:lnSpc>
                <a:spcPct val="90000"/>
              </a:lnSpc>
              <a:spcBef>
                <a:spcPts val="375"/>
              </a:spcBef>
              <a:spcAft>
                <a:spcPts val="400"/>
              </a:spcAft>
              <a:buClr>
                <a:srgbClr val="00B2C0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defTabSz="685800" rtl="0" eaLnBrk="1" latinLnBrk="1" hangingPunct="1">
              <a:lnSpc>
                <a:spcPct val="90000"/>
              </a:lnSpc>
              <a:spcBef>
                <a:spcPts val="375"/>
              </a:spcBef>
              <a:spcAft>
                <a:spcPts val="300"/>
              </a:spcAft>
              <a:buClr>
                <a:srgbClr val="00C1D0"/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defTabSz="685800" rtl="0" eaLnBrk="1" latinLnBrk="1" hangingPunct="1">
              <a:lnSpc>
                <a:spcPct val="90000"/>
              </a:lnSpc>
              <a:spcBef>
                <a:spcPts val="375"/>
              </a:spcBef>
              <a:spcAft>
                <a:spcPts val="300"/>
              </a:spcAft>
              <a:buClr>
                <a:srgbClr val="00C1D0"/>
              </a:buClr>
              <a:buSzPct val="96000"/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defTabSz="685800" rtl="0" eaLnBrk="1" latinLnBrk="1" hangingPunct="1">
              <a:lnSpc>
                <a:spcPct val="90000"/>
              </a:lnSpc>
              <a:spcBef>
                <a:spcPts val="375"/>
              </a:spcBef>
              <a:buClr>
                <a:srgbClr val="00C1D0"/>
              </a:buClr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altLang="ko-KR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628" y="3140968"/>
            <a:ext cx="6192688" cy="2791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76133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</a:t>
            </a:r>
            <a:r>
              <a:rPr lang="ko-KR" altLang="en-US" dirty="0"/>
              <a:t>암호화 통신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218258" cy="5400600"/>
          </a:xfrm>
        </p:spPr>
        <p:txBody>
          <a:bodyPr>
            <a:noAutofit/>
          </a:bodyPr>
          <a:lstStyle/>
          <a:p>
            <a:r>
              <a:rPr lang="ko-KR" altLang="en-US" dirty="0"/>
              <a:t>네트워크 암호화</a:t>
            </a:r>
            <a:endParaRPr lang="en-US" altLang="ko-KR" dirty="0"/>
          </a:p>
          <a:p>
            <a:pPr lvl="1"/>
            <a:r>
              <a:rPr lang="en-US" altLang="ko-KR" dirty="0">
                <a:solidFill>
                  <a:srgbClr val="FF0000"/>
                </a:solidFill>
              </a:rPr>
              <a:t>4</a:t>
            </a:r>
            <a:r>
              <a:rPr lang="ko-KR" altLang="en-US" dirty="0">
                <a:solidFill>
                  <a:srgbClr val="FF0000"/>
                </a:solidFill>
              </a:rPr>
              <a:t>계층</a:t>
            </a:r>
            <a:r>
              <a:rPr lang="ko-KR" altLang="en-US" dirty="0"/>
              <a:t>의 암호화 프로토콜</a:t>
            </a:r>
            <a:endParaRPr lang="en-US" altLang="ko-KR" dirty="0"/>
          </a:p>
          <a:p>
            <a:pPr lvl="2">
              <a:defRPr/>
            </a:pPr>
            <a:r>
              <a:rPr lang="en-US" altLang="ko-KR" dirty="0">
                <a:solidFill>
                  <a:srgbClr val="FF0000"/>
                </a:solidFill>
              </a:rPr>
              <a:t>SSL</a:t>
            </a:r>
          </a:p>
          <a:p>
            <a:pPr lvl="3">
              <a:defRPr/>
            </a:pPr>
            <a:r>
              <a:rPr lang="ko-KR" altLang="en-US" dirty="0" err="1"/>
              <a:t>넷스케이프가</a:t>
            </a:r>
            <a:r>
              <a:rPr lang="ko-KR" altLang="en-US" dirty="0"/>
              <a:t> 개발한 </a:t>
            </a:r>
            <a:r>
              <a:rPr lang="en-US" altLang="ko-KR" dirty="0"/>
              <a:t>SSL</a:t>
            </a:r>
            <a:r>
              <a:rPr lang="ko-KR" altLang="en-US" dirty="0"/>
              <a:t>은 </a:t>
            </a:r>
            <a:r>
              <a:rPr lang="en-US" altLang="ko-KR" dirty="0"/>
              <a:t>40</a:t>
            </a:r>
            <a:r>
              <a:rPr lang="ko-KR" altLang="en-US" dirty="0"/>
              <a:t>비트와 </a:t>
            </a:r>
            <a:r>
              <a:rPr lang="en-US" altLang="ko-KR" dirty="0"/>
              <a:t>128</a:t>
            </a:r>
            <a:r>
              <a:rPr lang="ko-KR" altLang="en-US" dirty="0"/>
              <a:t>비트 키를 가진 암호화 통신 가능</a:t>
            </a:r>
            <a:endParaRPr lang="en-US" altLang="ko-KR" dirty="0"/>
          </a:p>
          <a:p>
            <a:pPr lvl="3">
              <a:defRPr/>
            </a:pPr>
            <a:r>
              <a:rPr lang="en-US" altLang="ko-KR" dirty="0"/>
              <a:t>L2TP, </a:t>
            </a:r>
            <a:r>
              <a:rPr lang="en-US" altLang="ko-KR" dirty="0" err="1"/>
              <a:t>IPSec</a:t>
            </a:r>
            <a:r>
              <a:rPr lang="ko-KR" altLang="en-US" dirty="0"/>
              <a:t>보다 상위 수준에서 암호화 통신 기능을 제공하여 </a:t>
            </a:r>
            <a:r>
              <a:rPr lang="en-US" altLang="ko-KR" dirty="0"/>
              <a:t>4</a:t>
            </a:r>
            <a:r>
              <a:rPr lang="ko-KR" altLang="en-US" dirty="0"/>
              <a:t>계층</a:t>
            </a:r>
            <a:r>
              <a:rPr lang="en-US" altLang="ko-KR" dirty="0"/>
              <a:t>(</a:t>
            </a:r>
            <a:r>
              <a:rPr lang="ko-KR" altLang="en-US" dirty="0"/>
              <a:t>전송 계층</a:t>
            </a:r>
            <a:r>
              <a:rPr lang="en-US" altLang="ko-KR" dirty="0"/>
              <a:t>)</a:t>
            </a:r>
            <a:r>
              <a:rPr lang="ko-KR" altLang="en-US" dirty="0"/>
              <a:t>과 </a:t>
            </a:r>
            <a:r>
              <a:rPr lang="en-US" altLang="ko-KR" dirty="0"/>
              <a:t>5</a:t>
            </a:r>
            <a:r>
              <a:rPr lang="ko-KR" altLang="en-US" dirty="0"/>
              <a:t>계층</a:t>
            </a:r>
            <a:r>
              <a:rPr lang="en-US" altLang="ko-KR" dirty="0"/>
              <a:t>(</a:t>
            </a:r>
            <a:r>
              <a:rPr lang="ko-KR" altLang="en-US" dirty="0"/>
              <a:t>세션 계층</a:t>
            </a:r>
            <a:r>
              <a:rPr lang="en-US" altLang="ko-KR" dirty="0"/>
              <a:t>) </a:t>
            </a:r>
            <a:r>
              <a:rPr lang="ko-KR" altLang="en-US" dirty="0"/>
              <a:t>사이의 프로토콜</a:t>
            </a:r>
            <a:endParaRPr lang="en-US" altLang="ko-KR" dirty="0"/>
          </a:p>
          <a:p>
            <a:pPr lvl="3">
              <a:defRPr/>
            </a:pPr>
            <a:endParaRPr lang="en-US" altLang="ko-KR" sz="100" dirty="0"/>
          </a:p>
          <a:p>
            <a:pPr lvl="2">
              <a:defRPr/>
            </a:pPr>
            <a:r>
              <a:rPr lang="en-US" altLang="ko-KR" dirty="0"/>
              <a:t>SSL</a:t>
            </a:r>
            <a:r>
              <a:rPr lang="ko-KR" altLang="en-US" dirty="0"/>
              <a:t>의 기능</a:t>
            </a:r>
            <a:endParaRPr lang="en-US" altLang="ko-KR" dirty="0"/>
          </a:p>
          <a:p>
            <a:pPr lvl="3">
              <a:defRPr/>
            </a:pPr>
            <a:r>
              <a:rPr lang="ko-KR" altLang="en-US" dirty="0"/>
              <a:t>클라이언트 인증</a:t>
            </a:r>
            <a:r>
              <a:rPr lang="en-US" altLang="ko-KR" dirty="0"/>
              <a:t>: </a:t>
            </a:r>
            <a:r>
              <a:rPr lang="ko-KR" altLang="en-US" dirty="0"/>
              <a:t>클라이언트의 인증서를 확인하여 서버 에 접속할 자격이 있는지 확인하는 작업</a:t>
            </a:r>
            <a:endParaRPr lang="en-US" altLang="ko-KR" dirty="0"/>
          </a:p>
          <a:p>
            <a:pPr lvl="3">
              <a:defRPr/>
            </a:pPr>
            <a:r>
              <a:rPr lang="ko-KR" altLang="en-US" dirty="0"/>
              <a:t>암호화 세션</a:t>
            </a:r>
            <a:r>
              <a:rPr lang="en-US" altLang="ko-KR" dirty="0"/>
              <a:t>: </a:t>
            </a:r>
            <a:r>
              <a:rPr lang="ko-KR" altLang="en-US" dirty="0"/>
              <a:t>암호화된 통신</a:t>
            </a:r>
            <a:r>
              <a:rPr lang="en-US" altLang="ko-KR" dirty="0"/>
              <a:t>, 40</a:t>
            </a:r>
            <a:r>
              <a:rPr lang="ko-KR" altLang="en-US" dirty="0"/>
              <a:t>비트와 </a:t>
            </a:r>
            <a:r>
              <a:rPr lang="en-US" altLang="ko-KR" dirty="0"/>
              <a:t>128</a:t>
            </a:r>
            <a:r>
              <a:rPr lang="ko-KR" altLang="en-US" dirty="0"/>
              <a:t>비트의 암호화 세션을 형성</a:t>
            </a:r>
            <a:endParaRPr lang="en-US" altLang="ko-KR" dirty="0"/>
          </a:p>
          <a:p>
            <a:pPr lvl="3">
              <a:defRPr/>
            </a:pPr>
            <a:r>
              <a:rPr lang="ko-KR" altLang="en-US" dirty="0"/>
              <a:t>서버 인증</a:t>
            </a:r>
            <a:r>
              <a:rPr lang="en-US" altLang="ko-KR" dirty="0"/>
              <a:t>: </a:t>
            </a:r>
            <a:r>
              <a:rPr lang="ko-KR" altLang="en-US" dirty="0"/>
              <a:t>클라이언트가 자신이 신뢰할 만한 서버에 접속을 시도하고 있는지 확인하는 것</a:t>
            </a:r>
            <a:endParaRPr lang="en-US" altLang="ko-KR" dirty="0"/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-108520" y="3429000"/>
            <a:ext cx="9649072" cy="30243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685800" rtl="0" eaLnBrk="1" latinLnBrk="1" hangingPunct="1">
              <a:lnSpc>
                <a:spcPct val="150000"/>
              </a:lnSpc>
              <a:spcBef>
                <a:spcPts val="0"/>
              </a:spcBef>
              <a:buClr>
                <a:srgbClr val="009BA8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defTabSz="685800" rtl="0" eaLnBrk="1" latinLnBrk="1" hangingPunct="1">
              <a:lnSpc>
                <a:spcPct val="90000"/>
              </a:lnSpc>
              <a:spcBef>
                <a:spcPts val="375"/>
              </a:spcBef>
              <a:spcAft>
                <a:spcPts val="400"/>
              </a:spcAft>
              <a:buClr>
                <a:srgbClr val="00B2C0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defTabSz="685800" rtl="0" eaLnBrk="1" latinLnBrk="1" hangingPunct="1">
              <a:lnSpc>
                <a:spcPct val="90000"/>
              </a:lnSpc>
              <a:spcBef>
                <a:spcPts val="375"/>
              </a:spcBef>
              <a:spcAft>
                <a:spcPts val="300"/>
              </a:spcAft>
              <a:buClr>
                <a:srgbClr val="00C1D0"/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defTabSz="685800" rtl="0" eaLnBrk="1" latinLnBrk="1" hangingPunct="1">
              <a:lnSpc>
                <a:spcPct val="90000"/>
              </a:lnSpc>
              <a:spcBef>
                <a:spcPts val="375"/>
              </a:spcBef>
              <a:spcAft>
                <a:spcPts val="300"/>
              </a:spcAft>
              <a:buClr>
                <a:srgbClr val="00C1D0"/>
              </a:buClr>
              <a:buSzPct val="96000"/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defTabSz="685800" rtl="0" eaLnBrk="1" latinLnBrk="1" hangingPunct="1">
              <a:lnSpc>
                <a:spcPct val="90000"/>
              </a:lnSpc>
              <a:spcBef>
                <a:spcPts val="375"/>
              </a:spcBef>
              <a:buClr>
                <a:srgbClr val="00C1D0"/>
              </a:buClr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altLang="ko-KR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1880" y="3789040"/>
            <a:ext cx="2226919" cy="2925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58560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</a:t>
            </a:r>
            <a:r>
              <a:rPr lang="ko-KR" altLang="en-US" dirty="0"/>
              <a:t>암호화 통신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218258" cy="5400600"/>
          </a:xfrm>
        </p:spPr>
        <p:txBody>
          <a:bodyPr>
            <a:noAutofit/>
          </a:bodyPr>
          <a:lstStyle/>
          <a:p>
            <a:r>
              <a:rPr lang="ko-KR" altLang="en-US" dirty="0"/>
              <a:t>전자 우편 암호화</a:t>
            </a:r>
            <a:endParaRPr lang="en-US" altLang="ko-KR" dirty="0"/>
          </a:p>
          <a:p>
            <a:pPr lvl="1"/>
            <a:r>
              <a:rPr lang="en-US" altLang="ko-KR" dirty="0">
                <a:solidFill>
                  <a:srgbClr val="FF0000"/>
                </a:solidFill>
              </a:rPr>
              <a:t>PGP</a:t>
            </a:r>
          </a:p>
          <a:p>
            <a:pPr lvl="2">
              <a:defRPr/>
            </a:pPr>
            <a:r>
              <a:rPr lang="en-US" altLang="ko-KR" dirty="0"/>
              <a:t>IDEA </a:t>
            </a:r>
            <a:r>
              <a:rPr lang="ko-KR" altLang="en-US" dirty="0"/>
              <a:t>알고리즘과 </a:t>
            </a:r>
            <a:r>
              <a:rPr lang="en-US" altLang="ko-KR" dirty="0"/>
              <a:t>RSA </a:t>
            </a:r>
            <a:r>
              <a:rPr lang="ko-KR" altLang="en-US" dirty="0"/>
              <a:t>알고리즘을 조합하여 만든 암호화 이메일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세션 키를 암호화하기 위해 </a:t>
            </a:r>
            <a:r>
              <a:rPr lang="en-US" altLang="ko-KR" dirty="0"/>
              <a:t>IDEA </a:t>
            </a:r>
            <a:r>
              <a:rPr lang="ko-KR" altLang="en-US" dirty="0"/>
              <a:t>알고리즘 이용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사용자 인증을 위한 전자서명에는 </a:t>
            </a:r>
            <a:r>
              <a:rPr lang="en-US" altLang="ko-KR" dirty="0"/>
              <a:t>RSA </a:t>
            </a:r>
            <a:r>
              <a:rPr lang="ko-KR" altLang="en-US" dirty="0"/>
              <a:t>알고리즘을 이용</a:t>
            </a:r>
            <a:r>
              <a:rPr lang="en-US" altLang="ko-KR" dirty="0"/>
              <a:t> </a:t>
            </a:r>
          </a:p>
          <a:p>
            <a:pPr lvl="2">
              <a:defRPr/>
            </a:pPr>
            <a:r>
              <a:rPr lang="ko-KR" altLang="en-US" dirty="0"/>
              <a:t>인증 기관 없이 사용하는 사람들 간의 신뢰 관계를 통해 인증</a:t>
            </a:r>
            <a:r>
              <a:rPr lang="en-US" altLang="ko-KR" dirty="0"/>
              <a:t>. </a:t>
            </a: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상호 인증으로 많은 인터넷 사용자가 </a:t>
            </a:r>
            <a:endParaRPr lang="en-US" altLang="ko-KR" dirty="0"/>
          </a:p>
          <a:p>
            <a:pPr marL="447675" lvl="2" indent="0">
              <a:buNone/>
              <a:defRPr/>
            </a:pPr>
            <a:r>
              <a:rPr lang="en-US" altLang="ko-KR" dirty="0"/>
              <a:t>    </a:t>
            </a:r>
            <a:r>
              <a:rPr lang="ko-KR" altLang="en-US" dirty="0"/>
              <a:t>서로를 인증하여 그물망과 같은 인증 구조를 이루는 것</a:t>
            </a:r>
            <a:endParaRPr lang="en-US" altLang="ko-KR" dirty="0"/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-108520" y="3429000"/>
            <a:ext cx="9649072" cy="30243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685800" rtl="0" eaLnBrk="1" latinLnBrk="1" hangingPunct="1">
              <a:lnSpc>
                <a:spcPct val="150000"/>
              </a:lnSpc>
              <a:spcBef>
                <a:spcPts val="0"/>
              </a:spcBef>
              <a:buClr>
                <a:srgbClr val="009BA8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defTabSz="685800" rtl="0" eaLnBrk="1" latinLnBrk="1" hangingPunct="1">
              <a:lnSpc>
                <a:spcPct val="90000"/>
              </a:lnSpc>
              <a:spcBef>
                <a:spcPts val="375"/>
              </a:spcBef>
              <a:spcAft>
                <a:spcPts val="400"/>
              </a:spcAft>
              <a:buClr>
                <a:srgbClr val="00B2C0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defTabSz="685800" rtl="0" eaLnBrk="1" latinLnBrk="1" hangingPunct="1">
              <a:lnSpc>
                <a:spcPct val="90000"/>
              </a:lnSpc>
              <a:spcBef>
                <a:spcPts val="375"/>
              </a:spcBef>
              <a:spcAft>
                <a:spcPts val="300"/>
              </a:spcAft>
              <a:buClr>
                <a:srgbClr val="00C1D0"/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defTabSz="685800" rtl="0" eaLnBrk="1" latinLnBrk="1" hangingPunct="1">
              <a:lnSpc>
                <a:spcPct val="90000"/>
              </a:lnSpc>
              <a:spcBef>
                <a:spcPts val="375"/>
              </a:spcBef>
              <a:spcAft>
                <a:spcPts val="300"/>
              </a:spcAft>
              <a:buClr>
                <a:srgbClr val="00C1D0"/>
              </a:buClr>
              <a:buSzPct val="96000"/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defTabSz="685800" rtl="0" eaLnBrk="1" latinLnBrk="1" hangingPunct="1">
              <a:lnSpc>
                <a:spcPct val="90000"/>
              </a:lnSpc>
              <a:spcBef>
                <a:spcPts val="375"/>
              </a:spcBef>
              <a:buClr>
                <a:srgbClr val="00C1D0"/>
              </a:buClr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altLang="ko-KR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8366" y="3429000"/>
            <a:ext cx="5701938" cy="2898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22216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</a:t>
            </a:r>
            <a:r>
              <a:rPr lang="ko-KR" altLang="en-US" dirty="0"/>
              <a:t>암호화 통신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218258" cy="5400600"/>
          </a:xfrm>
        </p:spPr>
        <p:txBody>
          <a:bodyPr>
            <a:noAutofit/>
          </a:bodyPr>
          <a:lstStyle/>
          <a:p>
            <a:r>
              <a:rPr lang="ko-KR" altLang="en-US" dirty="0"/>
              <a:t>전자 우편 암호화</a:t>
            </a:r>
            <a:endParaRPr lang="en-US" altLang="ko-KR" dirty="0"/>
          </a:p>
          <a:p>
            <a:pPr lvl="1"/>
            <a:r>
              <a:rPr lang="en-US" altLang="ko-KR" dirty="0">
                <a:solidFill>
                  <a:srgbClr val="FF0000"/>
                </a:solidFill>
              </a:rPr>
              <a:t>S/MIME</a:t>
            </a:r>
          </a:p>
          <a:p>
            <a:pPr lvl="2"/>
            <a:r>
              <a:rPr lang="ko-KR" altLang="en-US" dirty="0"/>
              <a:t>인증서를 통해 암호화한 이메일 서비스를 제공</a:t>
            </a:r>
            <a:endParaRPr lang="en-US" altLang="ko-KR" dirty="0"/>
          </a:p>
          <a:p>
            <a:pPr lvl="2"/>
            <a:r>
              <a:rPr lang="en-US" altLang="ko-KR" dirty="0"/>
              <a:t>S/MIME </a:t>
            </a:r>
            <a:r>
              <a:rPr lang="ko-KR" altLang="en-US" dirty="0"/>
              <a:t>관련 프로그램을 설치하면 대부분 자동으로 암호화가 이루어짐</a:t>
            </a:r>
            <a:endParaRPr lang="en-US" altLang="ko-KR" dirty="0"/>
          </a:p>
          <a:p>
            <a:pPr lvl="2"/>
            <a:r>
              <a:rPr lang="ko-KR" altLang="en-US" dirty="0"/>
              <a:t>아직 널리 쓰이지는 않지만</a:t>
            </a:r>
            <a:r>
              <a:rPr lang="en-US" altLang="ko-KR" dirty="0"/>
              <a:t>, </a:t>
            </a:r>
            <a:r>
              <a:rPr lang="ko-KR" altLang="en-US" dirty="0"/>
              <a:t>회사에서 그룹웨어를 사용할 때 이와 비슷한 형태의 암호화 이메일을 제공함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>
                <a:solidFill>
                  <a:srgbClr val="FF0000"/>
                </a:solidFill>
              </a:rPr>
              <a:t>PEM</a:t>
            </a:r>
          </a:p>
          <a:p>
            <a:pPr lvl="2"/>
            <a:r>
              <a:rPr lang="en-US" altLang="ko-KR" dirty="0"/>
              <a:t>IETF</a:t>
            </a:r>
            <a:r>
              <a:rPr lang="ko-KR" altLang="en-US" dirty="0"/>
              <a:t>가 채택한 방식으로 </a:t>
            </a:r>
            <a:r>
              <a:rPr lang="ko-KR" altLang="en-US" dirty="0" err="1"/>
              <a:t>보안성이</a:t>
            </a:r>
            <a:r>
              <a:rPr lang="ko-KR" altLang="en-US" dirty="0"/>
              <a:t> 높지만 구현이 복잡하여 널리 사용되지 않음</a:t>
            </a:r>
            <a:endParaRPr lang="en-US" altLang="ko-KR" dirty="0"/>
          </a:p>
          <a:p>
            <a:pPr lvl="2"/>
            <a:endParaRPr lang="en-US" altLang="ko-KR" dirty="0"/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-108520" y="3429000"/>
            <a:ext cx="9649072" cy="30243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685800" rtl="0" eaLnBrk="1" latinLnBrk="1" hangingPunct="1">
              <a:lnSpc>
                <a:spcPct val="150000"/>
              </a:lnSpc>
              <a:spcBef>
                <a:spcPts val="0"/>
              </a:spcBef>
              <a:buClr>
                <a:srgbClr val="009BA8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defTabSz="685800" rtl="0" eaLnBrk="1" latinLnBrk="1" hangingPunct="1">
              <a:lnSpc>
                <a:spcPct val="90000"/>
              </a:lnSpc>
              <a:spcBef>
                <a:spcPts val="375"/>
              </a:spcBef>
              <a:spcAft>
                <a:spcPts val="400"/>
              </a:spcAft>
              <a:buClr>
                <a:srgbClr val="00B2C0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defTabSz="685800" rtl="0" eaLnBrk="1" latinLnBrk="1" hangingPunct="1">
              <a:lnSpc>
                <a:spcPct val="90000"/>
              </a:lnSpc>
              <a:spcBef>
                <a:spcPts val="375"/>
              </a:spcBef>
              <a:spcAft>
                <a:spcPts val="300"/>
              </a:spcAft>
              <a:buClr>
                <a:srgbClr val="00C1D0"/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defTabSz="685800" rtl="0" eaLnBrk="1" latinLnBrk="1" hangingPunct="1">
              <a:lnSpc>
                <a:spcPct val="90000"/>
              </a:lnSpc>
              <a:spcBef>
                <a:spcPts val="375"/>
              </a:spcBef>
              <a:spcAft>
                <a:spcPts val="300"/>
              </a:spcAft>
              <a:buClr>
                <a:srgbClr val="00C1D0"/>
              </a:buClr>
              <a:buSzPct val="96000"/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defTabSz="685800" rtl="0" eaLnBrk="1" latinLnBrk="1" hangingPunct="1">
              <a:lnSpc>
                <a:spcPct val="90000"/>
              </a:lnSpc>
              <a:spcBef>
                <a:spcPts val="375"/>
              </a:spcBef>
              <a:buClr>
                <a:srgbClr val="00C1D0"/>
              </a:buClr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altLang="ko-KR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7724" y="2708920"/>
            <a:ext cx="5256584" cy="3089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63844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 </a:t>
            </a:r>
            <a:r>
              <a:rPr lang="ko-KR" altLang="en-US" dirty="0"/>
              <a:t>콘텐츠 보안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290266" cy="5400600"/>
          </a:xfrm>
        </p:spPr>
        <p:txBody>
          <a:bodyPr>
            <a:noAutofit/>
          </a:bodyPr>
          <a:lstStyle/>
          <a:p>
            <a:r>
              <a:rPr lang="ko-KR" altLang="en-US" dirty="0" err="1"/>
              <a:t>스테가노그래피</a:t>
            </a:r>
            <a:endParaRPr lang="en-US" altLang="ko-KR" dirty="0"/>
          </a:p>
          <a:p>
            <a:pPr lvl="2"/>
            <a:r>
              <a:rPr lang="ko-KR" altLang="en-US" dirty="0"/>
              <a:t>저작권 보호보다는 </a:t>
            </a:r>
            <a:r>
              <a:rPr lang="ko-KR" altLang="en-US" dirty="0">
                <a:solidFill>
                  <a:srgbClr val="FF0000"/>
                </a:solidFill>
              </a:rPr>
              <a:t>정보를 은밀하게 전달</a:t>
            </a:r>
            <a:r>
              <a:rPr lang="ko-KR" altLang="en-US" dirty="0"/>
              <a:t>하려는 목적이 더 큼</a:t>
            </a:r>
            <a:endParaRPr lang="en-US" altLang="ko-KR" dirty="0"/>
          </a:p>
          <a:p>
            <a:pPr lvl="2"/>
            <a:r>
              <a:rPr lang="ko-KR" altLang="en-US" dirty="0"/>
              <a:t>미리 정한 약속에 따라 특정 데이터를 원래의 것과 전혀 관련이 없는 데이터로 해석하는 것</a:t>
            </a:r>
            <a:endParaRPr lang="en-US" altLang="ko-KR" dirty="0"/>
          </a:p>
          <a:p>
            <a:pPr lvl="2"/>
            <a:r>
              <a:rPr lang="ko-KR" altLang="en-US" dirty="0"/>
              <a:t>현재는 </a:t>
            </a:r>
            <a:r>
              <a:rPr lang="ko-KR" altLang="en-US" dirty="0" err="1"/>
              <a:t>워터마크와</a:t>
            </a:r>
            <a:r>
              <a:rPr lang="ko-KR" altLang="en-US" dirty="0"/>
              <a:t> 크게 다르지 않은 의미로 사용</a:t>
            </a:r>
            <a:endParaRPr lang="en-US" altLang="ko-KR" dirty="0"/>
          </a:p>
          <a:p>
            <a:pPr lvl="2"/>
            <a:endParaRPr lang="en-US" altLang="ko-KR" dirty="0"/>
          </a:p>
          <a:p>
            <a:r>
              <a:rPr lang="ko-KR" altLang="en-US" dirty="0"/>
              <a:t>워터마크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페이지 전면에 옅은 색으로 무늬를 나타내는 것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회사 문서에 표시되는 회사 로고나 인터넷에서 발급한 주민등록등본에 표시된 무궁화 문양이 대표적인 예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영상이나 오디오 파일에도 삽입 가능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사용자가 알아볼 수 있게 표시하기도 하고 저작물이 조작되지 않도록 인지할 수 없는 방식으로 표시하기도 함</a:t>
            </a:r>
            <a:endParaRPr lang="en-US" altLang="ko-KR" dirty="0"/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-108520" y="3429000"/>
            <a:ext cx="9649072" cy="30243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685800" rtl="0" eaLnBrk="1" latinLnBrk="1" hangingPunct="1">
              <a:lnSpc>
                <a:spcPct val="150000"/>
              </a:lnSpc>
              <a:spcBef>
                <a:spcPts val="0"/>
              </a:spcBef>
              <a:buClr>
                <a:srgbClr val="009BA8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defTabSz="685800" rtl="0" eaLnBrk="1" latinLnBrk="1" hangingPunct="1">
              <a:lnSpc>
                <a:spcPct val="90000"/>
              </a:lnSpc>
              <a:spcBef>
                <a:spcPts val="375"/>
              </a:spcBef>
              <a:spcAft>
                <a:spcPts val="400"/>
              </a:spcAft>
              <a:buClr>
                <a:srgbClr val="00B2C0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defTabSz="685800" rtl="0" eaLnBrk="1" latinLnBrk="1" hangingPunct="1">
              <a:lnSpc>
                <a:spcPct val="90000"/>
              </a:lnSpc>
              <a:spcBef>
                <a:spcPts val="375"/>
              </a:spcBef>
              <a:spcAft>
                <a:spcPts val="300"/>
              </a:spcAft>
              <a:buClr>
                <a:srgbClr val="00C1D0"/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defTabSz="685800" rtl="0" eaLnBrk="1" latinLnBrk="1" hangingPunct="1">
              <a:lnSpc>
                <a:spcPct val="90000"/>
              </a:lnSpc>
              <a:spcBef>
                <a:spcPts val="375"/>
              </a:spcBef>
              <a:spcAft>
                <a:spcPts val="300"/>
              </a:spcAft>
              <a:buClr>
                <a:srgbClr val="00C1D0"/>
              </a:buClr>
              <a:buSzPct val="96000"/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defTabSz="685800" rtl="0" eaLnBrk="1" latinLnBrk="1" hangingPunct="1">
              <a:lnSpc>
                <a:spcPct val="90000"/>
              </a:lnSpc>
              <a:spcBef>
                <a:spcPts val="375"/>
              </a:spcBef>
              <a:buClr>
                <a:srgbClr val="00C1D0"/>
              </a:buClr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altLang="ko-KR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1701"/>
          <a:stretch/>
        </p:blipFill>
        <p:spPr>
          <a:xfrm>
            <a:off x="1187624" y="4259021"/>
            <a:ext cx="3786005" cy="2230319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127" r="28284"/>
          <a:stretch/>
        </p:blipFill>
        <p:spPr>
          <a:xfrm>
            <a:off x="5404275" y="4174726"/>
            <a:ext cx="2715171" cy="2441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21273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77779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2590</TotalTime>
  <Words>3109</Words>
  <Application>Microsoft Office PowerPoint</Application>
  <PresentationFormat>화면 슬라이드 쇼(4:3)</PresentationFormat>
  <Paragraphs>557</Paragraphs>
  <Slides>49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49</vt:i4>
      </vt:variant>
    </vt:vector>
  </HeadingPairs>
  <TitlesOfParts>
    <vt:vector size="56" baseType="lpstr">
      <vt:lpstr>HY견고딕</vt:lpstr>
      <vt:lpstr>돋움</vt:lpstr>
      <vt:lpstr>맑은 고딕</vt:lpstr>
      <vt:lpstr>Arial</vt:lpstr>
      <vt:lpstr>Tahoma</vt:lpstr>
      <vt:lpstr>Wingdings</vt:lpstr>
      <vt:lpstr>Office 테마</vt:lpstr>
      <vt:lpstr>8 전자 상거래 보안</vt:lpstr>
      <vt:lpstr>PowerPoint 프레젠테이션</vt:lpstr>
      <vt:lpstr>PowerPoint 프레젠테이션</vt:lpstr>
      <vt:lpstr>1. 전자 상거래의 이해</vt:lpstr>
      <vt:lpstr>1. 전자 상거래의 이해</vt:lpstr>
      <vt:lpstr>1. 전자 상거래의 이해</vt:lpstr>
      <vt:lpstr>1. 전자 상거래의 이해</vt:lpstr>
      <vt:lpstr>2. 공개 키 기반 구조</vt:lpstr>
      <vt:lpstr>2. 공개 키 기반 구조</vt:lpstr>
      <vt:lpstr>2. 공개 키 기반 구조</vt:lpstr>
      <vt:lpstr>2. 공개 키 기반 구조</vt:lpstr>
      <vt:lpstr>2. 공개 키 기반 구조</vt:lpstr>
      <vt:lpstr>2. 공개 키 기반 구조</vt:lpstr>
      <vt:lpstr>3. 전자 서명과 전자 봉투</vt:lpstr>
      <vt:lpstr>3. 전자 서명과 전자 봉투</vt:lpstr>
      <vt:lpstr>3. 전자 서명과 전자 봉투</vt:lpstr>
      <vt:lpstr>3. 전자 서명과 전자 봉투</vt:lpstr>
      <vt:lpstr>3. 전자 서명과 전자 봉투</vt:lpstr>
      <vt:lpstr>3. 전자 서명과 전자 봉투</vt:lpstr>
      <vt:lpstr>4. 전자 결제와 가상 화폐</vt:lpstr>
      <vt:lpstr>4. 전자 결제와 가상 화폐</vt:lpstr>
      <vt:lpstr>4. 전자 결제와 가상 화폐</vt:lpstr>
      <vt:lpstr>4. 전자 결제와 가상 화폐</vt:lpstr>
      <vt:lpstr>4. 전자 결제와 가상 화폐</vt:lpstr>
      <vt:lpstr>4. 전자 결제와 가상 화폐</vt:lpstr>
      <vt:lpstr>4. 전자 결제와 가상 화폐</vt:lpstr>
      <vt:lpstr>4. 전자 결제와 가상 화폐</vt:lpstr>
      <vt:lpstr>4. 전자 결제와 가상 화폐</vt:lpstr>
      <vt:lpstr>4. 전자 결제와 가상 화폐</vt:lpstr>
      <vt:lpstr>4. 전자 결제와 가상 화폐</vt:lpstr>
      <vt:lpstr>4. 전자 결제와 가상 화폐</vt:lpstr>
      <vt:lpstr>04. 전자결제</vt:lpstr>
      <vt:lpstr>4. 전자 결제와 가상 화폐</vt:lpstr>
      <vt:lpstr>4. 전자 결제와 가상 화폐</vt:lpstr>
      <vt:lpstr>4. 전자 결제와 가상 화폐</vt:lpstr>
      <vt:lpstr>4. 전자 결제와 가상 화폐</vt:lpstr>
      <vt:lpstr>4. 전자 결제와 가상 화폐</vt:lpstr>
      <vt:lpstr>4. 전자 결제와 가상 화폐</vt:lpstr>
      <vt:lpstr>4. 전자 결제와 가상 화폐</vt:lpstr>
      <vt:lpstr>4. 전자 결제와 가상 화폐</vt:lpstr>
      <vt:lpstr>4. 전자 결제와 가상 화폐</vt:lpstr>
      <vt:lpstr>5. 암호화 통신</vt:lpstr>
      <vt:lpstr>5. 암호화 통신</vt:lpstr>
      <vt:lpstr>5. 암호화 통신</vt:lpstr>
      <vt:lpstr>5. 암호화 통신</vt:lpstr>
      <vt:lpstr>5. 암호화 통신</vt:lpstr>
      <vt:lpstr>5. 암호화 통신</vt:lpstr>
      <vt:lpstr>6. 콘텐츠 보안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ㅇㅅㅇ</dc:creator>
  <cp:lastModifiedBy>USER</cp:lastModifiedBy>
  <cp:revision>232</cp:revision>
  <dcterms:created xsi:type="dcterms:W3CDTF">2020-06-18T03:20:34Z</dcterms:created>
  <dcterms:modified xsi:type="dcterms:W3CDTF">2025-11-17T01:16:21Z</dcterms:modified>
</cp:coreProperties>
</file>