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9"/>
  </p:notesMasterIdLst>
  <p:handoutMasterIdLst>
    <p:handoutMasterId r:id="rId30"/>
  </p:handoutMasterIdLst>
  <p:sldIdLst>
    <p:sldId id="522" r:id="rId2"/>
    <p:sldId id="524" r:id="rId3"/>
    <p:sldId id="525" r:id="rId4"/>
    <p:sldId id="526" r:id="rId5"/>
    <p:sldId id="527" r:id="rId6"/>
    <p:sldId id="528" r:id="rId7"/>
    <p:sldId id="529" r:id="rId8"/>
    <p:sldId id="530" r:id="rId9"/>
    <p:sldId id="532" r:id="rId10"/>
    <p:sldId id="531" r:id="rId11"/>
    <p:sldId id="533" r:id="rId12"/>
    <p:sldId id="534" r:id="rId13"/>
    <p:sldId id="535" r:id="rId14"/>
    <p:sldId id="536" r:id="rId15"/>
    <p:sldId id="538" r:id="rId16"/>
    <p:sldId id="537" r:id="rId17"/>
    <p:sldId id="539" r:id="rId18"/>
    <p:sldId id="540" r:id="rId19"/>
    <p:sldId id="541" r:id="rId20"/>
    <p:sldId id="542" r:id="rId21"/>
    <p:sldId id="543" r:id="rId22"/>
    <p:sldId id="544" r:id="rId23"/>
    <p:sldId id="545" r:id="rId24"/>
    <p:sldId id="546" r:id="rId25"/>
    <p:sldId id="547" r:id="rId26"/>
    <p:sldId id="548" r:id="rId27"/>
    <p:sldId id="549" r:id="rId2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9">
          <p15:clr>
            <a:srgbClr val="A4A3A4"/>
          </p15:clr>
        </p15:guide>
        <p15:guide id="2" pos="1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D0D6"/>
    <a:srgbClr val="009BA8"/>
    <a:srgbClr val="E6E7E9"/>
    <a:srgbClr val="8F9CCD"/>
    <a:srgbClr val="4C60AC"/>
    <a:srgbClr val="E6B4C0"/>
    <a:srgbClr val="F3DDE2"/>
    <a:srgbClr val="C85873"/>
    <a:srgbClr val="83CBA1"/>
    <a:srgbClr val="DB91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4" autoAdjust="0"/>
    <p:restoredTop sz="98898" autoAdjust="0"/>
  </p:normalViewPr>
  <p:slideViewPr>
    <p:cSldViewPr>
      <p:cViewPr varScale="1">
        <p:scale>
          <a:sx n="113" d="100"/>
          <a:sy n="113" d="100"/>
        </p:scale>
        <p:origin x="1338" y="96"/>
      </p:cViewPr>
      <p:guideLst>
        <p:guide orient="horz" pos="119"/>
        <p:guide pos="15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24" d="100"/>
          <a:sy n="124" d="100"/>
        </p:scale>
        <p:origin x="4950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C39FFA-0F1A-413B-9BFE-941741C2D487}" type="datetimeFigureOut">
              <a:rPr lang="ko-KR" altLang="en-US" smtClean="0"/>
              <a:pPr/>
              <a:t>2025-11-03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4E8097-7531-4C06-8889-FE1FF848364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23296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F6F0AE-7B65-4C9A-8729-A5D1A0ABE57B}" type="datetimeFigureOut">
              <a:rPr lang="ko-KR" altLang="en-US" smtClean="0"/>
              <a:pPr/>
              <a:t>2025-11-03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E72E7F-A2FE-4F50-A94D-8786A43CAC6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0481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0" y="5921928"/>
            <a:ext cx="9144000" cy="936071"/>
          </a:xfrm>
          <a:prstGeom prst="rect">
            <a:avLst/>
          </a:prstGeom>
          <a:solidFill>
            <a:srgbClr val="8F9C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제목 1"/>
          <p:cNvSpPr txBox="1">
            <a:spLocks/>
          </p:cNvSpPr>
          <p:nvPr userDrawn="1"/>
        </p:nvSpPr>
        <p:spPr>
          <a:xfrm>
            <a:off x="2195736" y="5843592"/>
            <a:ext cx="6948264" cy="5486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6858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</p:txBody>
      </p:sp>
      <p:sp>
        <p:nvSpPr>
          <p:cNvPr id="36" name="TextBox 7">
            <a:extLst>
              <a:ext uri="{FF2B5EF4-FFF2-40B4-BE49-F238E27FC236}">
                <a16:creationId xmlns:a16="http://schemas.microsoft.com/office/drawing/2014/main" xmlns="" id="{86410889-0442-4231-B9CA-3F0F289FD4E1}"/>
              </a:ext>
            </a:extLst>
          </p:cNvPr>
          <p:cNvSpPr txBox="1"/>
          <p:nvPr userDrawn="1"/>
        </p:nvSpPr>
        <p:spPr>
          <a:xfrm>
            <a:off x="619945" y="6028546"/>
            <a:ext cx="2232248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3300" b="1" dirty="0">
                <a:latin typeface="+mn-lt"/>
                <a:ea typeface="맑은 고딕" pitchFamily="50" charset="-127"/>
              </a:rPr>
              <a:t>Chapter.</a:t>
            </a: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00" dirty="0">
              <a:ea typeface="맑은 고딕" pitchFamily="50" charset="-127"/>
            </a:endParaRPr>
          </a:p>
        </p:txBody>
      </p:sp>
      <p:sp>
        <p:nvSpPr>
          <p:cNvPr id="37" name="제목 1"/>
          <p:cNvSpPr>
            <a:spLocks noGrp="1"/>
          </p:cNvSpPr>
          <p:nvPr>
            <p:ph type="title"/>
          </p:nvPr>
        </p:nvSpPr>
        <p:spPr>
          <a:xfrm>
            <a:off x="2348136" y="6102609"/>
            <a:ext cx="6948264" cy="548680"/>
          </a:xfrm>
        </p:spPr>
        <p:txBody>
          <a:bodyPr>
            <a:noAutofit/>
          </a:bodyPr>
          <a:lstStyle>
            <a:lvl1pPr algn="l">
              <a:defRPr sz="3000" b="1">
                <a:solidFill>
                  <a:schemeClr val="tx1"/>
                </a:solidFill>
              </a:defRPr>
            </a:lvl1pPr>
          </a:lstStyle>
          <a:p>
            <a:endParaRPr lang="ko-KR" altLang="en-US" dirty="0"/>
          </a:p>
        </p:txBody>
      </p:sp>
      <p:grpSp>
        <p:nvGrpSpPr>
          <p:cNvPr id="12" name="그룹 11"/>
          <p:cNvGrpSpPr/>
          <p:nvPr userDrawn="1"/>
        </p:nvGrpSpPr>
        <p:grpSpPr>
          <a:xfrm>
            <a:off x="1475656" y="116632"/>
            <a:ext cx="4973183" cy="5646684"/>
            <a:chOff x="2339752" y="144826"/>
            <a:chExt cx="4973183" cy="5646684"/>
          </a:xfrm>
        </p:grpSpPr>
        <p:pic>
          <p:nvPicPr>
            <p:cNvPr id="14" name="그림 13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465441" y="2060848"/>
              <a:ext cx="4721804" cy="2629227"/>
            </a:xfrm>
            <a:prstGeom prst="rect">
              <a:avLst/>
            </a:prstGeom>
          </p:spPr>
        </p:pic>
        <p:pic>
          <p:nvPicPr>
            <p:cNvPr id="15" name="그림 14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339752" y="144826"/>
              <a:ext cx="4973183" cy="1974372"/>
            </a:xfrm>
            <a:prstGeom prst="rect">
              <a:avLst/>
            </a:prstGeom>
          </p:spPr>
        </p:pic>
        <p:pic>
          <p:nvPicPr>
            <p:cNvPr id="16" name="그림 15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3136805" y="4797152"/>
              <a:ext cx="3379077" cy="994358"/>
            </a:xfrm>
            <a:prstGeom prst="rect">
              <a:avLst/>
            </a:prstGeom>
          </p:spPr>
        </p:pic>
      </p:grpSp>
      <p:pic>
        <p:nvPicPr>
          <p:cNvPr id="17" name="그림 1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085968" y="188641"/>
            <a:ext cx="723093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72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xmlns="" id="{E3CF5919-2159-49EA-BD93-9C45B1EAA96D}"/>
              </a:ext>
            </a:extLst>
          </p:cNvPr>
          <p:cNvSpPr txBox="1"/>
          <p:nvPr userDrawn="1"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HY견고딕" pitchFamily="18" charset="-127"/>
                <a:ea typeface="HY견고딕" pitchFamily="18" charset="-127"/>
                <a:cs typeface="Tahoma" pitchFamily="34" charset="0"/>
              </a:rPr>
              <a:t>목차</a:t>
            </a:r>
          </a:p>
        </p:txBody>
      </p:sp>
      <p:sp>
        <p:nvSpPr>
          <p:cNvPr id="11" name="텍스트 개체 틀 6">
            <a:extLst>
              <a:ext uri="{FF2B5EF4-FFF2-40B4-BE49-F238E27FC236}">
                <a16:creationId xmlns:a16="http://schemas.microsoft.com/office/drawing/2014/main" xmlns="" id="{19267DBF-3997-413A-AA3B-689DC6FEAD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7704856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Clr>
                <a:srgbClr val="00B2C0"/>
              </a:buClr>
              <a:buFont typeface="+mj-lt"/>
              <a:buAutoNum type="arabicPeriod"/>
              <a:defRPr sz="2000" b="1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14" name="모서리가 둥근 직사각형 8">
            <a:extLst>
              <a:ext uri="{FF2B5EF4-FFF2-40B4-BE49-F238E27FC236}">
                <a16:creationId xmlns:a16="http://schemas.microsoft.com/office/drawing/2014/main" xmlns="" id="{D5A7425B-5701-466C-9ACB-C13BC673C0FC}"/>
              </a:ext>
            </a:extLst>
          </p:cNvPr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rgbClr val="009B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899031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HY견고딕" pitchFamily="18" charset="-127"/>
                <a:ea typeface="HY견고딕" pitchFamily="18" charset="-127"/>
                <a:cs typeface="Tahoma" pitchFamily="34" charset="0"/>
              </a:rPr>
              <a:t>학습목표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xmlns="" id="{ED4A8C7A-84CB-4AB9-8F99-0BC584ACD685}"/>
              </a:ext>
            </a:extLst>
          </p:cNvPr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rgbClr val="009B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8" name="텍스트 개체 틀 6">
            <a:extLst>
              <a:ext uri="{FF2B5EF4-FFF2-40B4-BE49-F238E27FC236}">
                <a16:creationId xmlns:a16="http://schemas.microsoft.com/office/drawing/2014/main" xmlns="" id="{19267DBF-3997-413A-AA3B-689DC6FEAD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7704856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Clr>
                <a:srgbClr val="00B2C0"/>
              </a:buClr>
              <a:buFont typeface="+mj-lt"/>
              <a:buAutoNum type="arabicPeriod"/>
              <a:defRPr sz="2000" b="1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67561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184745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5B4BA2D2-52F7-42A1-8EBA-192AEC431238}"/>
              </a:ext>
            </a:extLst>
          </p:cNvPr>
          <p:cNvGrpSpPr/>
          <p:nvPr userDrawn="1"/>
        </p:nvGrpSpPr>
        <p:grpSpPr>
          <a:xfrm>
            <a:off x="0" y="836712"/>
            <a:ext cx="9144000" cy="487"/>
            <a:chOff x="0" y="907564"/>
            <a:chExt cx="9144000" cy="487"/>
          </a:xfrm>
        </p:grpSpPr>
        <p:cxnSp>
          <p:nvCxnSpPr>
            <p:cNvPr id="9" name="직선 연결선 8"/>
            <p:cNvCxnSpPr/>
            <p:nvPr userDrawn="1"/>
          </p:nvCxnSpPr>
          <p:spPr>
            <a:xfrm>
              <a:off x="2124744" y="908051"/>
              <a:ext cx="2339752" cy="0"/>
            </a:xfrm>
            <a:prstGeom prst="line">
              <a:avLst/>
            </a:prstGeom>
            <a:ln w="76200">
              <a:solidFill>
                <a:srgbClr val="009BA8">
                  <a:alpha val="70000"/>
                </a:srgb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/>
            <p:cNvCxnSpPr/>
            <p:nvPr userDrawn="1"/>
          </p:nvCxnSpPr>
          <p:spPr>
            <a:xfrm>
              <a:off x="4464496" y="908051"/>
              <a:ext cx="2339752" cy="0"/>
            </a:xfrm>
            <a:prstGeom prst="line">
              <a:avLst/>
            </a:prstGeom>
            <a:ln w="76200">
              <a:solidFill>
                <a:srgbClr val="009BA8">
                  <a:alpha val="50000"/>
                </a:srgb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/>
            <p:cNvCxnSpPr/>
            <p:nvPr userDrawn="1"/>
          </p:nvCxnSpPr>
          <p:spPr>
            <a:xfrm>
              <a:off x="6804248" y="907564"/>
              <a:ext cx="2339752" cy="0"/>
            </a:xfrm>
            <a:prstGeom prst="line">
              <a:avLst/>
            </a:prstGeom>
            <a:ln w="76200">
              <a:solidFill>
                <a:srgbClr val="009BA8">
                  <a:alpha val="20000"/>
                </a:srgb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/>
            <p:cNvCxnSpPr/>
            <p:nvPr userDrawn="1"/>
          </p:nvCxnSpPr>
          <p:spPr>
            <a:xfrm>
              <a:off x="0" y="908051"/>
              <a:ext cx="2339752" cy="0"/>
            </a:xfrm>
            <a:prstGeom prst="line">
              <a:avLst/>
            </a:prstGeom>
            <a:ln w="76200">
              <a:solidFill>
                <a:srgbClr val="009BA8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08912" cy="5400600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009BA8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rgbClr val="00B2C0"/>
              </a:buClr>
              <a:buFont typeface="Wingdings" pitchFamily="2" charset="2"/>
              <a:buChar char="§"/>
              <a:defRPr sz="1400"/>
            </a:lvl2pPr>
            <a:lvl3pPr marL="628650" indent="-180975">
              <a:spcAft>
                <a:spcPts val="300"/>
              </a:spcAft>
              <a:buClr>
                <a:srgbClr val="00C1D0"/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Clr>
                <a:srgbClr val="00C1D0"/>
              </a:buClr>
              <a:buSzPct val="96000"/>
              <a:defRPr sz="1050"/>
            </a:lvl4pPr>
            <a:lvl5pPr marL="990600" indent="-180975">
              <a:buClr>
                <a:srgbClr val="00C1D0"/>
              </a:buClr>
              <a:defRPr sz="9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790600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9">
            <a:extLst>
              <a:ext uri="{FF2B5EF4-FFF2-40B4-BE49-F238E27FC236}">
                <a16:creationId xmlns:a16="http://schemas.microsoft.com/office/drawing/2014/main" xmlns="" id="{A7D7FFC2-62D3-4BE0-8529-F40C1ADBD02D}"/>
              </a:ext>
            </a:extLst>
          </p:cNvPr>
          <p:cNvSpPr txBox="1"/>
          <p:nvPr userDrawn="1"/>
        </p:nvSpPr>
        <p:spPr>
          <a:xfrm>
            <a:off x="1475656" y="2767280"/>
            <a:ext cx="669674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HY견고딕" pitchFamily="18" charset="-127"/>
                <a:ea typeface="HY견고딕" pitchFamily="18" charset="-127"/>
                <a:cs typeface="Tahoma" pitchFamily="34" charset="0"/>
              </a:rPr>
              <a:t>Thank you</a:t>
            </a:r>
            <a:endParaRPr kumimoji="0" lang="ko-KR" altLang="en-US" sz="8000" spc="-1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  <a:cs typeface="Tahoma" pitchFamily="34" charset="0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xmlns="" id="{C692FB73-1543-4900-9730-CEBEC129D71A}"/>
              </a:ext>
            </a:extLst>
          </p:cNvPr>
          <p:cNvCxnSpPr>
            <a:cxnSpLocks/>
          </p:cNvCxnSpPr>
          <p:nvPr userDrawn="1"/>
        </p:nvCxnSpPr>
        <p:spPr>
          <a:xfrm>
            <a:off x="1619672" y="4221088"/>
            <a:ext cx="5472608" cy="0"/>
          </a:xfrm>
          <a:prstGeom prst="line">
            <a:avLst/>
          </a:prstGeom>
          <a:ln w="19050">
            <a:solidFill>
              <a:srgbClr val="009B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xmlns="" id="{B38D78D7-6975-4922-977D-2566434936B4}"/>
              </a:ext>
            </a:extLst>
          </p:cNvPr>
          <p:cNvCxnSpPr>
            <a:cxnSpLocks/>
          </p:cNvCxnSpPr>
          <p:nvPr userDrawn="1"/>
        </p:nvCxnSpPr>
        <p:spPr>
          <a:xfrm>
            <a:off x="1691680" y="2708920"/>
            <a:ext cx="5472608" cy="0"/>
          </a:xfrm>
          <a:prstGeom prst="line">
            <a:avLst/>
          </a:prstGeom>
          <a:ln w="19050">
            <a:solidFill>
              <a:srgbClr val="009B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4716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2025-11-03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95110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24" r:id="rId4"/>
    <p:sldLayoutId id="2147483726" r:id="rId5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JP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JP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hyperlink" Target="https://semalt.tools/ko/md5-hash-generator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8.JPG"/><Relationship Id="rId5" Type="http://schemas.openxmlformats.org/officeDocument/2006/relationships/image" Target="../media/image37.JPG"/><Relationship Id="rId4" Type="http://schemas.openxmlformats.org/officeDocument/2006/relationships/image" Target="../media/image36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 </a:t>
            </a:r>
            <a:r>
              <a:rPr lang="ko-KR" altLang="en-US" dirty="0"/>
              <a:t>암호의 이해</a:t>
            </a:r>
          </a:p>
        </p:txBody>
      </p:sp>
    </p:spTree>
    <p:extLst>
      <p:ext uri="{BB962C8B-B14F-4D97-AF65-F5344CB8AC3E}">
        <p14:creationId xmlns:p14="http://schemas.microsoft.com/office/powerpoint/2010/main" val="1913928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암호의 개념과 원리</a:t>
            </a:r>
          </a:p>
          <a:p>
            <a:r>
              <a:rPr lang="ko-KR" altLang="en-US" dirty="0"/>
              <a:t>대칭 암호화 방식</a:t>
            </a:r>
          </a:p>
          <a:p>
            <a:r>
              <a:rPr lang="ko-KR" altLang="en-US" dirty="0"/>
              <a:t>비대칭 암호화 방식</a:t>
            </a:r>
            <a:endParaRPr lang="en-US" altLang="ko-KR" dirty="0"/>
          </a:p>
          <a:p>
            <a:r>
              <a:rPr lang="ko-KR" altLang="en-US" dirty="0"/>
              <a:t>해시</a:t>
            </a:r>
          </a:p>
        </p:txBody>
      </p:sp>
    </p:spTree>
    <p:extLst>
      <p:ext uri="{BB962C8B-B14F-4D97-AF65-F5344CB8AC3E}">
        <p14:creationId xmlns:p14="http://schemas.microsoft.com/office/powerpoint/2010/main" val="3383311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7704856" cy="410445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FF0000"/>
                </a:solidFill>
              </a:rPr>
              <a:t>고전 암호</a:t>
            </a:r>
            <a:r>
              <a:rPr lang="ko-KR" altLang="en-US" dirty="0"/>
              <a:t>를 통해 암호의 원리를 이해한다</a:t>
            </a:r>
            <a:r>
              <a:rPr lang="en-US" altLang="ko-KR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FF0000"/>
                </a:solidFill>
              </a:rPr>
              <a:t>대칭 암호</a:t>
            </a:r>
            <a:r>
              <a:rPr lang="ko-KR" altLang="en-US" dirty="0"/>
              <a:t>화의 원리와 기능을 이해한다</a:t>
            </a:r>
            <a:r>
              <a:rPr lang="en-US" altLang="ko-KR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FF0000"/>
                </a:solidFill>
              </a:rPr>
              <a:t>비대칭 암호</a:t>
            </a:r>
            <a:r>
              <a:rPr lang="ko-KR" altLang="en-US" dirty="0"/>
              <a:t>화의 원리와 기능을 이해한다</a:t>
            </a:r>
            <a:r>
              <a:rPr lang="en-US" altLang="ko-KR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FF0000"/>
                </a:solidFill>
              </a:rPr>
              <a:t>해시 알고리즘</a:t>
            </a:r>
            <a:r>
              <a:rPr lang="ko-KR" altLang="en-US" dirty="0"/>
              <a:t>의 원리를 이해한다</a:t>
            </a:r>
            <a:r>
              <a:rPr lang="en-US" altLang="ko-KR" dirty="0"/>
              <a:t>.</a:t>
            </a:r>
            <a:endParaRPr lang="en-US" altLang="ko-KR" sz="1900" dirty="0"/>
          </a:p>
        </p:txBody>
      </p:sp>
    </p:spTree>
    <p:extLst>
      <p:ext uri="{BB962C8B-B14F-4D97-AF65-F5344CB8AC3E}">
        <p14:creationId xmlns:p14="http://schemas.microsoft.com/office/powerpoint/2010/main" val="1505600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암호의 개념과 원리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암호화와 </a:t>
            </a:r>
            <a:r>
              <a:rPr lang="ko-KR" altLang="en-US" dirty="0" err="1"/>
              <a:t>복호화</a:t>
            </a:r>
            <a:endParaRPr lang="en-US" altLang="ko-KR" dirty="0"/>
          </a:p>
          <a:p>
            <a:pPr lvl="1"/>
            <a:r>
              <a:rPr lang="ko-KR" altLang="en-US" dirty="0"/>
              <a:t>암호문</a:t>
            </a:r>
            <a:endParaRPr lang="en-US" altLang="ko-KR" dirty="0"/>
          </a:p>
          <a:p>
            <a:pPr lvl="2"/>
            <a:r>
              <a:rPr lang="ko-KR" altLang="en-US" dirty="0"/>
              <a:t>비밀을 유지하기 위해 당사자만 알 수 있도록 꾸민 약속 기호다 </a:t>
            </a:r>
            <a:r>
              <a:rPr lang="en-US" altLang="ko-KR" dirty="0"/>
              <a:t>(</a:t>
            </a:r>
            <a:r>
              <a:rPr lang="ko-KR" altLang="en-US" dirty="0"/>
              <a:t>이와 반대되는 말은 </a:t>
            </a:r>
            <a:r>
              <a:rPr lang="ko-KR" altLang="en-US" dirty="0" err="1"/>
              <a:t>평문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>
                <a:solidFill>
                  <a:srgbClr val="FF0000"/>
                </a:solidFill>
              </a:rPr>
              <a:t>최초의 암호</a:t>
            </a:r>
            <a:r>
              <a:rPr lang="ko-KR" altLang="en-US" dirty="0"/>
              <a:t>는 기원전 </a:t>
            </a:r>
            <a:r>
              <a:rPr lang="en-US" altLang="ko-KR" dirty="0"/>
              <a:t>480</a:t>
            </a:r>
            <a:r>
              <a:rPr lang="ko-KR" altLang="en-US" dirty="0"/>
              <a:t>년 페르시아에서 살던 데마라토스가 페르시아의 침략 계획을 </a:t>
            </a:r>
            <a:r>
              <a:rPr lang="ko-KR" altLang="en-US" dirty="0" err="1"/>
              <a:t>나무판에</a:t>
            </a:r>
            <a:r>
              <a:rPr lang="ko-KR" altLang="en-US" dirty="0"/>
              <a:t> 조각하고 </a:t>
            </a:r>
            <a:endParaRPr lang="en-US" altLang="ko-KR" dirty="0"/>
          </a:p>
          <a:p>
            <a:pPr marL="447675" lvl="2" indent="0">
              <a:buNone/>
            </a:pPr>
            <a:r>
              <a:rPr lang="ko-KR" altLang="en-US" dirty="0"/>
              <a:t>   밀랍을 발라 스파르타에 보낸 것</a:t>
            </a:r>
            <a:endParaRPr lang="en-US" altLang="ko-KR" dirty="0"/>
          </a:p>
          <a:p>
            <a:pPr lvl="2"/>
            <a:r>
              <a:rPr lang="ko-KR" altLang="en-US" dirty="0"/>
              <a:t>암호는 암호문이 노출되더라도 정보를 숨길 수 있어야 함</a:t>
            </a:r>
            <a:endParaRPr lang="en-US" altLang="ko-KR" dirty="0"/>
          </a:p>
          <a:p>
            <a:pPr lvl="3"/>
            <a:r>
              <a:rPr lang="ko-KR" altLang="en-US" dirty="0"/>
              <a:t>암호화</a:t>
            </a:r>
            <a:r>
              <a:rPr lang="en-US" altLang="ko-KR" dirty="0"/>
              <a:t>: </a:t>
            </a:r>
            <a:r>
              <a:rPr lang="ko-KR" altLang="en-US" dirty="0" err="1"/>
              <a:t>평문을</a:t>
            </a:r>
            <a:r>
              <a:rPr lang="ko-KR" altLang="en-US" dirty="0"/>
              <a:t> 암호문으로 바꾸는 것 </a:t>
            </a:r>
            <a:endParaRPr lang="en-US" altLang="ko-KR" dirty="0"/>
          </a:p>
          <a:p>
            <a:pPr lvl="3"/>
            <a:r>
              <a:rPr lang="ko-KR" altLang="en-US" dirty="0" err="1"/>
              <a:t>복호화</a:t>
            </a:r>
            <a:r>
              <a:rPr lang="en-US" altLang="ko-KR" dirty="0"/>
              <a:t>: </a:t>
            </a:r>
            <a:r>
              <a:rPr lang="ko-KR" altLang="en-US" dirty="0"/>
              <a:t>암호문을 </a:t>
            </a:r>
            <a:r>
              <a:rPr lang="ko-KR" altLang="en-US" dirty="0" err="1"/>
              <a:t>평문으로</a:t>
            </a:r>
            <a:r>
              <a:rPr lang="ko-KR" altLang="en-US" dirty="0"/>
              <a:t> 바꾸는 것 </a:t>
            </a:r>
            <a:endParaRPr lang="en-US" altLang="ko-KR" dirty="0"/>
          </a:p>
          <a:p>
            <a:pPr lvl="3"/>
            <a:r>
              <a:rPr lang="ko-KR" altLang="en-US" dirty="0"/>
              <a:t>암호화 알고리즘</a:t>
            </a:r>
            <a:r>
              <a:rPr lang="en-US" altLang="ko-KR" dirty="0"/>
              <a:t>: </a:t>
            </a:r>
            <a:r>
              <a:rPr lang="ko-KR" altLang="en-US" dirty="0"/>
              <a:t>암호화나 </a:t>
            </a:r>
            <a:r>
              <a:rPr lang="ko-KR" altLang="en-US" dirty="0" err="1"/>
              <a:t>복호화를</a:t>
            </a:r>
            <a:r>
              <a:rPr lang="ko-KR" altLang="en-US" dirty="0"/>
              <a:t> 수행할 때 양쪽이 알고 있어야 할 수단 </a:t>
            </a:r>
            <a:endParaRPr lang="en-US" altLang="ko-KR" dirty="0"/>
          </a:p>
          <a:p>
            <a:pPr lvl="3"/>
            <a:r>
              <a:rPr lang="ko-KR" altLang="en-US" dirty="0"/>
              <a:t>암호화 키</a:t>
            </a:r>
            <a:r>
              <a:rPr lang="en-US" altLang="ko-KR" dirty="0"/>
              <a:t>: </a:t>
            </a:r>
            <a:r>
              <a:rPr lang="ko-KR" altLang="en-US" dirty="0"/>
              <a:t>약속한 규칙 </a:t>
            </a:r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000" y="4293096"/>
            <a:ext cx="6449392" cy="194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672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암호의 개념과 원리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암호화와 </a:t>
            </a:r>
            <a:r>
              <a:rPr lang="ko-KR" altLang="en-US" dirty="0" err="1"/>
              <a:t>복호화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암호화 방식 </a:t>
            </a:r>
            <a:r>
              <a:rPr lang="en-US" altLang="ko-KR" dirty="0"/>
              <a:t>- </a:t>
            </a:r>
            <a:r>
              <a:rPr lang="ko-KR" altLang="en-US" dirty="0" err="1"/>
              <a:t>전치법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단순히 메시지에 들어 있는 </a:t>
            </a:r>
            <a:r>
              <a:rPr lang="ko-KR" altLang="en-US" dirty="0">
                <a:solidFill>
                  <a:srgbClr val="FF0000"/>
                </a:solidFill>
              </a:rPr>
              <a:t>문자 위치를 바꾸는 </a:t>
            </a:r>
            <a:r>
              <a:rPr lang="ko-KR" altLang="en-US" dirty="0"/>
              <a:t>방법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미리 정해둔 문자 배열 규칙으로 암호화와 </a:t>
            </a:r>
            <a:r>
              <a:rPr lang="ko-KR" altLang="en-US" dirty="0" err="1"/>
              <a:t>복호화</a:t>
            </a:r>
            <a:r>
              <a:rPr lang="ko-KR" altLang="en-US" dirty="0"/>
              <a:t> 수행</a:t>
            </a:r>
          </a:p>
          <a:p>
            <a:pPr lvl="2">
              <a:defRPr/>
            </a:pPr>
            <a:r>
              <a:rPr lang="ko-KR" altLang="en-US" dirty="0"/>
              <a:t>스파르타에서 군사용으로 사용하던 </a:t>
            </a:r>
            <a:r>
              <a:rPr lang="ko-KR" altLang="en-US" dirty="0">
                <a:solidFill>
                  <a:srgbClr val="FF0000"/>
                </a:solidFill>
              </a:rPr>
              <a:t>봉 암호화</a:t>
            </a:r>
            <a:r>
              <a:rPr lang="ko-KR" altLang="en-US" dirty="0"/>
              <a:t>도 </a:t>
            </a:r>
            <a:r>
              <a:rPr lang="ko-KR" altLang="en-US" dirty="0" err="1"/>
              <a:t>전치법의</a:t>
            </a:r>
            <a:r>
              <a:rPr lang="ko-KR" altLang="en-US" dirty="0"/>
              <a:t> 일종 </a:t>
            </a:r>
            <a:r>
              <a:rPr lang="en-US" altLang="ko-KR" dirty="0"/>
              <a:t>(</a:t>
            </a:r>
            <a:r>
              <a:rPr lang="ko-KR" altLang="en-US" dirty="0" err="1"/>
              <a:t>키테일</a:t>
            </a:r>
            <a:r>
              <a:rPr lang="ko-KR" altLang="en-US" dirty="0"/>
              <a:t> 암호화</a:t>
            </a:r>
            <a:r>
              <a:rPr lang="en-US" altLang="ko-KR" dirty="0"/>
              <a:t>)</a:t>
            </a:r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r>
              <a:rPr lang="ko-KR" altLang="en-US" dirty="0"/>
              <a:t>암호화 방식</a:t>
            </a:r>
            <a:r>
              <a:rPr lang="en-US" altLang="ko-KR" dirty="0"/>
              <a:t>-</a:t>
            </a:r>
            <a:r>
              <a:rPr lang="ko-KR" altLang="en-US" dirty="0" err="1"/>
              <a:t>대체법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메시지의 글자를 </a:t>
            </a:r>
            <a:r>
              <a:rPr lang="ko-KR" altLang="en-US" dirty="0">
                <a:solidFill>
                  <a:srgbClr val="FF0000"/>
                </a:solidFill>
              </a:rPr>
              <a:t>다른 글자로 대체</a:t>
            </a:r>
            <a:r>
              <a:rPr lang="ko-KR" altLang="en-US" dirty="0"/>
              <a:t>하여 암호화하는 방법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적절한 배합을 찾으면 쉽게 </a:t>
            </a:r>
            <a:r>
              <a:rPr lang="ko-KR" altLang="en-US" dirty="0" err="1"/>
              <a:t>복호화할</a:t>
            </a:r>
            <a:r>
              <a:rPr lang="ko-KR" altLang="en-US" dirty="0"/>
              <a:t> 수 있는 </a:t>
            </a:r>
            <a:r>
              <a:rPr lang="ko-KR" altLang="en-US" dirty="0" err="1"/>
              <a:t>전치법의</a:t>
            </a:r>
            <a:r>
              <a:rPr lang="ko-KR" altLang="en-US" dirty="0"/>
              <a:t> 문제를 해결하기 위해 등장</a:t>
            </a:r>
            <a:endParaRPr lang="en-US" altLang="ko-KR" dirty="0"/>
          </a:p>
          <a:p>
            <a:pPr lvl="2">
              <a:defRPr/>
            </a:pPr>
            <a:r>
              <a:rPr lang="ko-KR" altLang="en-US" dirty="0">
                <a:solidFill>
                  <a:srgbClr val="FF0000"/>
                </a:solidFill>
              </a:rPr>
              <a:t>단일</a:t>
            </a:r>
            <a:r>
              <a:rPr lang="ko-KR" altLang="en-US" dirty="0"/>
              <a:t> 치환과 </a:t>
            </a:r>
            <a:r>
              <a:rPr lang="ko-KR" altLang="en-US" dirty="0">
                <a:solidFill>
                  <a:srgbClr val="FF0000"/>
                </a:solidFill>
              </a:rPr>
              <a:t>다중</a:t>
            </a:r>
            <a:r>
              <a:rPr lang="ko-KR" altLang="en-US" dirty="0"/>
              <a:t> 치환으로 나눌 수 있음</a:t>
            </a:r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4509120"/>
            <a:ext cx="2257662" cy="172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626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암호의 개념과 원리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단일 치환 암호화</a:t>
            </a:r>
            <a:endParaRPr lang="en-US" altLang="ko-KR" dirty="0"/>
          </a:p>
          <a:p>
            <a:pPr lvl="2"/>
            <a:r>
              <a:rPr lang="ko-KR" altLang="en-US" dirty="0"/>
              <a:t>알파벳 한 글자를 다른 하나의 글자로 대체하는 방식</a:t>
            </a:r>
            <a:endParaRPr lang="en-US" altLang="ko-KR" dirty="0"/>
          </a:p>
          <a:p>
            <a:pPr lvl="2"/>
            <a:r>
              <a:rPr lang="ko-KR" altLang="en-US" dirty="0" err="1"/>
              <a:t>시저</a:t>
            </a:r>
            <a:r>
              <a:rPr lang="ko-KR" altLang="en-US" dirty="0"/>
              <a:t> 암호화</a:t>
            </a:r>
            <a:r>
              <a:rPr lang="en-US" altLang="ko-KR" dirty="0"/>
              <a:t>, </a:t>
            </a:r>
            <a:r>
              <a:rPr lang="ko-KR" altLang="en-US" dirty="0" err="1"/>
              <a:t>모노</a:t>
            </a:r>
            <a:r>
              <a:rPr lang="ko-KR" altLang="en-US" dirty="0"/>
              <a:t> </a:t>
            </a:r>
            <a:r>
              <a:rPr lang="ko-KR" altLang="en-US" dirty="0" err="1"/>
              <a:t>알파베틱</a:t>
            </a:r>
            <a:r>
              <a:rPr lang="ko-KR" altLang="en-US" dirty="0"/>
              <a:t> 암호화가 있음</a:t>
            </a:r>
            <a:endParaRPr lang="en-US" altLang="ko-KR" dirty="0"/>
          </a:p>
          <a:p>
            <a:pPr lvl="2"/>
            <a:endParaRPr lang="en-US" altLang="ko-KR" sz="100" dirty="0"/>
          </a:p>
          <a:p>
            <a:pPr lvl="1"/>
            <a:r>
              <a:rPr lang="ko-KR" altLang="en-US" dirty="0" err="1"/>
              <a:t>시저</a:t>
            </a:r>
            <a:r>
              <a:rPr lang="ko-KR" altLang="en-US" dirty="0"/>
              <a:t> 암호화</a:t>
            </a:r>
          </a:p>
          <a:p>
            <a:pPr lvl="2"/>
            <a:r>
              <a:rPr lang="ko-KR" altLang="en-US" dirty="0"/>
              <a:t>알파벳 스물여섯 자를 </a:t>
            </a:r>
            <a:r>
              <a:rPr lang="ko-KR" altLang="en-US" dirty="0">
                <a:solidFill>
                  <a:srgbClr val="FF0000"/>
                </a:solidFill>
              </a:rPr>
              <a:t>세 자 또는 네 자씩 오른쪽으로 이동</a:t>
            </a:r>
            <a:r>
              <a:rPr lang="ko-KR" altLang="en-US" dirty="0"/>
              <a:t>한 뒤 해당되는 글자로 변환하여 암호화하는 것</a:t>
            </a:r>
          </a:p>
          <a:p>
            <a:pPr lvl="2"/>
            <a:r>
              <a:rPr lang="en-US" altLang="ko-KR" dirty="0"/>
              <a:t>500</a:t>
            </a:r>
            <a:r>
              <a:rPr lang="ko-KR" altLang="en-US" dirty="0"/>
              <a:t>년 동안이나 사용된 방법이지만</a:t>
            </a:r>
            <a:r>
              <a:rPr lang="en-US" altLang="ko-KR" dirty="0"/>
              <a:t>, </a:t>
            </a:r>
            <a:r>
              <a:rPr lang="ko-KR" altLang="en-US" dirty="0"/>
              <a:t>암호화가 가능한 경우의 수가 </a:t>
            </a:r>
            <a:r>
              <a:rPr lang="en-US" altLang="ko-KR" dirty="0"/>
              <a:t>26</a:t>
            </a:r>
            <a:r>
              <a:rPr lang="ko-KR" altLang="en-US" dirty="0"/>
              <a:t>에 불과한 매우 취약한 방식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 err="1"/>
              <a:t>모노</a:t>
            </a:r>
            <a:r>
              <a:rPr lang="ko-KR" altLang="en-US" dirty="0"/>
              <a:t> </a:t>
            </a:r>
            <a:r>
              <a:rPr lang="ko-KR" altLang="en-US" dirty="0" err="1"/>
              <a:t>알파베틱</a:t>
            </a:r>
            <a:r>
              <a:rPr lang="ko-KR" altLang="en-US" dirty="0"/>
              <a:t> 암호화</a:t>
            </a:r>
          </a:p>
          <a:p>
            <a:pPr lvl="2"/>
            <a:r>
              <a:rPr lang="ko-KR" altLang="en-US" dirty="0"/>
              <a:t>알파벳 스물여섯 자를 </a:t>
            </a:r>
            <a:r>
              <a:rPr lang="ko-KR" altLang="en-US" dirty="0">
                <a:solidFill>
                  <a:srgbClr val="FF0000"/>
                </a:solidFill>
              </a:rPr>
              <a:t>각각 다른 알파벳에 대응</a:t>
            </a:r>
            <a:r>
              <a:rPr lang="ko-KR" altLang="en-US" dirty="0"/>
              <a:t>시켜 알파벳을 암호화하는 것</a:t>
            </a:r>
          </a:p>
          <a:p>
            <a:pPr lvl="2"/>
            <a:r>
              <a:rPr lang="ko-KR" altLang="en-US" dirty="0" err="1"/>
              <a:t>모노</a:t>
            </a:r>
            <a:r>
              <a:rPr lang="ko-KR" altLang="en-US" dirty="0"/>
              <a:t> </a:t>
            </a:r>
            <a:r>
              <a:rPr lang="ko-KR" altLang="en-US" dirty="0" err="1"/>
              <a:t>알파베틱</a:t>
            </a:r>
            <a:r>
              <a:rPr lang="ko-KR" altLang="en-US" dirty="0"/>
              <a:t> 암호문을 </a:t>
            </a:r>
            <a:r>
              <a:rPr lang="ko-KR" altLang="en-US" dirty="0" err="1"/>
              <a:t>복호화하려면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rgbClr val="FF0000"/>
                </a:solidFill>
              </a:rPr>
              <a:t>알파벳 </a:t>
            </a:r>
            <a:r>
              <a:rPr lang="ko-KR" altLang="en-US" dirty="0" err="1">
                <a:solidFill>
                  <a:srgbClr val="FF0000"/>
                </a:solidFill>
              </a:rPr>
              <a:t>대칭표</a:t>
            </a:r>
            <a:r>
              <a:rPr lang="ko-KR" altLang="en-US" dirty="0" err="1"/>
              <a:t>가</a:t>
            </a:r>
            <a:r>
              <a:rPr lang="ko-KR" altLang="en-US" dirty="0"/>
              <a:t> 있어야 함</a:t>
            </a:r>
            <a:endParaRPr lang="en-US" altLang="ko-KR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2598" y="3140968"/>
            <a:ext cx="5724128" cy="82010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4649" y="5445224"/>
            <a:ext cx="5754897" cy="10352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0C8738A-94F4-4E56-BA81-22C03B0C272F}"/>
              </a:ext>
            </a:extLst>
          </p:cNvPr>
          <p:cNvSpPr txBox="1"/>
          <p:nvPr/>
        </p:nvSpPr>
        <p:spPr>
          <a:xfrm>
            <a:off x="7071216" y="5688233"/>
            <a:ext cx="165080" cy="2462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P</a:t>
            </a:r>
            <a:endParaRPr lang="ko-KR" altLang="en-US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C2676AB3-774D-4BFE-BCD1-88E81727C08C}"/>
              </a:ext>
            </a:extLst>
          </p:cNvPr>
          <p:cNvSpPr txBox="1"/>
          <p:nvPr/>
        </p:nvSpPr>
        <p:spPr>
          <a:xfrm>
            <a:off x="7287666" y="5692785"/>
            <a:ext cx="165080" cy="2462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Q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668505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암호의 개념과 원리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단일 치환 암호화</a:t>
            </a:r>
            <a:endParaRPr lang="en-US" altLang="ko-KR" dirty="0"/>
          </a:p>
          <a:p>
            <a:pPr lvl="1"/>
            <a:r>
              <a:rPr lang="ko-KR" altLang="en-US" dirty="0"/>
              <a:t>단일 치환 암호화의 특징</a:t>
            </a:r>
            <a:endParaRPr lang="en-US" altLang="ko-KR" dirty="0"/>
          </a:p>
          <a:p>
            <a:pPr lvl="2"/>
            <a:r>
              <a:rPr lang="ko-KR" altLang="en-US" dirty="0"/>
              <a:t>단일 치환 </a:t>
            </a:r>
            <a:r>
              <a:rPr lang="ko-KR" altLang="en-US" dirty="0" err="1"/>
              <a:t>암호법은</a:t>
            </a:r>
            <a:r>
              <a:rPr lang="ko-KR" altLang="en-US" dirty="0"/>
              <a:t> 키워드를 몰라도 복호화가 가능</a:t>
            </a:r>
            <a:endParaRPr lang="en-US" altLang="ko-KR" dirty="0"/>
          </a:p>
          <a:p>
            <a:pPr lvl="2"/>
            <a:r>
              <a:rPr lang="ko-KR" altLang="en-US" dirty="0">
                <a:solidFill>
                  <a:srgbClr val="FF0000"/>
                </a:solidFill>
              </a:rPr>
              <a:t>빈도 분석법</a:t>
            </a:r>
            <a:r>
              <a:rPr lang="en-US" altLang="ko-KR" dirty="0"/>
              <a:t>:</a:t>
            </a:r>
            <a:r>
              <a:rPr lang="ko-KR" altLang="en-US" dirty="0"/>
              <a:t> 알파벳 스물여섯 자가 문장에서 비슷한 빈도로 사용된다는 통계에서 착안한 것</a:t>
            </a:r>
            <a:endParaRPr lang="en-US" altLang="ko-KR" dirty="0"/>
          </a:p>
          <a:p>
            <a:pPr lvl="2"/>
            <a:r>
              <a:rPr lang="ko-KR" altLang="en-US" dirty="0"/>
              <a:t>단일 치환 </a:t>
            </a:r>
            <a:r>
              <a:rPr lang="ko-KR" altLang="en-US" dirty="0" err="1"/>
              <a:t>암호법의</a:t>
            </a:r>
            <a:r>
              <a:rPr lang="ko-KR" altLang="en-US" dirty="0"/>
              <a:t> 암호문에 사용된 알파벳의 빈도를 계산해서 통계와 비교해 알파벳을 확인할 수 있음</a:t>
            </a:r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873" y="3501008"/>
            <a:ext cx="6669578" cy="2818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930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암호의 개념과 원리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90266" cy="5400600"/>
          </a:xfrm>
        </p:spPr>
        <p:txBody>
          <a:bodyPr/>
          <a:lstStyle/>
          <a:p>
            <a:r>
              <a:rPr lang="ko-KR" altLang="en-US" dirty="0"/>
              <a:t>다중 치환 암호화</a:t>
            </a:r>
            <a:endParaRPr lang="en-US" altLang="ko-KR" dirty="0"/>
          </a:p>
          <a:p>
            <a:pPr lvl="2"/>
            <a:r>
              <a:rPr lang="ko-KR" altLang="en-US" dirty="0"/>
              <a:t>암호화 키와의 매핑에 따라 </a:t>
            </a:r>
            <a:r>
              <a:rPr lang="ko-KR" altLang="en-US" dirty="0">
                <a:solidFill>
                  <a:srgbClr val="FF0000"/>
                </a:solidFill>
              </a:rPr>
              <a:t>알파벳 하나가 여러 가지 다른 알파벳으로 대체</a:t>
            </a:r>
            <a:r>
              <a:rPr lang="ko-KR" altLang="en-US" dirty="0"/>
              <a:t>되어 </a:t>
            </a:r>
            <a:r>
              <a:rPr lang="ko-KR" altLang="en-US" dirty="0" err="1"/>
              <a:t>암호화되는</a:t>
            </a:r>
            <a:r>
              <a:rPr lang="ko-KR" altLang="en-US" dirty="0"/>
              <a:t> 것</a:t>
            </a:r>
            <a:endParaRPr lang="en-US" altLang="ko-KR" dirty="0"/>
          </a:p>
          <a:p>
            <a:pPr lvl="2"/>
            <a:endParaRPr lang="ko-KR" altLang="en-US" sz="100" dirty="0"/>
          </a:p>
          <a:p>
            <a:pPr lvl="1"/>
            <a:r>
              <a:rPr lang="ko-KR" altLang="en-US" dirty="0" err="1"/>
              <a:t>비즈네르</a:t>
            </a:r>
            <a:r>
              <a:rPr lang="ko-KR" altLang="en-US" dirty="0"/>
              <a:t> 암호화</a:t>
            </a:r>
          </a:p>
          <a:p>
            <a:pPr lvl="2"/>
            <a:r>
              <a:rPr lang="en-US" altLang="ko-KR" sz="1100" dirty="0"/>
              <a:t>26×26</a:t>
            </a:r>
            <a:r>
              <a:rPr lang="ko-KR" altLang="en-US" sz="1100" dirty="0"/>
              <a:t>의 알파벳 </a:t>
            </a:r>
            <a:r>
              <a:rPr lang="ko-KR" altLang="en-US" sz="1100" dirty="0" err="1"/>
              <a:t>대칭표를</a:t>
            </a:r>
            <a:r>
              <a:rPr lang="ko-KR" altLang="en-US" sz="1100" dirty="0"/>
              <a:t> 이용하여 암호화하고자 하는 </a:t>
            </a:r>
            <a:r>
              <a:rPr lang="ko-KR" altLang="en-US" sz="1100" dirty="0" err="1"/>
              <a:t>평문과</a:t>
            </a:r>
            <a:r>
              <a:rPr lang="ko-KR" altLang="en-US" sz="1100" dirty="0"/>
              <a:t> 암호화 키를 매핑하고 암호화와 </a:t>
            </a:r>
            <a:r>
              <a:rPr lang="ko-KR" altLang="en-US" sz="1100" dirty="0" err="1"/>
              <a:t>복호화를</a:t>
            </a:r>
            <a:r>
              <a:rPr lang="ko-KR" altLang="en-US" sz="1100" dirty="0"/>
              <a:t> 수행하는 방식</a:t>
            </a:r>
            <a:endParaRPr lang="en-US" altLang="ko-KR" sz="1000" dirty="0"/>
          </a:p>
          <a:p>
            <a:pPr lvl="2"/>
            <a:r>
              <a:rPr lang="en-US" altLang="ko-KR" dirty="0"/>
              <a:t>16</a:t>
            </a:r>
            <a:r>
              <a:rPr lang="ko-KR" altLang="en-US" dirty="0"/>
              <a:t>세기에 프랑스 외교관 </a:t>
            </a:r>
            <a:r>
              <a:rPr lang="ko-KR" altLang="en-US" dirty="0" err="1">
                <a:solidFill>
                  <a:srgbClr val="FF0000"/>
                </a:solidFill>
              </a:rPr>
              <a:t>블레즈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ko-KR" altLang="en-US" dirty="0" err="1">
                <a:solidFill>
                  <a:srgbClr val="FF0000"/>
                </a:solidFill>
              </a:rPr>
              <a:t>비즈네르</a:t>
            </a:r>
            <a:r>
              <a:rPr lang="ko-KR" altLang="en-US" dirty="0" err="1"/>
              <a:t>가</a:t>
            </a:r>
            <a:r>
              <a:rPr lang="ko-KR" altLang="en-US" dirty="0"/>
              <a:t> </a:t>
            </a:r>
            <a:r>
              <a:rPr lang="ko-KR" altLang="en-US" dirty="0" err="1"/>
              <a:t>만듬</a:t>
            </a:r>
            <a:endParaRPr lang="en-US" altLang="ko-KR" dirty="0"/>
          </a:p>
          <a:p>
            <a:pPr lvl="2"/>
            <a:r>
              <a:rPr lang="ko-KR" altLang="en-US" dirty="0"/>
              <a:t>암호문에 사용된 문자의 빈도가 일반적인 문자의 빈도 통계와 일치하지 않아 앞서 살펴본 단순한 </a:t>
            </a:r>
            <a:r>
              <a:rPr lang="ko-KR" altLang="en-US" dirty="0">
                <a:solidFill>
                  <a:srgbClr val="FF0000"/>
                </a:solidFill>
              </a:rPr>
              <a:t>빈도 </a:t>
            </a:r>
            <a:endParaRPr lang="en-US" altLang="ko-KR" dirty="0">
              <a:solidFill>
                <a:srgbClr val="FF0000"/>
              </a:solidFill>
            </a:endParaRPr>
          </a:p>
          <a:p>
            <a:pPr marL="447675" lvl="2" indent="0">
              <a:buNone/>
            </a:pPr>
            <a:r>
              <a:rPr lang="en-US" altLang="ko-KR" dirty="0">
                <a:solidFill>
                  <a:srgbClr val="FF0000"/>
                </a:solidFill>
              </a:rPr>
              <a:t>   </a:t>
            </a:r>
            <a:r>
              <a:rPr lang="ko-KR" altLang="en-US" dirty="0">
                <a:solidFill>
                  <a:srgbClr val="FF0000"/>
                </a:solidFill>
              </a:rPr>
              <a:t>분석법으로는 암호문을 풀 수 없음</a:t>
            </a:r>
            <a:endParaRPr lang="en-US" altLang="ko-KR" dirty="0">
              <a:solidFill>
                <a:srgbClr val="FF0000"/>
              </a:solidFill>
            </a:endParaRPr>
          </a:p>
          <a:p>
            <a:pPr lvl="2"/>
            <a:r>
              <a:rPr lang="ko-KR" altLang="en-US" dirty="0" err="1"/>
              <a:t>비즈네르</a:t>
            </a:r>
            <a:r>
              <a:rPr lang="ko-KR" altLang="en-US" dirty="0"/>
              <a:t> 암호화 방식은 </a:t>
            </a:r>
            <a:r>
              <a:rPr lang="en-US" altLang="ko-KR" dirty="0"/>
              <a:t>17~18</a:t>
            </a:r>
            <a:r>
              <a:rPr lang="ko-KR" altLang="en-US" dirty="0"/>
              <a:t>세기에 널리 사용되었으나 완전하지는 않았음</a:t>
            </a:r>
            <a:endParaRPr lang="en-US" altLang="ko-KR" dirty="0"/>
          </a:p>
          <a:p>
            <a:pPr lvl="2"/>
            <a:r>
              <a:rPr lang="en-US" altLang="ko-KR" dirty="0"/>
              <a:t>19</a:t>
            </a:r>
            <a:r>
              <a:rPr lang="ko-KR" altLang="en-US" dirty="0"/>
              <a:t>세기에 </a:t>
            </a:r>
            <a:r>
              <a:rPr lang="ko-KR" altLang="en-US" dirty="0">
                <a:solidFill>
                  <a:srgbClr val="FF0000"/>
                </a:solidFill>
              </a:rPr>
              <a:t>찰스 </a:t>
            </a:r>
            <a:r>
              <a:rPr lang="ko-KR" altLang="en-US" dirty="0" err="1">
                <a:solidFill>
                  <a:srgbClr val="FF0000"/>
                </a:solidFill>
              </a:rPr>
              <a:t>배비지</a:t>
            </a:r>
            <a:r>
              <a:rPr lang="ko-KR" altLang="en-US" dirty="0" err="1"/>
              <a:t>는</a:t>
            </a:r>
            <a:r>
              <a:rPr lang="ko-KR" altLang="en-US" dirty="0"/>
              <a:t> 빈도 분석법을 이용하여 규칙성을 찾는 방법으로 </a:t>
            </a:r>
            <a:r>
              <a:rPr lang="ko-KR" altLang="en-US" dirty="0" err="1"/>
              <a:t>비즈네르</a:t>
            </a:r>
            <a:r>
              <a:rPr lang="ko-KR" altLang="en-US" dirty="0"/>
              <a:t> 암호를 </a:t>
            </a:r>
            <a:r>
              <a:rPr lang="ko-KR" altLang="en-US" dirty="0" err="1"/>
              <a:t>복호화</a:t>
            </a:r>
            <a:endParaRPr lang="en-US" altLang="ko-KR" dirty="0"/>
          </a:p>
          <a:p>
            <a:pPr lvl="2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66327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암호의 개념과 원리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90266" cy="5400600"/>
          </a:xfrm>
        </p:spPr>
        <p:txBody>
          <a:bodyPr/>
          <a:lstStyle/>
          <a:p>
            <a:r>
              <a:rPr lang="ko-KR" altLang="en-US" dirty="0"/>
              <a:t>다중 치환 암호화</a:t>
            </a:r>
            <a:endParaRPr lang="ko-KR" altLang="en-US" sz="100" dirty="0"/>
          </a:p>
          <a:p>
            <a:pPr lvl="1"/>
            <a:r>
              <a:rPr lang="ko-KR" altLang="en-US" dirty="0" err="1"/>
              <a:t>비즈네르</a:t>
            </a:r>
            <a:r>
              <a:rPr lang="ko-KR" altLang="en-US" dirty="0"/>
              <a:t> 암호화</a:t>
            </a:r>
          </a:p>
          <a:p>
            <a:pPr lvl="2"/>
            <a:r>
              <a:rPr lang="ko-KR" altLang="en-US" dirty="0"/>
              <a:t>암호화 과정</a:t>
            </a:r>
            <a:endParaRPr lang="en-US" altLang="ko-KR" dirty="0"/>
          </a:p>
          <a:p>
            <a:pPr lvl="3"/>
            <a:r>
              <a:rPr lang="ko-KR" altLang="en-US" dirty="0"/>
              <a:t>암호화하려는 </a:t>
            </a:r>
            <a:r>
              <a:rPr lang="ko-KR" altLang="en-US" dirty="0" err="1"/>
              <a:t>평문</a:t>
            </a:r>
            <a:r>
              <a:rPr lang="en-US" altLang="ko-KR" dirty="0"/>
              <a:t>:</a:t>
            </a:r>
            <a:r>
              <a:rPr lang="ko-KR" altLang="en-US" dirty="0"/>
              <a:t> ‘</a:t>
            </a:r>
            <a:r>
              <a:rPr lang="en-US" altLang="ko-KR" dirty="0"/>
              <a:t>wish to be free from myself’ </a:t>
            </a:r>
          </a:p>
          <a:p>
            <a:pPr lvl="3"/>
            <a:r>
              <a:rPr lang="ko-KR" altLang="en-US" dirty="0"/>
              <a:t>암호화 키</a:t>
            </a:r>
            <a:r>
              <a:rPr lang="en-US" altLang="ko-KR" dirty="0"/>
              <a:t>:</a:t>
            </a:r>
            <a:r>
              <a:rPr lang="ko-KR" altLang="en-US" dirty="0"/>
              <a:t> ‘</a:t>
            </a:r>
            <a:r>
              <a:rPr lang="en-US" altLang="ko-KR" dirty="0"/>
              <a:t>secret is beautiful’</a:t>
            </a:r>
          </a:p>
          <a:p>
            <a:pPr lvl="3"/>
            <a:endParaRPr lang="en-US" altLang="ko-KR" sz="100" dirty="0"/>
          </a:p>
          <a:p>
            <a:pPr lvl="3"/>
            <a:r>
              <a:rPr lang="ko-KR" altLang="en-US" dirty="0" err="1">
                <a:solidFill>
                  <a:srgbClr val="FF0000"/>
                </a:solidFill>
              </a:rPr>
              <a:t>평문</a:t>
            </a:r>
            <a:r>
              <a:rPr lang="ko-KR" altLang="en-US" dirty="0" err="1"/>
              <a:t>의</a:t>
            </a:r>
            <a:r>
              <a:rPr lang="ko-KR" altLang="en-US" dirty="0"/>
              <a:t> 첫 문자인 </a:t>
            </a:r>
            <a:r>
              <a:rPr lang="en-US" altLang="ko-KR" dirty="0"/>
              <a:t>w</a:t>
            </a:r>
            <a:r>
              <a:rPr lang="ko-KR" altLang="en-US" dirty="0"/>
              <a:t>를 </a:t>
            </a:r>
            <a:r>
              <a:rPr lang="ko-KR" altLang="en-US" dirty="0" err="1">
                <a:solidFill>
                  <a:srgbClr val="FF0000"/>
                </a:solidFill>
              </a:rPr>
              <a:t>비즈네르</a:t>
            </a:r>
            <a:r>
              <a:rPr lang="ko-KR" altLang="en-US" dirty="0">
                <a:solidFill>
                  <a:srgbClr val="FF0000"/>
                </a:solidFill>
              </a:rPr>
              <a:t> 표의 가로축</a:t>
            </a:r>
            <a:r>
              <a:rPr lang="ko-KR" altLang="en-US" dirty="0"/>
              <a:t>에서 찾고 </a:t>
            </a:r>
            <a:endParaRPr lang="en-US" altLang="ko-KR" dirty="0"/>
          </a:p>
          <a:p>
            <a:pPr marL="628650" lvl="3" indent="0">
              <a:buNone/>
            </a:pPr>
            <a:r>
              <a:rPr lang="ko-KR" altLang="en-US" dirty="0"/>
              <a:t>    </a:t>
            </a:r>
            <a:r>
              <a:rPr lang="ko-KR" altLang="en-US" dirty="0">
                <a:solidFill>
                  <a:srgbClr val="FF0000"/>
                </a:solidFill>
              </a:rPr>
              <a:t>암호화 키</a:t>
            </a:r>
            <a:r>
              <a:rPr lang="ko-KR" altLang="en-US" dirty="0"/>
              <a:t>의 첫 문자인 </a:t>
            </a:r>
            <a:r>
              <a:rPr lang="en-US" altLang="ko-KR" dirty="0"/>
              <a:t>s</a:t>
            </a:r>
            <a:r>
              <a:rPr lang="ko-KR" altLang="en-US" dirty="0"/>
              <a:t>를 </a:t>
            </a:r>
            <a:r>
              <a:rPr lang="ko-KR" altLang="en-US" dirty="0">
                <a:solidFill>
                  <a:srgbClr val="FF0000"/>
                </a:solidFill>
              </a:rPr>
              <a:t>세로축</a:t>
            </a:r>
            <a:r>
              <a:rPr lang="ko-KR" altLang="en-US" dirty="0"/>
              <a:t> 에서 찾으면 </a:t>
            </a:r>
            <a:r>
              <a:rPr lang="en-US" altLang="ko-KR" dirty="0"/>
              <a:t>O</a:t>
            </a:r>
            <a:r>
              <a:rPr lang="ko-KR" altLang="en-US" dirty="0"/>
              <a:t>에 대칭</a:t>
            </a:r>
            <a:endParaRPr lang="en-US" altLang="ko-KR" dirty="0"/>
          </a:p>
          <a:p>
            <a:pPr lvl="3"/>
            <a:endParaRPr lang="en-US" altLang="ko-KR" sz="100" dirty="0"/>
          </a:p>
          <a:p>
            <a:pPr lvl="3"/>
            <a:r>
              <a:rPr lang="ko-KR" altLang="en-US" dirty="0" err="1"/>
              <a:t>평문의</a:t>
            </a:r>
            <a:r>
              <a:rPr lang="ko-KR" altLang="en-US" dirty="0"/>
              <a:t> 두 번째 문자 </a:t>
            </a:r>
            <a:r>
              <a:rPr lang="en-US" altLang="ko-KR" dirty="0" err="1"/>
              <a:t>i</a:t>
            </a:r>
            <a:r>
              <a:rPr lang="ko-KR" altLang="en-US" dirty="0"/>
              <a:t>와 암호화 키의 두 번째 문자 </a:t>
            </a:r>
            <a:r>
              <a:rPr lang="en-US" altLang="ko-KR" dirty="0"/>
              <a:t>e</a:t>
            </a:r>
            <a:r>
              <a:rPr lang="ko-KR" altLang="en-US" dirty="0"/>
              <a:t>를 </a:t>
            </a:r>
            <a:endParaRPr lang="en-US" altLang="ko-KR" dirty="0"/>
          </a:p>
          <a:p>
            <a:pPr marL="628650" lvl="3" indent="0">
              <a:buNone/>
            </a:pPr>
            <a:r>
              <a:rPr lang="en-US" altLang="ko-KR" dirty="0"/>
              <a:t>    </a:t>
            </a:r>
            <a:r>
              <a:rPr lang="ko-KR" altLang="en-US" dirty="0" err="1"/>
              <a:t>비즈네르</a:t>
            </a:r>
            <a:r>
              <a:rPr lang="ko-KR" altLang="en-US" dirty="0"/>
              <a:t> 표에서 찾으면 </a:t>
            </a:r>
            <a:r>
              <a:rPr lang="en-US" altLang="ko-KR" dirty="0"/>
              <a:t>M</a:t>
            </a:r>
            <a:r>
              <a:rPr lang="ko-KR" altLang="en-US" dirty="0"/>
              <a:t>에 대칭</a:t>
            </a:r>
            <a:endParaRPr lang="en-US" altLang="ko-KR" dirty="0"/>
          </a:p>
          <a:p>
            <a:pPr marL="628650" lvl="3" indent="0">
              <a:buNone/>
            </a:pPr>
            <a:endParaRPr lang="en-US" altLang="ko-KR" sz="100" dirty="0"/>
          </a:p>
          <a:p>
            <a:pPr lvl="3"/>
            <a:r>
              <a:rPr lang="ko-KR" altLang="en-US" dirty="0" err="1"/>
              <a:t>평문</a:t>
            </a:r>
            <a:r>
              <a:rPr lang="ko-KR" altLang="en-US" dirty="0"/>
              <a:t> ‘</a:t>
            </a:r>
            <a:r>
              <a:rPr lang="en-US" altLang="ko-KR" dirty="0"/>
              <a:t>wish to be free from myself’</a:t>
            </a:r>
            <a:r>
              <a:rPr lang="ko-KR" altLang="en-US" dirty="0"/>
              <a:t>는 </a:t>
            </a:r>
            <a:endParaRPr lang="en-US" altLang="ko-KR" dirty="0"/>
          </a:p>
          <a:p>
            <a:pPr marL="628650" lvl="3" indent="0">
              <a:buNone/>
            </a:pPr>
            <a:r>
              <a:rPr lang="ko-KR" altLang="en-US" dirty="0"/>
              <a:t>    ‘</a:t>
            </a:r>
            <a:r>
              <a:rPr lang="en-US" altLang="ko-KR" dirty="0"/>
              <a:t>OMUY XH JW GVEY YZTG XQWGCJ’ </a:t>
            </a:r>
            <a:r>
              <a:rPr lang="ko-KR" altLang="en-US" dirty="0"/>
              <a:t>라는 암호문</a:t>
            </a:r>
            <a:endParaRPr lang="en-US" altLang="ko-KR" dirty="0"/>
          </a:p>
          <a:p>
            <a:pPr marL="628650" lvl="3" indent="0">
              <a:buNone/>
            </a:pPr>
            <a:endParaRPr lang="en-US" altLang="ko-KR" dirty="0"/>
          </a:p>
          <a:p>
            <a:pPr lvl="2"/>
            <a:r>
              <a:rPr lang="ko-KR" altLang="en-US" dirty="0" err="1"/>
              <a:t>비즈네르</a:t>
            </a:r>
            <a:r>
              <a:rPr lang="ko-KR" altLang="en-US" dirty="0"/>
              <a:t> </a:t>
            </a:r>
            <a:r>
              <a:rPr lang="ko-KR" altLang="en-US" dirty="0" err="1"/>
              <a:t>복호화</a:t>
            </a:r>
            <a:r>
              <a:rPr lang="ko-KR" altLang="en-US" dirty="0"/>
              <a:t> 과정 </a:t>
            </a:r>
            <a:endParaRPr lang="en-US" altLang="ko-KR" dirty="0"/>
          </a:p>
          <a:p>
            <a:pPr lvl="3"/>
            <a:r>
              <a:rPr lang="ko-KR" altLang="en-US" dirty="0">
                <a:solidFill>
                  <a:srgbClr val="FF0000"/>
                </a:solidFill>
              </a:rPr>
              <a:t>암호화 키</a:t>
            </a:r>
            <a:r>
              <a:rPr lang="ko-KR" altLang="en-US" dirty="0"/>
              <a:t>의 첫 문자인 </a:t>
            </a:r>
            <a:r>
              <a:rPr lang="en-US" altLang="ko-KR" dirty="0"/>
              <a:t>s</a:t>
            </a:r>
            <a:r>
              <a:rPr lang="ko-KR" altLang="en-US" dirty="0"/>
              <a:t>를 </a:t>
            </a:r>
            <a:r>
              <a:rPr lang="ko-KR" altLang="en-US" dirty="0" err="1">
                <a:solidFill>
                  <a:srgbClr val="FF0000"/>
                </a:solidFill>
              </a:rPr>
              <a:t>비즈네르표의</a:t>
            </a:r>
            <a:r>
              <a:rPr lang="ko-KR" altLang="en-US" dirty="0">
                <a:solidFill>
                  <a:srgbClr val="FF0000"/>
                </a:solidFill>
              </a:rPr>
              <a:t> 가로축</a:t>
            </a:r>
            <a:r>
              <a:rPr lang="ko-KR" altLang="en-US" dirty="0"/>
              <a:t>에서 찾고 </a:t>
            </a:r>
            <a:endParaRPr lang="en-US" altLang="ko-KR" dirty="0"/>
          </a:p>
          <a:p>
            <a:pPr lvl="3"/>
            <a:r>
              <a:rPr lang="ko-KR" altLang="en-US" dirty="0"/>
              <a:t> </a:t>
            </a:r>
            <a:r>
              <a:rPr lang="ko-KR" altLang="en-US" dirty="0" err="1">
                <a:solidFill>
                  <a:srgbClr val="FF0000"/>
                </a:solidFill>
              </a:rPr>
              <a:t>평문</a:t>
            </a:r>
            <a:r>
              <a:rPr lang="ko-KR" altLang="en-US" dirty="0" err="1"/>
              <a:t>의</a:t>
            </a:r>
            <a:r>
              <a:rPr lang="ko-KR" altLang="en-US" dirty="0"/>
              <a:t> 첫 문자인 </a:t>
            </a:r>
            <a:r>
              <a:rPr lang="en-US" altLang="ko-KR" dirty="0"/>
              <a:t>w</a:t>
            </a:r>
            <a:r>
              <a:rPr lang="ko-KR" altLang="en-US" dirty="0"/>
              <a:t>를 </a:t>
            </a:r>
            <a:r>
              <a:rPr lang="ko-KR" altLang="en-US" dirty="0">
                <a:solidFill>
                  <a:srgbClr val="FF0000"/>
                </a:solidFill>
              </a:rPr>
              <a:t>세로축</a:t>
            </a:r>
            <a:r>
              <a:rPr lang="ko-KR" altLang="en-US" dirty="0"/>
              <a:t>에서 찾음</a:t>
            </a:r>
            <a:endParaRPr lang="en-US" altLang="ko-KR" dirty="0"/>
          </a:p>
          <a:p>
            <a:pPr lvl="3"/>
            <a:endParaRPr lang="en-US" altLang="ko-KR" dirty="0"/>
          </a:p>
          <a:p>
            <a:pPr lvl="2"/>
            <a:endParaRPr lang="en-US" altLang="ko-KR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064" y="1700808"/>
            <a:ext cx="3672408" cy="383372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123" y="5733256"/>
            <a:ext cx="3600000" cy="759633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5733256"/>
            <a:ext cx="3932378" cy="851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296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암호의 개념과 원리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다중 치환 암호화</a:t>
            </a:r>
            <a:endParaRPr lang="en-US" altLang="ko-KR" dirty="0"/>
          </a:p>
          <a:p>
            <a:pPr lvl="1"/>
            <a:r>
              <a:rPr lang="ko-KR" altLang="en-US" dirty="0" err="1"/>
              <a:t>플레이페어</a:t>
            </a:r>
            <a:r>
              <a:rPr lang="ko-KR" altLang="en-US" dirty="0"/>
              <a:t> 암호화</a:t>
            </a:r>
            <a:endParaRPr lang="en-US" altLang="ko-KR" dirty="0"/>
          </a:p>
          <a:p>
            <a:pPr lvl="2"/>
            <a:r>
              <a:rPr lang="en-US" altLang="ko-KR" dirty="0"/>
              <a:t>1854</a:t>
            </a:r>
            <a:r>
              <a:rPr lang="ko-KR" altLang="en-US" dirty="0"/>
              <a:t>년 </a:t>
            </a:r>
            <a:r>
              <a:rPr lang="ko-KR" altLang="en-US" dirty="0">
                <a:solidFill>
                  <a:srgbClr val="FF0000"/>
                </a:solidFill>
              </a:rPr>
              <a:t>찰스 </a:t>
            </a:r>
            <a:r>
              <a:rPr lang="ko-KR" altLang="en-US" dirty="0" err="1">
                <a:solidFill>
                  <a:srgbClr val="FF0000"/>
                </a:solidFill>
              </a:rPr>
              <a:t>휘트스톤</a:t>
            </a:r>
            <a:r>
              <a:rPr lang="ko-KR" altLang="en-US" dirty="0" err="1"/>
              <a:t>이</a:t>
            </a:r>
            <a:r>
              <a:rPr lang="ko-KR" altLang="en-US" dirty="0"/>
              <a:t> 개발했으나 초기에는 어렵다는 이유로 사용되지 않았음</a:t>
            </a:r>
            <a:endParaRPr lang="en-US" altLang="ko-KR" dirty="0"/>
          </a:p>
          <a:p>
            <a:pPr lvl="2"/>
            <a:r>
              <a:rPr lang="ko-KR" altLang="en-US" dirty="0">
                <a:solidFill>
                  <a:srgbClr val="FF0000"/>
                </a:solidFill>
              </a:rPr>
              <a:t>라이언 플레이페어</a:t>
            </a:r>
            <a:r>
              <a:rPr lang="ko-KR" altLang="en-US" dirty="0"/>
              <a:t>를 통해 널리 알려지면서 그의 이름을 따게 됨</a:t>
            </a:r>
            <a:endParaRPr lang="en-US" altLang="ko-KR" dirty="0"/>
          </a:p>
          <a:p>
            <a:pPr lvl="2"/>
            <a:r>
              <a:rPr lang="ko-KR" altLang="en-US" dirty="0"/>
              <a:t>제</a:t>
            </a:r>
            <a:r>
              <a:rPr lang="en-US" altLang="ko-KR" dirty="0"/>
              <a:t>1</a:t>
            </a:r>
            <a:r>
              <a:rPr lang="ko-KR" altLang="en-US" dirty="0"/>
              <a:t>차 세계 대전 때 영국 육군이 야전 표준 시스템으로 사용</a:t>
            </a:r>
            <a:endParaRPr lang="en-US" altLang="ko-KR" dirty="0"/>
          </a:p>
          <a:p>
            <a:pPr lvl="2"/>
            <a:r>
              <a:rPr lang="ko-KR" altLang="en-US" dirty="0"/>
              <a:t>제</a:t>
            </a:r>
            <a:r>
              <a:rPr lang="en-US" altLang="ko-KR" dirty="0"/>
              <a:t>2</a:t>
            </a:r>
            <a:r>
              <a:rPr lang="ko-KR" altLang="en-US" dirty="0"/>
              <a:t>차 세계대전 때는 미국 육군을 비롯한 연합군이 사용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en-US" altLang="ko-KR" dirty="0"/>
              <a:t>2</a:t>
            </a:r>
            <a:r>
              <a:rPr lang="ko-KR" altLang="en-US" dirty="0"/>
              <a:t>개로 이루어진 문자 쌍을 다른 문자 쌍으로 대체하는 암호화 방법</a:t>
            </a:r>
            <a:endParaRPr lang="en-US" altLang="ko-KR" dirty="0"/>
          </a:p>
          <a:p>
            <a:pPr lvl="2"/>
            <a:r>
              <a:rPr lang="ko-KR" altLang="en-US" dirty="0"/>
              <a:t>보통 정사각형 </a:t>
            </a:r>
            <a:r>
              <a:rPr lang="ko-KR" altLang="en-US" dirty="0" err="1"/>
              <a:t>암호판</a:t>
            </a:r>
            <a:r>
              <a:rPr lang="ko-KR" altLang="en-US" dirty="0"/>
              <a:t> 안에 영어 알파벳을 배열한 것으로 대체하는 방식 </a:t>
            </a:r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2924944"/>
            <a:ext cx="2597136" cy="154302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5203692"/>
            <a:ext cx="1858844" cy="148798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880" y="5744795"/>
            <a:ext cx="4945842" cy="863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0150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암호의 개념과 원리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다중 치환 암호화</a:t>
            </a:r>
            <a:endParaRPr lang="en-US" altLang="ko-KR" dirty="0"/>
          </a:p>
          <a:p>
            <a:pPr lvl="1"/>
            <a:r>
              <a:rPr lang="ko-KR" altLang="en-US" dirty="0" err="1"/>
              <a:t>플레이페어</a:t>
            </a:r>
            <a:r>
              <a:rPr lang="ko-KR" altLang="en-US" dirty="0"/>
              <a:t> 암호문 만들기</a:t>
            </a:r>
            <a:endParaRPr lang="en-US" altLang="ko-KR" dirty="0"/>
          </a:p>
          <a:p>
            <a:pPr marL="676275" lvl="2" indent="-228600">
              <a:buFont typeface="+mj-ea"/>
              <a:buAutoNum type="circleNumDbPlain"/>
            </a:pPr>
            <a:r>
              <a:rPr lang="ko-KR" altLang="en-US" dirty="0"/>
              <a:t>암호화하려는 두 문자가 </a:t>
            </a:r>
            <a:r>
              <a:rPr lang="ko-KR" altLang="en-US" dirty="0">
                <a:solidFill>
                  <a:srgbClr val="FF0000"/>
                </a:solidFill>
              </a:rPr>
              <a:t>서로 다른 행과 열에 존재</a:t>
            </a:r>
            <a:r>
              <a:rPr lang="ko-KR" altLang="en-US" dirty="0"/>
              <a:t>할 경우</a:t>
            </a:r>
            <a:r>
              <a:rPr lang="en-US" altLang="ko-KR" dirty="0"/>
              <a:t>(BE)</a:t>
            </a:r>
          </a:p>
          <a:p>
            <a:pPr lvl="3"/>
            <a:r>
              <a:rPr lang="ko-KR" altLang="en-US" dirty="0"/>
              <a:t>암호 문자는 </a:t>
            </a:r>
            <a:r>
              <a:rPr lang="en-US" altLang="ko-KR" dirty="0"/>
              <a:t>B</a:t>
            </a:r>
            <a:r>
              <a:rPr lang="ko-KR" altLang="en-US" dirty="0"/>
              <a:t>와 </a:t>
            </a:r>
            <a:r>
              <a:rPr lang="en-US" altLang="ko-KR" dirty="0"/>
              <a:t>E</a:t>
            </a:r>
            <a:r>
              <a:rPr lang="ko-KR" altLang="en-US" dirty="0"/>
              <a:t>의 행과 열이 만나는 곳에 위치한 </a:t>
            </a:r>
            <a:r>
              <a:rPr lang="en-US" altLang="ko-KR" dirty="0"/>
              <a:t>O(B</a:t>
            </a:r>
            <a:r>
              <a:rPr lang="ko-KR" altLang="en-US" dirty="0"/>
              <a:t>와 같은 행</a:t>
            </a:r>
            <a:r>
              <a:rPr lang="en-US" altLang="ko-KR" dirty="0"/>
              <a:t>)</a:t>
            </a:r>
            <a:r>
              <a:rPr lang="ko-KR" altLang="en-US" dirty="0"/>
              <a:t>와 </a:t>
            </a:r>
            <a:r>
              <a:rPr lang="en-US" altLang="ko-KR" dirty="0"/>
              <a:t>G(E</a:t>
            </a:r>
            <a:r>
              <a:rPr lang="ko-KR" altLang="en-US" dirty="0"/>
              <a:t>와 같은 행</a:t>
            </a:r>
            <a:r>
              <a:rPr lang="en-US" altLang="ko-KR" dirty="0"/>
              <a:t>)</a:t>
            </a:r>
          </a:p>
          <a:p>
            <a:pPr lvl="3"/>
            <a:r>
              <a:rPr lang="ko-KR" altLang="en-US" dirty="0" err="1">
                <a:solidFill>
                  <a:srgbClr val="FF0000"/>
                </a:solidFill>
              </a:rPr>
              <a:t>행우선</a:t>
            </a:r>
            <a:r>
              <a:rPr lang="ko-KR" altLang="en-US" dirty="0"/>
              <a:t> 방식과 </a:t>
            </a:r>
            <a:r>
              <a:rPr lang="ko-KR" altLang="en-US" dirty="0" err="1">
                <a:solidFill>
                  <a:srgbClr val="FF0000"/>
                </a:solidFill>
              </a:rPr>
              <a:t>열우선</a:t>
            </a:r>
            <a:r>
              <a:rPr lang="ko-KR" altLang="en-US" dirty="0"/>
              <a:t> 방식이 존재</a:t>
            </a:r>
            <a:endParaRPr lang="en-US" altLang="ko-KR" dirty="0"/>
          </a:p>
          <a:p>
            <a:pPr lvl="3"/>
            <a:endParaRPr lang="en-US" altLang="ko-KR" dirty="0"/>
          </a:p>
          <a:p>
            <a:pPr marL="676275" lvl="2" indent="-228600">
              <a:buFont typeface="+mj-ea"/>
              <a:buAutoNum type="circleNumDbPlain"/>
            </a:pPr>
            <a:r>
              <a:rPr lang="en-US" altLang="ko-KR" dirty="0">
                <a:solidFill>
                  <a:srgbClr val="FF0000"/>
                </a:solidFill>
              </a:rPr>
              <a:t>LF</a:t>
            </a:r>
            <a:r>
              <a:rPr lang="ko-KR" altLang="en-US" dirty="0"/>
              <a:t>와 같이 두 문자가 </a:t>
            </a:r>
            <a:r>
              <a:rPr lang="ko-KR" altLang="en-US" dirty="0">
                <a:solidFill>
                  <a:srgbClr val="FF0000"/>
                </a:solidFill>
              </a:rPr>
              <a:t>같은 열</a:t>
            </a:r>
            <a:r>
              <a:rPr lang="ko-KR" altLang="en-US" dirty="0"/>
              <a:t>에 있다면 대체되는 암호 문은 각각 </a:t>
            </a:r>
            <a:r>
              <a:rPr lang="ko-KR" altLang="en-US" dirty="0">
                <a:solidFill>
                  <a:srgbClr val="FF0000"/>
                </a:solidFill>
              </a:rPr>
              <a:t>아래쪽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 err="1">
                <a:solidFill>
                  <a:srgbClr val="FF0000"/>
                </a:solidFill>
              </a:rPr>
              <a:t>복호화</a:t>
            </a:r>
            <a:r>
              <a:rPr lang="en-US" altLang="ko-KR" dirty="0">
                <a:solidFill>
                  <a:srgbClr val="FF0000"/>
                </a:solidFill>
              </a:rPr>
              <a:t>:</a:t>
            </a:r>
            <a:r>
              <a:rPr lang="ko-KR" altLang="en-US" dirty="0" err="1">
                <a:solidFill>
                  <a:srgbClr val="FF0000"/>
                </a:solidFill>
              </a:rPr>
              <a:t>윗쪽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r>
              <a:rPr lang="ko-KR" altLang="en-US" dirty="0"/>
              <a:t>에 있는 문자가 됨</a:t>
            </a:r>
            <a:endParaRPr lang="en-US" altLang="ko-KR" dirty="0"/>
          </a:p>
          <a:p>
            <a:pPr lvl="3"/>
            <a:r>
              <a:rPr lang="ko-KR" altLang="en-US" dirty="0"/>
              <a:t>즉 문자 </a:t>
            </a:r>
            <a:r>
              <a:rPr lang="en-US" altLang="ko-KR" dirty="0"/>
              <a:t>L</a:t>
            </a:r>
            <a:r>
              <a:rPr lang="ko-KR" altLang="en-US" dirty="0"/>
              <a:t>은 </a:t>
            </a:r>
            <a:r>
              <a:rPr lang="en-US" altLang="ko-KR" dirty="0"/>
              <a:t>V, </a:t>
            </a:r>
            <a:r>
              <a:rPr lang="ko-KR" altLang="en-US" dirty="0"/>
              <a:t>문자 </a:t>
            </a:r>
            <a:r>
              <a:rPr lang="en-US" altLang="ko-KR" dirty="0"/>
              <a:t>F</a:t>
            </a:r>
            <a:r>
              <a:rPr lang="ko-KR" altLang="en-US" dirty="0"/>
              <a:t>는 </a:t>
            </a:r>
            <a:r>
              <a:rPr lang="en-US" altLang="ko-KR" dirty="0"/>
              <a:t>L</a:t>
            </a:r>
            <a:r>
              <a:rPr lang="ko-KR" altLang="en-US" dirty="0"/>
              <a:t>로 대체</a:t>
            </a:r>
            <a:r>
              <a:rPr lang="en-US" altLang="ko-KR" dirty="0"/>
              <a:t>, </a:t>
            </a:r>
            <a:r>
              <a:rPr lang="ko-KR" altLang="en-US" dirty="0">
                <a:solidFill>
                  <a:srgbClr val="FF0000"/>
                </a:solidFill>
              </a:rPr>
              <a:t>맨 아래쪽 문자인 경우에는 같은 열 맨 위의 문자로 대체</a:t>
            </a:r>
            <a:endParaRPr lang="en-US" altLang="ko-KR" dirty="0">
              <a:solidFill>
                <a:srgbClr val="FF0000"/>
              </a:solidFill>
            </a:endParaRPr>
          </a:p>
          <a:p>
            <a:pPr lvl="3"/>
            <a:endParaRPr lang="en-US" altLang="ko-KR" dirty="0"/>
          </a:p>
          <a:p>
            <a:pPr marL="676275" lvl="2" indent="-228600">
              <a:buFont typeface="+mj-ea"/>
              <a:buAutoNum type="circleNumDbPlain"/>
            </a:pPr>
            <a:r>
              <a:rPr lang="en-US" altLang="ko-KR" dirty="0">
                <a:solidFill>
                  <a:srgbClr val="FF0000"/>
                </a:solidFill>
              </a:rPr>
              <a:t>OR</a:t>
            </a:r>
            <a:r>
              <a:rPr lang="ko-KR" altLang="en-US" dirty="0"/>
              <a:t>과 같이 두 문자가 </a:t>
            </a:r>
            <a:r>
              <a:rPr lang="ko-KR" altLang="en-US" dirty="0">
                <a:solidFill>
                  <a:srgbClr val="FF0000"/>
                </a:solidFill>
              </a:rPr>
              <a:t>같은 행</a:t>
            </a:r>
            <a:r>
              <a:rPr lang="ko-KR" altLang="en-US" dirty="0"/>
              <a:t>에 있다면 대체되는 암호 문은 각각 </a:t>
            </a:r>
            <a:r>
              <a:rPr lang="ko-KR" altLang="en-US" dirty="0">
                <a:solidFill>
                  <a:srgbClr val="FF0000"/>
                </a:solidFill>
              </a:rPr>
              <a:t>오른쪽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 err="1">
                <a:solidFill>
                  <a:srgbClr val="FF0000"/>
                </a:solidFill>
              </a:rPr>
              <a:t>복호화</a:t>
            </a:r>
            <a:r>
              <a:rPr lang="en-US" altLang="ko-KR" dirty="0">
                <a:solidFill>
                  <a:srgbClr val="FF0000"/>
                </a:solidFill>
              </a:rPr>
              <a:t>:</a:t>
            </a:r>
            <a:r>
              <a:rPr lang="ko-KR" altLang="en-US" dirty="0">
                <a:solidFill>
                  <a:srgbClr val="FF0000"/>
                </a:solidFill>
              </a:rPr>
              <a:t>왼쪽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r>
              <a:rPr lang="ko-KR" altLang="en-US" dirty="0"/>
              <a:t>에 있는 문자가 됨</a:t>
            </a:r>
            <a:endParaRPr lang="en-US" altLang="ko-KR" dirty="0"/>
          </a:p>
          <a:p>
            <a:pPr lvl="3"/>
            <a:r>
              <a:rPr lang="ko-KR" altLang="en-US" dirty="0"/>
              <a:t>즉 문자 </a:t>
            </a:r>
            <a:r>
              <a:rPr lang="en-US" altLang="ko-KR" dirty="0"/>
              <a:t>O</a:t>
            </a:r>
            <a:r>
              <a:rPr lang="ko-KR" altLang="en-US" dirty="0"/>
              <a:t>는 </a:t>
            </a:r>
            <a:r>
              <a:rPr lang="en-US" altLang="ko-KR" dirty="0"/>
              <a:t>R, </a:t>
            </a:r>
            <a:r>
              <a:rPr lang="ko-KR" altLang="en-US" dirty="0"/>
              <a:t>문자 </a:t>
            </a:r>
            <a:r>
              <a:rPr lang="en-US" altLang="ko-KR" dirty="0"/>
              <a:t>R</a:t>
            </a:r>
            <a:r>
              <a:rPr lang="ko-KR" altLang="en-US" dirty="0"/>
              <a:t>은 </a:t>
            </a:r>
            <a:r>
              <a:rPr lang="en-US" altLang="ko-KR" dirty="0"/>
              <a:t>B</a:t>
            </a:r>
            <a:r>
              <a:rPr lang="ko-KR" altLang="en-US" dirty="0"/>
              <a:t>로 대체</a:t>
            </a:r>
            <a:r>
              <a:rPr lang="en-US" altLang="ko-KR" dirty="0"/>
              <a:t>, </a:t>
            </a:r>
            <a:r>
              <a:rPr lang="ko-KR" altLang="en-US" dirty="0">
                <a:solidFill>
                  <a:srgbClr val="FF0000"/>
                </a:solidFill>
              </a:rPr>
              <a:t>맨 오른쪽 문자인 경우에는 같은 </a:t>
            </a:r>
            <a:r>
              <a:rPr lang="ko-KR" altLang="en-US" dirty="0" err="1">
                <a:solidFill>
                  <a:srgbClr val="FF0000"/>
                </a:solidFill>
              </a:rPr>
              <a:t>행맨</a:t>
            </a:r>
            <a:r>
              <a:rPr lang="ko-KR" altLang="en-US" dirty="0">
                <a:solidFill>
                  <a:srgbClr val="FF0000"/>
                </a:solidFill>
              </a:rPr>
              <a:t> 왼쪽 문자로 대체</a:t>
            </a:r>
            <a:endParaRPr lang="en-US" altLang="ko-KR" dirty="0">
              <a:solidFill>
                <a:srgbClr val="FF0000"/>
              </a:solidFill>
            </a:endParaRP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ko-KR" altLang="en-US" dirty="0"/>
              <a:t>암호화한 결과</a:t>
            </a:r>
            <a:endParaRPr lang="en-US" altLang="ko-KR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4147225"/>
            <a:ext cx="1872000" cy="1264742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5961" y="4149578"/>
            <a:ext cx="1872000" cy="1295646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384" y="4147225"/>
            <a:ext cx="1872000" cy="12696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56939" y="40672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009BA8"/>
                </a:solidFill>
              </a:rPr>
              <a:t>①                            ②                          ③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128" y="5961819"/>
            <a:ext cx="4932040" cy="7839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75262" y="6004501"/>
            <a:ext cx="311304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BE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436683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대칭 암호화 방식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ko-KR" dirty="0"/>
              <a:t>DES </a:t>
            </a:r>
            <a:r>
              <a:rPr lang="ko-KR" altLang="en-US" dirty="0"/>
              <a:t>알고리즘</a:t>
            </a:r>
            <a:endParaRPr lang="en-US" altLang="ko-KR" dirty="0"/>
          </a:p>
          <a:p>
            <a:pPr lvl="2"/>
            <a:r>
              <a:rPr lang="en-US" altLang="ko-KR" dirty="0"/>
              <a:t>1972</a:t>
            </a:r>
            <a:r>
              <a:rPr lang="ko-KR" altLang="en-US" dirty="0"/>
              <a:t>년 미국 상무부의 </a:t>
            </a:r>
            <a:r>
              <a:rPr lang="en-US" altLang="ko-KR" dirty="0"/>
              <a:t>NBS</a:t>
            </a:r>
            <a:r>
              <a:rPr lang="ko-KR" altLang="en-US" dirty="0"/>
              <a:t>에서 정보 보호를 목적으로 공모한 암호화 알고리즘</a:t>
            </a:r>
            <a:endParaRPr lang="en-US" altLang="ko-KR" dirty="0"/>
          </a:p>
          <a:p>
            <a:pPr lvl="2"/>
            <a:r>
              <a:rPr lang="en-US" altLang="ko-KR" dirty="0"/>
              <a:t>IBM</a:t>
            </a:r>
            <a:r>
              <a:rPr lang="ko-KR" altLang="en-US" dirty="0"/>
              <a:t>의 </a:t>
            </a:r>
            <a:r>
              <a:rPr lang="ko-KR" altLang="en-US" dirty="0" err="1">
                <a:solidFill>
                  <a:srgbClr val="FF0000"/>
                </a:solidFill>
              </a:rPr>
              <a:t>바터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ko-KR" altLang="en-US" dirty="0" err="1">
                <a:solidFill>
                  <a:srgbClr val="FF0000"/>
                </a:solidFill>
              </a:rPr>
              <a:t>투흐만</a:t>
            </a:r>
            <a:r>
              <a:rPr lang="ko-KR" altLang="en-US" dirty="0" err="1"/>
              <a:t>과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rgbClr val="FF0000"/>
                </a:solidFill>
              </a:rPr>
              <a:t>칼 </a:t>
            </a:r>
            <a:r>
              <a:rPr lang="ko-KR" altLang="en-US" dirty="0" err="1">
                <a:solidFill>
                  <a:srgbClr val="FF0000"/>
                </a:solidFill>
              </a:rPr>
              <a:t>마이어</a:t>
            </a:r>
            <a:r>
              <a:rPr lang="ko-KR" altLang="en-US" dirty="0" err="1"/>
              <a:t>가</a:t>
            </a:r>
            <a:r>
              <a:rPr lang="ko-KR" altLang="en-US" dirty="0"/>
              <a:t> 개발</a:t>
            </a:r>
            <a:endParaRPr lang="en-US" altLang="ko-KR" dirty="0"/>
          </a:p>
          <a:p>
            <a:pPr lvl="2"/>
            <a:r>
              <a:rPr lang="en-US" altLang="ko-KR" dirty="0"/>
              <a:t>1977</a:t>
            </a:r>
            <a:r>
              <a:rPr lang="ko-KR" altLang="en-US" dirty="0"/>
              <a:t>년 </a:t>
            </a:r>
            <a:r>
              <a:rPr lang="en-US" altLang="ko-KR" dirty="0"/>
              <a:t>1</a:t>
            </a:r>
            <a:r>
              <a:rPr lang="ko-KR" altLang="en-US" dirty="0"/>
              <a:t>월 </a:t>
            </a:r>
            <a:r>
              <a:rPr lang="en-US" altLang="ko-KR" dirty="0"/>
              <a:t>NIST</a:t>
            </a:r>
            <a:r>
              <a:rPr lang="ko-KR" altLang="en-US" dirty="0"/>
              <a:t>에 의해 암호화 표준으로 결정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DES</a:t>
            </a:r>
            <a:r>
              <a:rPr lang="ko-KR" altLang="en-US" dirty="0"/>
              <a:t>는 </a:t>
            </a:r>
            <a:r>
              <a:rPr lang="en-US" altLang="ko-KR" dirty="0">
                <a:solidFill>
                  <a:srgbClr val="FF0000"/>
                </a:solidFill>
              </a:rPr>
              <a:t>64</a:t>
            </a:r>
            <a:r>
              <a:rPr lang="ko-KR" altLang="en-US" dirty="0">
                <a:solidFill>
                  <a:srgbClr val="FF0000"/>
                </a:solidFill>
              </a:rPr>
              <a:t>비트의 블록 암호화 알고리즘</a:t>
            </a:r>
            <a:r>
              <a:rPr lang="ko-KR" altLang="en-US" dirty="0"/>
              <a:t>으로 </a:t>
            </a:r>
            <a:r>
              <a:rPr lang="en-US" altLang="ko-KR" dirty="0">
                <a:solidFill>
                  <a:srgbClr val="FF0000"/>
                </a:solidFill>
              </a:rPr>
              <a:t>56</a:t>
            </a:r>
            <a:r>
              <a:rPr lang="ko-KR" altLang="en-US" dirty="0">
                <a:solidFill>
                  <a:srgbClr val="FF0000"/>
                </a:solidFill>
              </a:rPr>
              <a:t>비트 크기의 암호화 키</a:t>
            </a:r>
            <a:r>
              <a:rPr lang="ko-KR" altLang="en-US" dirty="0"/>
              <a:t>로 암호화</a:t>
            </a: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r>
              <a:rPr lang="ko-KR" altLang="en-US" dirty="0"/>
              <a:t>현대의 암호화 기법에는 컴퓨터가 사용되므로 모든 단어가 </a:t>
            </a:r>
            <a:r>
              <a:rPr lang="en-US" altLang="ko-KR" dirty="0"/>
              <a:t>0</a:t>
            </a:r>
            <a:r>
              <a:rPr lang="ko-KR" altLang="en-US" dirty="0"/>
              <a:t>과 </a:t>
            </a:r>
            <a:r>
              <a:rPr lang="en-US" altLang="ko-KR" dirty="0"/>
              <a:t>1</a:t>
            </a:r>
            <a:r>
              <a:rPr lang="ko-KR" altLang="en-US" dirty="0"/>
              <a:t>로 표현</a:t>
            </a:r>
            <a:endParaRPr lang="en-US" altLang="ko-KR" dirty="0"/>
          </a:p>
          <a:p>
            <a:pPr lvl="3">
              <a:defRPr/>
            </a:pPr>
            <a:r>
              <a:rPr lang="ko-KR" altLang="en-US" dirty="0"/>
              <a:t>예</a:t>
            </a:r>
            <a:r>
              <a:rPr lang="en-US" altLang="ko-KR" dirty="0"/>
              <a:t>)</a:t>
            </a:r>
            <a:r>
              <a:rPr lang="ko-KR" altLang="en-US" dirty="0"/>
              <a:t> 암호화하려는 문자열이 확장되고 암호화 키에 의해 변한 값이 </a:t>
            </a:r>
            <a:r>
              <a:rPr lang="en-US" altLang="ko-KR" dirty="0"/>
              <a:t>1011 1100 0111</a:t>
            </a:r>
            <a:r>
              <a:rPr lang="ko-KR" altLang="en-US" dirty="0"/>
              <a:t>일 경우</a:t>
            </a:r>
            <a:endParaRPr lang="en-US" altLang="ko-KR" dirty="0"/>
          </a:p>
          <a:p>
            <a:pPr lvl="3">
              <a:defRPr/>
            </a:pPr>
            <a:r>
              <a:rPr lang="en-US" altLang="ko-KR" dirty="0"/>
              <a:t>S-Box</a:t>
            </a:r>
            <a:r>
              <a:rPr lang="ko-KR" altLang="en-US" dirty="0"/>
              <a:t>에 </a:t>
            </a:r>
            <a:r>
              <a:rPr lang="en-US" altLang="ko-KR" dirty="0"/>
              <a:t>1011 1100 0111 </a:t>
            </a:r>
            <a:r>
              <a:rPr lang="ko-KR" altLang="en-US" dirty="0"/>
              <a:t>값을 넣기 전에 다음과 같은 일종의 확장 과정을 거칠 것</a:t>
            </a:r>
            <a:endParaRPr lang="en-US" altLang="ko-KR" dirty="0"/>
          </a:p>
          <a:p>
            <a:pPr lvl="3">
              <a:defRPr/>
            </a:pPr>
            <a:endParaRPr lang="en-US" altLang="ko-KR" dirty="0"/>
          </a:p>
          <a:p>
            <a:pPr lvl="3">
              <a:defRPr/>
            </a:pPr>
            <a:endParaRPr lang="en-US" altLang="ko-KR" dirty="0"/>
          </a:p>
          <a:p>
            <a:pPr lvl="3">
              <a:defRPr/>
            </a:pPr>
            <a:endParaRPr lang="en-US" altLang="ko-KR" dirty="0"/>
          </a:p>
          <a:p>
            <a:pPr lvl="3">
              <a:defRPr/>
            </a:pPr>
            <a:endParaRPr lang="en-US" altLang="ko-KR" dirty="0"/>
          </a:p>
          <a:p>
            <a:pPr lvl="3">
              <a:defRPr/>
            </a:pPr>
            <a:endParaRPr lang="en-US" altLang="ko-KR" dirty="0"/>
          </a:p>
          <a:p>
            <a:pPr lvl="3">
              <a:defRPr/>
            </a:pPr>
            <a:endParaRPr lang="en-US" altLang="ko-KR" dirty="0"/>
          </a:p>
          <a:p>
            <a:pPr lvl="3">
              <a:defRPr/>
            </a:pPr>
            <a:endParaRPr lang="en-US" altLang="ko-KR" dirty="0"/>
          </a:p>
          <a:p>
            <a:pPr lvl="3">
              <a:defRPr/>
            </a:pPr>
            <a:endParaRPr lang="en-US" altLang="ko-KR" dirty="0"/>
          </a:p>
          <a:p>
            <a:pPr lvl="3">
              <a:defRPr/>
            </a:pPr>
            <a:r>
              <a:rPr lang="en-US" altLang="ko-KR" dirty="0"/>
              <a:t>1011 1100 0111</a:t>
            </a:r>
            <a:r>
              <a:rPr lang="ko-KR" altLang="en-US" dirty="0"/>
              <a:t>을 </a:t>
            </a:r>
            <a:r>
              <a:rPr lang="en-US" altLang="ko-KR" dirty="0"/>
              <a:t>110111 </a:t>
            </a:r>
            <a:r>
              <a:rPr lang="en-US" altLang="ko-KR" dirty="0">
                <a:solidFill>
                  <a:srgbClr val="FF0000"/>
                </a:solidFill>
              </a:rPr>
              <a:t>111000</a:t>
            </a:r>
            <a:r>
              <a:rPr lang="en-US" altLang="ko-KR" dirty="0"/>
              <a:t> 001111</a:t>
            </a:r>
            <a:r>
              <a:rPr lang="ko-KR" altLang="en-US" dirty="0"/>
              <a:t>로 확장시킨 값을 </a:t>
            </a:r>
            <a:r>
              <a:rPr lang="en-US" altLang="ko-KR" dirty="0"/>
              <a:t>s box</a:t>
            </a:r>
            <a:r>
              <a:rPr lang="ko-KR" altLang="en-US" dirty="0"/>
              <a:t>를 사용해 암호화</a:t>
            </a:r>
            <a:endParaRPr lang="en-US" altLang="ko-KR" dirty="0"/>
          </a:p>
          <a:p>
            <a:pPr marL="628650" lvl="3" indent="0">
              <a:buNone/>
              <a:defRPr/>
            </a:pPr>
            <a:r>
              <a:rPr lang="ko-KR" altLang="en-US" dirty="0"/>
              <a:t>    </a:t>
            </a:r>
            <a:r>
              <a:rPr lang="en-US" altLang="ko-KR" dirty="0"/>
              <a:t>→ </a:t>
            </a:r>
            <a:r>
              <a:rPr lang="ko-KR" altLang="en-US" dirty="0"/>
              <a:t>가운데에 있는 </a:t>
            </a:r>
            <a:r>
              <a:rPr lang="en-US" altLang="ko-KR" dirty="0">
                <a:solidFill>
                  <a:srgbClr val="FF0000"/>
                </a:solidFill>
              </a:rPr>
              <a:t>1100</a:t>
            </a:r>
            <a:r>
              <a:rPr lang="ko-KR" altLang="en-US" dirty="0">
                <a:solidFill>
                  <a:srgbClr val="FF0000"/>
                </a:solidFill>
              </a:rPr>
              <a:t>은 </a:t>
            </a:r>
            <a:r>
              <a:rPr lang="en-US" altLang="ko-KR" dirty="0">
                <a:solidFill>
                  <a:srgbClr val="FF0000"/>
                </a:solidFill>
              </a:rPr>
              <a:t>3(0011) </a:t>
            </a:r>
            <a:r>
              <a:rPr lang="ko-KR" altLang="en-US" dirty="0">
                <a:solidFill>
                  <a:srgbClr val="FF0000"/>
                </a:solidFill>
              </a:rPr>
              <a:t>으로 </a:t>
            </a:r>
            <a:r>
              <a:rPr lang="ko-KR" altLang="en-US" dirty="0" err="1">
                <a:solidFill>
                  <a:srgbClr val="FF0000"/>
                </a:solidFill>
              </a:rPr>
              <a:t>암호화됨</a:t>
            </a:r>
            <a:endParaRPr lang="en-US" altLang="ko-KR" dirty="0">
              <a:solidFill>
                <a:srgbClr val="FF0000"/>
              </a:solidFill>
            </a:endParaRPr>
          </a:p>
          <a:p>
            <a:pPr marL="628650" lvl="3" indent="0">
              <a:buNone/>
              <a:defRPr/>
            </a:pPr>
            <a:endParaRPr lang="en-US" altLang="ko-KR" dirty="0"/>
          </a:p>
          <a:p>
            <a:pPr lvl="2">
              <a:defRPr/>
            </a:pPr>
            <a:r>
              <a:rPr lang="ko-KR" altLang="en-US" dirty="0"/>
              <a:t>미국 정부는 </a:t>
            </a:r>
            <a:r>
              <a:rPr lang="en-US" altLang="ko-KR" dirty="0"/>
              <a:t>1998</a:t>
            </a:r>
            <a:r>
              <a:rPr lang="ko-KR" altLang="en-US" dirty="0"/>
              <a:t>년 이후부터 </a:t>
            </a:r>
            <a:r>
              <a:rPr lang="en-US" altLang="ko-KR" dirty="0"/>
              <a:t>DES </a:t>
            </a:r>
            <a:r>
              <a:rPr lang="ko-KR" altLang="en-US" dirty="0"/>
              <a:t>알고리즘 사용을 중단했지만 아직도 여러 응용 프로그램에서 많이 사용</a:t>
            </a:r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8264" y="1556792"/>
            <a:ext cx="1960315" cy="190897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932" y="4077072"/>
            <a:ext cx="2268471" cy="74472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864" y="3795508"/>
            <a:ext cx="4968552" cy="1359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4474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대칭 암호화 방식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 err="1"/>
              <a:t>트리플</a:t>
            </a:r>
            <a:r>
              <a:rPr lang="ko-KR" altLang="en-US" dirty="0"/>
              <a:t> </a:t>
            </a:r>
            <a:r>
              <a:rPr lang="en-US" altLang="ko-KR" dirty="0"/>
              <a:t>DES </a:t>
            </a:r>
            <a:r>
              <a:rPr lang="ko-KR" altLang="en-US" dirty="0"/>
              <a:t>알고리즘 </a:t>
            </a:r>
            <a:endParaRPr lang="en-US" altLang="ko-KR" dirty="0"/>
          </a:p>
          <a:p>
            <a:pPr lvl="2"/>
            <a:r>
              <a:rPr lang="en-US" altLang="ko-KR" dirty="0"/>
              <a:t>DES</a:t>
            </a:r>
            <a:r>
              <a:rPr lang="ko-KR" altLang="en-US" dirty="0"/>
              <a:t>의 복호화가 가능해짐에 따라 </a:t>
            </a:r>
            <a:r>
              <a:rPr lang="en-US" altLang="ko-KR" dirty="0"/>
              <a:t>AES</a:t>
            </a:r>
            <a:r>
              <a:rPr lang="ko-KR" altLang="en-US" dirty="0"/>
              <a:t>가 나오기 전까지 임시 로 사용한 암호화 알고리즘</a:t>
            </a:r>
            <a:endParaRPr lang="en-US" altLang="ko-KR" dirty="0"/>
          </a:p>
          <a:p>
            <a:pPr lvl="2"/>
            <a:r>
              <a:rPr lang="en-US" altLang="ko-KR" dirty="0"/>
              <a:t>DES </a:t>
            </a:r>
            <a:r>
              <a:rPr lang="ko-KR" altLang="en-US" dirty="0"/>
              <a:t>알고리즘과 비슷하지만 암호화 및 </a:t>
            </a:r>
            <a:r>
              <a:rPr lang="ko-KR" altLang="en-US" dirty="0" err="1"/>
              <a:t>복호화</a:t>
            </a:r>
            <a:r>
              <a:rPr lang="ko-KR" altLang="en-US" dirty="0"/>
              <a:t> 과정에서 </a:t>
            </a:r>
            <a:r>
              <a:rPr lang="en-US" altLang="ko-KR" dirty="0"/>
              <a:t>DES</a:t>
            </a:r>
            <a:r>
              <a:rPr lang="ko-KR" altLang="en-US" dirty="0"/>
              <a:t>와 달리 </a:t>
            </a:r>
            <a:r>
              <a:rPr lang="en-US" altLang="ko-KR" dirty="0"/>
              <a:t>2</a:t>
            </a:r>
            <a:r>
              <a:rPr lang="ko-KR" altLang="en-US" dirty="0"/>
              <a:t>개의 암호화 키를 이용</a:t>
            </a:r>
            <a:endParaRPr lang="en-US" altLang="ko-KR" dirty="0"/>
          </a:p>
          <a:p>
            <a:pPr lvl="2"/>
            <a:r>
              <a:rPr lang="en-US" altLang="ko-KR" dirty="0"/>
              <a:t>DES </a:t>
            </a:r>
            <a:r>
              <a:rPr lang="ko-KR" altLang="en-US" dirty="0"/>
              <a:t>알고리즘보다 암호화 강도가 </a:t>
            </a:r>
            <a:r>
              <a:rPr lang="en-US" altLang="ko-KR" dirty="0"/>
              <a:t>2</a:t>
            </a:r>
            <a:r>
              <a:rPr lang="ko-KR" altLang="en-US" dirty="0"/>
              <a:t>배 더 높아 오래 사용되지 못함</a:t>
            </a:r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6" y="3068960"/>
            <a:ext cx="4220140" cy="3089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223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대칭 암호화 방식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ko-KR" dirty="0"/>
              <a:t>AES </a:t>
            </a:r>
            <a:r>
              <a:rPr lang="ko-KR" altLang="en-US" dirty="0"/>
              <a:t>알고리즘 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DES</a:t>
            </a:r>
            <a:r>
              <a:rPr lang="ko-KR" altLang="en-US" dirty="0"/>
              <a:t>의 암호화 강도가 점점 약해지면서 새롭게 개발된 것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1997</a:t>
            </a:r>
            <a:r>
              <a:rPr lang="ko-KR" altLang="en-US" dirty="0"/>
              <a:t>년에 </a:t>
            </a:r>
            <a:r>
              <a:rPr lang="en-US" altLang="ko-KR" dirty="0"/>
              <a:t>NIST</a:t>
            </a:r>
            <a:r>
              <a:rPr lang="ko-KR" altLang="en-US" dirty="0"/>
              <a:t>는 암호화 알고리즘을 다시 공모</a:t>
            </a:r>
            <a:endParaRPr lang="en-US" altLang="ko-KR" dirty="0"/>
          </a:p>
          <a:p>
            <a:pPr lvl="3">
              <a:defRPr/>
            </a:pPr>
            <a:r>
              <a:rPr lang="ko-KR" altLang="en-US" dirty="0"/>
              <a:t>향후 </a:t>
            </a:r>
            <a:r>
              <a:rPr lang="en-US" altLang="ko-KR" dirty="0"/>
              <a:t>30</a:t>
            </a:r>
            <a:r>
              <a:rPr lang="ko-KR" altLang="en-US" dirty="0"/>
              <a:t>년 정도 사용할 수 있는 </a:t>
            </a:r>
            <a:r>
              <a:rPr lang="ko-KR" altLang="en-US" dirty="0" err="1"/>
              <a:t>보안성</a:t>
            </a:r>
            <a:r>
              <a:rPr lang="en-US" altLang="ko-KR" dirty="0"/>
              <a:t>, </a:t>
            </a:r>
            <a:r>
              <a:rPr lang="en-US" altLang="ko-KR" dirty="0">
                <a:solidFill>
                  <a:srgbClr val="FF0000"/>
                </a:solidFill>
              </a:rPr>
              <a:t>128</a:t>
            </a:r>
            <a:r>
              <a:rPr lang="ko-KR" altLang="en-US" dirty="0">
                <a:solidFill>
                  <a:srgbClr val="FF0000"/>
                </a:solidFill>
              </a:rPr>
              <a:t>비트 암호화 블록</a:t>
            </a:r>
            <a:r>
              <a:rPr lang="en-US" altLang="ko-KR" dirty="0"/>
              <a:t>, </a:t>
            </a:r>
            <a:r>
              <a:rPr lang="ko-KR" altLang="en-US" dirty="0"/>
              <a:t>다양한 키 길이를 갖출 것이라는 공모 조건</a:t>
            </a:r>
            <a:endParaRPr lang="en-US" altLang="ko-KR" dirty="0"/>
          </a:p>
          <a:p>
            <a:pPr lvl="2">
              <a:defRPr/>
            </a:pPr>
            <a:r>
              <a:rPr lang="ko-KR" altLang="en-US" dirty="0" err="1">
                <a:solidFill>
                  <a:srgbClr val="FF0000"/>
                </a:solidFill>
              </a:rPr>
              <a:t>빈센트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ko-KR" altLang="en-US" dirty="0" err="1">
                <a:solidFill>
                  <a:srgbClr val="FF0000"/>
                </a:solidFill>
              </a:rPr>
              <a:t>레이먼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 err="1">
                <a:solidFill>
                  <a:srgbClr val="FF0000"/>
                </a:solidFill>
              </a:rPr>
              <a:t>요안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ko-KR" altLang="en-US" dirty="0" err="1">
                <a:solidFill>
                  <a:srgbClr val="FF0000"/>
                </a:solidFill>
              </a:rPr>
              <a:t>다에먼</a:t>
            </a:r>
            <a:r>
              <a:rPr lang="ko-KR" altLang="en-US" dirty="0" err="1"/>
              <a:t>이</a:t>
            </a:r>
            <a:r>
              <a:rPr lang="ko-KR" altLang="en-US" dirty="0"/>
              <a:t> 개발한 </a:t>
            </a:r>
            <a:r>
              <a:rPr lang="en-US" altLang="ko-KR" dirty="0" err="1">
                <a:solidFill>
                  <a:srgbClr val="FF0000"/>
                </a:solidFill>
              </a:rPr>
              <a:t>Rijndael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ko-KR" altLang="en-US" dirty="0">
                <a:solidFill>
                  <a:srgbClr val="FF0000"/>
                </a:solidFill>
              </a:rPr>
              <a:t>알고리즘</a:t>
            </a:r>
            <a:r>
              <a:rPr lang="ko-KR" altLang="en-US" dirty="0"/>
              <a:t>이 </a:t>
            </a:r>
            <a:r>
              <a:rPr lang="en-US" altLang="ko-KR" dirty="0"/>
              <a:t>2000</a:t>
            </a:r>
            <a:r>
              <a:rPr lang="ko-KR" altLang="en-US" dirty="0"/>
              <a:t>년 </a:t>
            </a:r>
            <a:r>
              <a:rPr lang="en-US" altLang="ko-KR" dirty="0"/>
              <a:t>10</a:t>
            </a:r>
            <a:r>
              <a:rPr lang="ko-KR" altLang="en-US" dirty="0"/>
              <a:t>월 최종 </a:t>
            </a:r>
            <a:r>
              <a:rPr lang="en-US" altLang="ko-KR" dirty="0"/>
              <a:t>AES </a:t>
            </a:r>
            <a:r>
              <a:rPr lang="ko-KR" altLang="en-US" dirty="0"/>
              <a:t>알고리즘으로 선정</a:t>
            </a: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>
              <a:defRPr/>
            </a:pPr>
            <a:r>
              <a:rPr lang="en-US" altLang="ko-KR" dirty="0"/>
              <a:t>SEED </a:t>
            </a:r>
            <a:r>
              <a:rPr lang="ko-KR" altLang="en-US" dirty="0"/>
              <a:t>알고리즘</a:t>
            </a:r>
          </a:p>
          <a:p>
            <a:pPr lvl="2">
              <a:defRPr/>
            </a:pPr>
            <a:r>
              <a:rPr lang="ko-KR" altLang="en-US" dirty="0">
                <a:solidFill>
                  <a:srgbClr val="FF0000"/>
                </a:solidFill>
              </a:rPr>
              <a:t>전자상거래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금융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무선통신 등에서 전송되는 중요한 정보를 보호</a:t>
            </a:r>
            <a:r>
              <a:rPr lang="ko-KR" altLang="en-US" dirty="0"/>
              <a:t>하기 위해 한국인터넷진흥원과 국내 </a:t>
            </a:r>
            <a:endParaRPr lang="en-US" altLang="ko-KR" dirty="0"/>
          </a:p>
          <a:p>
            <a:pPr marL="447675" lvl="2" indent="0">
              <a:buNone/>
              <a:defRPr/>
            </a:pPr>
            <a:r>
              <a:rPr lang="en-US" altLang="ko-KR" sz="1100" dirty="0"/>
              <a:t>    </a:t>
            </a:r>
            <a:r>
              <a:rPr lang="ko-KR" altLang="en-US" dirty="0"/>
              <a:t>암호 전문가들이 순수 국내 기술로 개발한 </a:t>
            </a:r>
            <a:r>
              <a:rPr lang="en-US" altLang="ko-KR" dirty="0"/>
              <a:t>128</a:t>
            </a:r>
            <a:r>
              <a:rPr lang="ko-KR" altLang="en-US" dirty="0"/>
              <a:t>비트 블록의 암호화 알고리즘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SEED 128</a:t>
            </a:r>
            <a:r>
              <a:rPr lang="ko-KR" altLang="en-US" dirty="0"/>
              <a:t>은 </a:t>
            </a:r>
            <a:r>
              <a:rPr lang="en-US" altLang="ko-KR" dirty="0"/>
              <a:t>1999</a:t>
            </a:r>
            <a:r>
              <a:rPr lang="ko-KR" altLang="en-US" dirty="0"/>
              <a:t>년 </a:t>
            </a:r>
            <a:r>
              <a:rPr lang="en-US" altLang="ko-KR" dirty="0"/>
              <a:t>9</a:t>
            </a:r>
            <a:r>
              <a:rPr lang="ko-KR" altLang="en-US" dirty="0"/>
              <a:t>월 정보통신단체표준</a:t>
            </a:r>
            <a:r>
              <a:rPr lang="en-US" altLang="ko-KR" dirty="0"/>
              <a:t>(</a:t>
            </a:r>
            <a:r>
              <a:rPr lang="en-US" altLang="ko-KR" dirty="0">
                <a:solidFill>
                  <a:srgbClr val="FF0000"/>
                </a:solidFill>
              </a:rPr>
              <a:t>TTA </a:t>
            </a:r>
            <a:r>
              <a:rPr lang="ko-KR" altLang="en-US" dirty="0">
                <a:solidFill>
                  <a:srgbClr val="FF0000"/>
                </a:solidFill>
              </a:rPr>
              <a:t>표준</a:t>
            </a:r>
            <a:r>
              <a:rPr lang="en-US" altLang="ko-KR" dirty="0"/>
              <a:t>)</a:t>
            </a:r>
            <a:r>
              <a:rPr lang="ko-KR" altLang="en-US" dirty="0"/>
              <a:t>으로 제정되었고</a:t>
            </a:r>
            <a:r>
              <a:rPr lang="en-US" altLang="ko-KR" dirty="0"/>
              <a:t>, 2005</a:t>
            </a:r>
            <a:r>
              <a:rPr lang="ko-KR" altLang="en-US" dirty="0"/>
              <a:t>년에는 </a:t>
            </a:r>
            <a:r>
              <a:rPr lang="en-US" altLang="ko-KR" dirty="0"/>
              <a:t>ISO/IEC</a:t>
            </a:r>
            <a:r>
              <a:rPr lang="ko-KR" altLang="en-US" dirty="0"/>
              <a:t>와 </a:t>
            </a:r>
            <a:r>
              <a:rPr lang="en-US" altLang="ko-KR" dirty="0"/>
              <a:t>IETF</a:t>
            </a:r>
            <a:r>
              <a:rPr lang="ko-KR" altLang="en-US" dirty="0"/>
              <a:t>로부터 </a:t>
            </a:r>
            <a:endParaRPr lang="en-US" altLang="ko-KR" dirty="0"/>
          </a:p>
          <a:p>
            <a:pPr marL="447675" lvl="2" indent="0">
              <a:buNone/>
              <a:defRPr/>
            </a:pPr>
            <a:r>
              <a:rPr lang="en-US" altLang="ko-KR" dirty="0"/>
              <a:t>   </a:t>
            </a:r>
            <a:r>
              <a:rPr lang="ko-KR" altLang="en-US" dirty="0"/>
              <a:t>암호화 표준 알고리즘으로 인정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국내에서 개발된 많은 암호 프로그램과 보안 솔루션에서 사용</a:t>
            </a: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>
              <a:defRPr/>
            </a:pPr>
            <a:r>
              <a:rPr lang="en-US" altLang="ko-KR" dirty="0"/>
              <a:t>ARIA </a:t>
            </a:r>
            <a:r>
              <a:rPr lang="ko-KR" altLang="en-US" dirty="0"/>
              <a:t>알고리즘</a:t>
            </a:r>
          </a:p>
          <a:p>
            <a:pPr lvl="2">
              <a:defRPr/>
            </a:pPr>
            <a:r>
              <a:rPr lang="ko-KR" altLang="en-US" sz="1180" dirty="0">
                <a:solidFill>
                  <a:srgbClr val="FF0000"/>
                </a:solidFill>
              </a:rPr>
              <a:t>전자정부 구현</a:t>
            </a:r>
            <a:r>
              <a:rPr lang="ko-KR" altLang="en-US" sz="1180" dirty="0"/>
              <a:t>으로 다양한 환경에 적합한 암호화 알고리즘이 필요하여 국가보안기술연구소</a:t>
            </a:r>
            <a:r>
              <a:rPr lang="en-US" altLang="ko-KR" sz="1180" dirty="0"/>
              <a:t>(NSRI) </a:t>
            </a:r>
            <a:r>
              <a:rPr lang="ko-KR" altLang="en-US" sz="1180" dirty="0"/>
              <a:t>주도로 개발</a:t>
            </a:r>
            <a:endParaRPr lang="en-US" altLang="ko-KR" sz="1180" dirty="0"/>
          </a:p>
          <a:p>
            <a:pPr lvl="2">
              <a:defRPr/>
            </a:pPr>
            <a:r>
              <a:rPr lang="en-US" altLang="ko-KR" dirty="0"/>
              <a:t>2004</a:t>
            </a:r>
            <a:r>
              <a:rPr lang="ko-KR" altLang="en-US" dirty="0"/>
              <a:t>년 국가표준기본법에 의거하여 </a:t>
            </a:r>
            <a:r>
              <a:rPr lang="ko-KR" altLang="en-US" dirty="0" err="1"/>
              <a:t>국가표준㉿으로</a:t>
            </a:r>
            <a:r>
              <a:rPr lang="ko-KR" altLang="en-US" dirty="0"/>
              <a:t> 지정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AES </a:t>
            </a:r>
            <a:r>
              <a:rPr lang="ko-KR" altLang="en-US" dirty="0"/>
              <a:t>알고리즘과 마찬가지로 </a:t>
            </a:r>
            <a:r>
              <a:rPr lang="en-US" altLang="ko-KR" dirty="0">
                <a:solidFill>
                  <a:srgbClr val="FF0000"/>
                </a:solidFill>
              </a:rPr>
              <a:t>128/192/256</a:t>
            </a:r>
            <a:r>
              <a:rPr lang="ko-KR" altLang="en-US" dirty="0">
                <a:solidFill>
                  <a:srgbClr val="FF0000"/>
                </a:solidFill>
              </a:rPr>
              <a:t>비트 암호화 키</a:t>
            </a:r>
            <a:r>
              <a:rPr lang="ko-KR" altLang="en-US" dirty="0"/>
              <a:t>를 지원</a:t>
            </a: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323678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대칭 암호화 방식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양자 암호</a:t>
            </a:r>
            <a:endParaRPr lang="en-US" altLang="ko-KR" dirty="0"/>
          </a:p>
          <a:p>
            <a:pPr lvl="2"/>
            <a:r>
              <a:rPr lang="en-US" altLang="ko-KR" dirty="0"/>
              <a:t>1984</a:t>
            </a:r>
            <a:r>
              <a:rPr lang="ko-KR" altLang="en-US" dirty="0"/>
              <a:t>년 </a:t>
            </a:r>
            <a:r>
              <a:rPr lang="ko-KR" altLang="en-US" dirty="0">
                <a:solidFill>
                  <a:srgbClr val="FF0000"/>
                </a:solidFill>
              </a:rPr>
              <a:t>찰스 </a:t>
            </a:r>
            <a:r>
              <a:rPr lang="ko-KR" altLang="en-US" dirty="0" err="1">
                <a:solidFill>
                  <a:srgbClr val="FF0000"/>
                </a:solidFill>
              </a:rPr>
              <a:t>베넷</a:t>
            </a:r>
            <a:r>
              <a:rPr lang="ko-KR" altLang="en-US" dirty="0" err="1"/>
              <a:t>과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rgbClr val="FF0000"/>
                </a:solidFill>
              </a:rPr>
              <a:t>질 </a:t>
            </a:r>
            <a:r>
              <a:rPr lang="ko-KR" altLang="en-US" dirty="0" err="1">
                <a:solidFill>
                  <a:srgbClr val="FF0000"/>
                </a:solidFill>
              </a:rPr>
              <a:t>브라사르</a:t>
            </a:r>
            <a:r>
              <a:rPr lang="ko-KR" altLang="en-US" dirty="0" err="1"/>
              <a:t>가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rgbClr val="FF0000"/>
                </a:solidFill>
              </a:rPr>
              <a:t>BB84</a:t>
            </a:r>
            <a:r>
              <a:rPr lang="ko-KR" altLang="en-US" dirty="0"/>
              <a:t>라는 프로토콜을 통해 제안</a:t>
            </a:r>
            <a:endParaRPr lang="en-US" altLang="ko-KR" dirty="0"/>
          </a:p>
          <a:p>
            <a:pPr lvl="3"/>
            <a:r>
              <a:rPr lang="en-US" altLang="ko-KR" dirty="0"/>
              <a:t>BB84 </a:t>
            </a:r>
            <a:r>
              <a:rPr lang="ko-KR" altLang="en-US" dirty="0"/>
              <a:t>프로토콜</a:t>
            </a:r>
            <a:r>
              <a:rPr lang="en-US" altLang="ko-KR" dirty="0"/>
              <a:t>:</a:t>
            </a:r>
            <a:r>
              <a:rPr lang="ko-KR" altLang="en-US" dirty="0"/>
              <a:t> 양자 채널로 송신자와 수신자가 암호화 키를 공유하게 하는 프로토콜</a:t>
            </a:r>
            <a:endParaRPr lang="en-US" altLang="ko-KR" dirty="0"/>
          </a:p>
          <a:p>
            <a:pPr marL="628650" lvl="3" indent="0">
              <a:buNone/>
            </a:pPr>
            <a:r>
              <a:rPr lang="en-US" altLang="ko-KR" dirty="0"/>
              <a:t>                       </a:t>
            </a:r>
            <a:r>
              <a:rPr lang="ko-KR" altLang="en-US" dirty="0"/>
              <a:t> </a:t>
            </a:r>
            <a:r>
              <a:rPr lang="ko-KR" altLang="en-US" dirty="0" err="1"/>
              <a:t>베넷과</a:t>
            </a:r>
            <a:r>
              <a:rPr lang="ko-KR" altLang="en-US" dirty="0"/>
              <a:t> </a:t>
            </a:r>
            <a:r>
              <a:rPr lang="ko-KR" altLang="en-US" dirty="0" err="1"/>
              <a:t>브라사르의</a:t>
            </a:r>
            <a:r>
              <a:rPr lang="ko-KR" altLang="en-US" dirty="0"/>
              <a:t> 이름</a:t>
            </a:r>
            <a:r>
              <a:rPr lang="en-US" altLang="ko-KR" dirty="0"/>
              <a:t>, </a:t>
            </a:r>
            <a:r>
              <a:rPr lang="ko-KR" altLang="en-US" dirty="0"/>
              <a:t>만들어진 연도를 따서 명명</a:t>
            </a: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r>
              <a:rPr lang="ko-KR" altLang="en-US" dirty="0"/>
              <a:t>광자</a:t>
            </a:r>
            <a:r>
              <a:rPr lang="en-US" altLang="ko-KR" dirty="0"/>
              <a:t> </a:t>
            </a:r>
            <a:r>
              <a:rPr lang="ko-KR" altLang="en-US" dirty="0"/>
              <a:t>하나하나의 단위로 신호를 실어 나름</a:t>
            </a:r>
            <a:endParaRPr lang="en-US" altLang="ko-KR" dirty="0"/>
          </a:p>
          <a:p>
            <a:pPr lvl="2">
              <a:defRPr/>
            </a:pPr>
            <a:r>
              <a:rPr lang="ko-KR" altLang="en-US" sz="1150" dirty="0"/>
              <a:t>광자 단위로 편광이나 </a:t>
            </a:r>
            <a:r>
              <a:rPr lang="ko-KR" altLang="en-US" sz="1150" dirty="0" err="1"/>
              <a:t>위상차를</a:t>
            </a:r>
            <a:r>
              <a:rPr lang="ko-KR" altLang="en-US" sz="1150" dirty="0"/>
              <a:t> 이용하여 신호를 전송하며</a:t>
            </a:r>
            <a:r>
              <a:rPr lang="en-US" altLang="ko-KR" sz="1150" dirty="0"/>
              <a:t>, </a:t>
            </a:r>
            <a:r>
              <a:rPr lang="ko-KR" altLang="en-US" sz="1150" dirty="0"/>
              <a:t>송신 측에서도 편광 패드나 간섭계를 사용하여 측정</a:t>
            </a:r>
            <a:endParaRPr lang="en-US" altLang="ko-KR" sz="1150" dirty="0"/>
          </a:p>
          <a:p>
            <a:pPr lvl="2">
              <a:defRPr/>
            </a:pPr>
            <a:r>
              <a:rPr lang="ko-KR" altLang="en-US" dirty="0"/>
              <a:t>양자역학의 복제 불가능성 원리와 측정 후 붕괴라는 특이한 현상을 이용함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단일 광자를 정확하게 측정할 수 있는 기회가 단 한 번으로 제한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차세대 암호화 기술로 많은 관심을 받고 있지만 광자의 특성상 </a:t>
            </a:r>
            <a:r>
              <a:rPr lang="ko-KR" altLang="en-US" dirty="0">
                <a:solidFill>
                  <a:srgbClr val="FF0000"/>
                </a:solidFill>
              </a:rPr>
              <a:t>가용 통신 거리가 최대 약 </a:t>
            </a:r>
            <a:r>
              <a:rPr lang="en-US" altLang="ko-KR" dirty="0">
                <a:solidFill>
                  <a:srgbClr val="FF0000"/>
                </a:solidFill>
              </a:rPr>
              <a:t>200km</a:t>
            </a:r>
            <a:r>
              <a:rPr lang="ko-KR" altLang="en-US" dirty="0"/>
              <a:t>로 짧고 </a:t>
            </a:r>
            <a:endParaRPr lang="en-US" altLang="ko-KR" dirty="0"/>
          </a:p>
          <a:p>
            <a:pPr marL="447675" lvl="2" indent="0">
              <a:buNone/>
              <a:defRPr/>
            </a:pPr>
            <a:r>
              <a:rPr lang="en-US" altLang="ko-KR" dirty="0"/>
              <a:t>    </a:t>
            </a:r>
            <a:r>
              <a:rPr lang="ko-KR" altLang="en-US" dirty="0">
                <a:solidFill>
                  <a:srgbClr val="FF0000"/>
                </a:solidFill>
              </a:rPr>
              <a:t>고가의 장비</a:t>
            </a:r>
            <a:r>
              <a:rPr lang="ko-KR" altLang="en-US" dirty="0"/>
              <a:t>로 제한적인 범위에 사용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291787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대칭 암호화 방식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기타 대칭형 알고리즘</a:t>
            </a:r>
            <a:endParaRPr lang="en-US" altLang="ko-KR" dirty="0"/>
          </a:p>
          <a:p>
            <a:pPr lvl="1"/>
            <a:r>
              <a:rPr lang="en-US" altLang="ko-KR" dirty="0"/>
              <a:t>IDEA </a:t>
            </a:r>
            <a:r>
              <a:rPr lang="ko-KR" altLang="en-US" dirty="0"/>
              <a:t>알고리즘</a:t>
            </a:r>
          </a:p>
          <a:p>
            <a:pPr lvl="2"/>
            <a:r>
              <a:rPr lang="en-US" altLang="ko-KR" dirty="0"/>
              <a:t>128</a:t>
            </a:r>
            <a:r>
              <a:rPr lang="ko-KR" altLang="en-US" dirty="0"/>
              <a:t>비트 키를 사용하여 </a:t>
            </a:r>
            <a:r>
              <a:rPr lang="en-US" altLang="ko-KR" dirty="0"/>
              <a:t>64</a:t>
            </a:r>
            <a:r>
              <a:rPr lang="ko-KR" altLang="en-US" dirty="0"/>
              <a:t>비트 </a:t>
            </a:r>
            <a:r>
              <a:rPr lang="ko-KR" altLang="en-US" dirty="0" err="1"/>
              <a:t>평문을</a:t>
            </a:r>
            <a:r>
              <a:rPr lang="ko-KR" altLang="en-US" dirty="0"/>
              <a:t> </a:t>
            </a:r>
            <a:r>
              <a:rPr lang="en-US" altLang="ko-KR" dirty="0"/>
              <a:t>8</a:t>
            </a:r>
            <a:r>
              <a:rPr lang="ko-KR" altLang="en-US" dirty="0"/>
              <a:t>라운드를 거쳐 </a:t>
            </a:r>
            <a:r>
              <a:rPr lang="en-US" altLang="ko-KR" dirty="0"/>
              <a:t>64</a:t>
            </a:r>
            <a:r>
              <a:rPr lang="ko-KR" altLang="en-US" dirty="0"/>
              <a:t>비트 암호문으로 만드는 방식</a:t>
            </a:r>
            <a:endParaRPr lang="en-US" altLang="ko-KR" dirty="0"/>
          </a:p>
          <a:p>
            <a:pPr lvl="2"/>
            <a:r>
              <a:rPr lang="ko-KR" altLang="en-US" dirty="0"/>
              <a:t>모든 연산이 </a:t>
            </a:r>
            <a:r>
              <a:rPr lang="en-US" altLang="ko-KR" dirty="0"/>
              <a:t>16</a:t>
            </a:r>
            <a:r>
              <a:rPr lang="ko-KR" altLang="en-US" dirty="0"/>
              <a:t>비트 단위로 이루어지도록 하여 </a:t>
            </a:r>
            <a:r>
              <a:rPr lang="en-US" altLang="ko-KR" dirty="0"/>
              <a:t>16</a:t>
            </a:r>
            <a:r>
              <a:rPr lang="ko-KR" altLang="en-US" dirty="0"/>
              <a:t>비트 프로세서에서 구현이 용이하며 </a:t>
            </a:r>
            <a:r>
              <a:rPr lang="ko-KR" altLang="en-US" dirty="0">
                <a:solidFill>
                  <a:srgbClr val="FF0000"/>
                </a:solidFill>
              </a:rPr>
              <a:t>주로 키 교환</a:t>
            </a:r>
            <a:r>
              <a:rPr lang="ko-KR" altLang="en-US" dirty="0"/>
              <a:t>에 쓰임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RC5 </a:t>
            </a:r>
            <a:r>
              <a:rPr lang="ko-KR" altLang="en-US" dirty="0"/>
              <a:t>알고리즘</a:t>
            </a:r>
          </a:p>
          <a:p>
            <a:pPr lvl="2"/>
            <a:r>
              <a:rPr lang="ko-KR" altLang="en-US" dirty="0"/>
              <a:t>비교적 간단한 연산으로 </a:t>
            </a:r>
            <a:r>
              <a:rPr lang="ko-KR" altLang="en-US" dirty="0">
                <a:solidFill>
                  <a:srgbClr val="FF0000"/>
                </a:solidFill>
              </a:rPr>
              <a:t>빠른 암호화와 </a:t>
            </a:r>
            <a:r>
              <a:rPr lang="ko-KR" altLang="en-US" dirty="0" err="1">
                <a:solidFill>
                  <a:srgbClr val="FF0000"/>
                </a:solidFill>
              </a:rPr>
              <a:t>복호화</a:t>
            </a:r>
            <a:r>
              <a:rPr lang="ko-KR" altLang="en-US" dirty="0">
                <a:solidFill>
                  <a:srgbClr val="FF0000"/>
                </a:solidFill>
              </a:rPr>
              <a:t> 기능을 제공</a:t>
            </a:r>
            <a:r>
              <a:rPr lang="ko-KR" altLang="en-US" dirty="0"/>
              <a:t>하며 모든 </a:t>
            </a:r>
            <a:r>
              <a:rPr lang="ko-KR" altLang="en-US" dirty="0">
                <a:solidFill>
                  <a:srgbClr val="FF0000"/>
                </a:solidFill>
              </a:rPr>
              <a:t>하드웨어에 적합</a:t>
            </a:r>
            <a:r>
              <a:rPr lang="ko-KR" altLang="en-US" dirty="0"/>
              <a:t>함</a:t>
            </a:r>
            <a:endParaRPr lang="en-US" altLang="ko-KR" dirty="0"/>
          </a:p>
          <a:p>
            <a:pPr lvl="2"/>
            <a:r>
              <a:rPr lang="ko-KR" altLang="en-US" sz="1150" dirty="0"/>
              <a:t>입출력</a:t>
            </a:r>
            <a:r>
              <a:rPr lang="en-US" altLang="ko-KR" sz="1150" dirty="0"/>
              <a:t>, </a:t>
            </a:r>
            <a:r>
              <a:rPr lang="ko-KR" altLang="en-US" sz="1150" dirty="0"/>
              <a:t>키</a:t>
            </a:r>
            <a:r>
              <a:rPr lang="en-US" altLang="ko-KR" sz="1150" dirty="0"/>
              <a:t>, </a:t>
            </a:r>
            <a:r>
              <a:rPr lang="ko-KR" altLang="en-US" sz="1150" dirty="0"/>
              <a:t>라운드 수가 가변인 블록 알고리즘 </a:t>
            </a:r>
            <a:r>
              <a:rPr lang="en-US" altLang="ko-KR" sz="1150" dirty="0"/>
              <a:t>RC5</a:t>
            </a:r>
            <a:r>
              <a:rPr lang="ko-KR" altLang="en-US" sz="1150" dirty="0"/>
              <a:t>는 </a:t>
            </a:r>
            <a:r>
              <a:rPr lang="en-US" altLang="ko-KR" sz="1150" dirty="0"/>
              <a:t>32, 64 </a:t>
            </a:r>
            <a:r>
              <a:rPr lang="ko-KR" altLang="en-US" sz="1150" dirty="0"/>
              <a:t>또는 </a:t>
            </a:r>
            <a:r>
              <a:rPr lang="en-US" altLang="ko-KR" sz="1150" dirty="0"/>
              <a:t>128</a:t>
            </a:r>
            <a:r>
              <a:rPr lang="ko-KR" altLang="en-US" sz="1150" dirty="0"/>
              <a:t>비트 키가 사용되며 속도는 </a:t>
            </a:r>
            <a:r>
              <a:rPr lang="en-US" altLang="ko-KR" sz="1150" dirty="0">
                <a:solidFill>
                  <a:srgbClr val="FF0000"/>
                </a:solidFill>
              </a:rPr>
              <a:t>DES</a:t>
            </a:r>
            <a:r>
              <a:rPr lang="ko-KR" altLang="en-US" sz="1150" dirty="0">
                <a:solidFill>
                  <a:srgbClr val="FF0000"/>
                </a:solidFill>
              </a:rPr>
              <a:t>의 약 </a:t>
            </a:r>
            <a:r>
              <a:rPr lang="en-US" altLang="ko-KR" sz="1150" dirty="0">
                <a:solidFill>
                  <a:srgbClr val="FF0000"/>
                </a:solidFill>
              </a:rPr>
              <a:t>10</a:t>
            </a:r>
            <a:r>
              <a:rPr lang="ko-KR" altLang="en-US" sz="1150" dirty="0">
                <a:solidFill>
                  <a:srgbClr val="FF0000"/>
                </a:solidFill>
              </a:rPr>
              <a:t>배</a:t>
            </a:r>
            <a:endParaRPr lang="en-US" altLang="ko-KR" sz="1150" dirty="0">
              <a:solidFill>
                <a:srgbClr val="FF0000"/>
              </a:solidFill>
            </a:endParaRPr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Skipjack </a:t>
            </a:r>
            <a:r>
              <a:rPr lang="ko-KR" altLang="en-US" dirty="0"/>
              <a:t>알고리즘</a:t>
            </a:r>
          </a:p>
          <a:p>
            <a:pPr lvl="2"/>
            <a:r>
              <a:rPr lang="ko-KR" altLang="en-US" dirty="0"/>
              <a:t>미국 </a:t>
            </a:r>
            <a:r>
              <a:rPr lang="ko-KR" altLang="en-US" dirty="0" err="1">
                <a:solidFill>
                  <a:srgbClr val="FF0000"/>
                </a:solidFill>
              </a:rPr>
              <a:t>국가안보국</a:t>
            </a:r>
            <a:r>
              <a:rPr lang="en-US" altLang="ko-KR" dirty="0">
                <a:solidFill>
                  <a:srgbClr val="FF0000"/>
                </a:solidFill>
              </a:rPr>
              <a:t>(NSA)</a:t>
            </a:r>
            <a:r>
              <a:rPr lang="ko-KR" altLang="en-US" dirty="0"/>
              <a:t>에서 개발한 </a:t>
            </a:r>
            <a:r>
              <a:rPr lang="ko-KR" altLang="en-US" dirty="0" err="1"/>
              <a:t>클리퍼</a:t>
            </a:r>
            <a:r>
              <a:rPr lang="ko-KR" altLang="en-US" dirty="0"/>
              <a:t> 칩에 내장된 블록 알고리즘</a:t>
            </a:r>
            <a:endParaRPr lang="en-US" altLang="ko-KR" dirty="0"/>
          </a:p>
          <a:p>
            <a:pPr lvl="2"/>
            <a:r>
              <a:rPr lang="ko-KR" altLang="en-US" dirty="0"/>
              <a:t>비밀로 유지되던 알고리즘의 형태와 구조가 </a:t>
            </a:r>
            <a:r>
              <a:rPr lang="en-US" altLang="ko-KR" dirty="0"/>
              <a:t>1998</a:t>
            </a:r>
            <a:r>
              <a:rPr lang="ko-KR" altLang="en-US" dirty="0"/>
              <a:t>년에 공개</a:t>
            </a:r>
            <a:endParaRPr lang="en-US" altLang="ko-KR" dirty="0"/>
          </a:p>
          <a:p>
            <a:pPr lvl="2"/>
            <a:r>
              <a:rPr lang="en-US" altLang="ko-KR" dirty="0"/>
              <a:t>64</a:t>
            </a:r>
            <a:r>
              <a:rPr lang="ko-KR" altLang="en-US" dirty="0"/>
              <a:t>비트 입출력</a:t>
            </a:r>
            <a:r>
              <a:rPr lang="en-US" altLang="ko-KR" dirty="0"/>
              <a:t>, 80</a:t>
            </a:r>
            <a:r>
              <a:rPr lang="ko-KR" altLang="en-US" dirty="0"/>
              <a:t>비트 키를 이용하여 총 </a:t>
            </a:r>
            <a:r>
              <a:rPr lang="en-US" altLang="ko-KR" dirty="0"/>
              <a:t>32</a:t>
            </a:r>
            <a:r>
              <a:rPr lang="ko-KR" altLang="en-US" dirty="0"/>
              <a:t>라운드의 암호화 과정을 수행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LEA </a:t>
            </a:r>
            <a:r>
              <a:rPr lang="ko-KR" altLang="en-US" dirty="0"/>
              <a:t>알고리즘</a:t>
            </a:r>
          </a:p>
          <a:p>
            <a:pPr lvl="2"/>
            <a:r>
              <a:rPr lang="ko-KR" altLang="en-US" dirty="0">
                <a:solidFill>
                  <a:srgbClr val="FF0000"/>
                </a:solidFill>
              </a:rPr>
              <a:t>고속 환경 및 모바일 기기 등의 경량 환경에서 기밀성을 제공</a:t>
            </a:r>
            <a:r>
              <a:rPr lang="ko-KR" altLang="en-US" dirty="0"/>
              <a:t>하기 위해 국내에서 개발된 암호화 알고리즘</a:t>
            </a:r>
            <a:endParaRPr lang="en-US" altLang="ko-KR" dirty="0"/>
          </a:p>
          <a:p>
            <a:pPr lvl="2"/>
            <a:r>
              <a:rPr lang="en-US" altLang="ko-KR" dirty="0"/>
              <a:t>AES </a:t>
            </a:r>
            <a:r>
              <a:rPr lang="ko-KR" altLang="en-US" dirty="0"/>
              <a:t>대비 </a:t>
            </a:r>
            <a:r>
              <a:rPr lang="en-US" altLang="ko-KR" dirty="0"/>
              <a:t>1.5~2</a:t>
            </a:r>
            <a:r>
              <a:rPr lang="ko-KR" altLang="en-US" dirty="0"/>
              <a:t>배의 </a:t>
            </a:r>
            <a:r>
              <a:rPr lang="ko-KR" altLang="en-US" dirty="0" err="1"/>
              <a:t>성능임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128</a:t>
            </a:r>
            <a:r>
              <a:rPr lang="ko-KR" altLang="en-US" dirty="0"/>
              <a:t>비트 데이터 블록으로 </a:t>
            </a:r>
            <a:r>
              <a:rPr lang="en-US" altLang="ko-KR" dirty="0"/>
              <a:t>128, 192, 256</a:t>
            </a:r>
            <a:r>
              <a:rPr lang="ko-KR" altLang="en-US" dirty="0"/>
              <a:t>비트 비밀 키를 사용할 수 있음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068823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비대칭 암호화 방식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0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ko-KR" altLang="en-US" dirty="0"/>
                  <a:t>비대칭 암호화 방식의 발견</a:t>
                </a:r>
              </a:p>
              <a:p>
                <a:pPr lvl="2"/>
                <a:r>
                  <a:rPr lang="ko-KR" altLang="en-US" dirty="0"/>
                  <a:t>키 전달과 관련한 아이디어는 </a:t>
                </a:r>
                <a:r>
                  <a:rPr lang="ko-KR" altLang="en-US" dirty="0" err="1">
                    <a:solidFill>
                      <a:srgbClr val="FF0000"/>
                    </a:solidFill>
                  </a:rPr>
                  <a:t>휫필드</a:t>
                </a:r>
                <a:r>
                  <a:rPr lang="ko-KR" altLang="en-US" dirty="0">
                    <a:solidFill>
                      <a:srgbClr val="FF0000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FF0000"/>
                    </a:solidFill>
                  </a:rPr>
                  <a:t>디피</a:t>
                </a:r>
                <a:r>
                  <a:rPr lang="ko-KR" altLang="en-US" dirty="0" err="1"/>
                  <a:t>와</a:t>
                </a:r>
                <a:r>
                  <a:rPr lang="ko-KR" altLang="en-US" dirty="0"/>
                  <a:t> </a:t>
                </a:r>
                <a:r>
                  <a:rPr lang="ko-KR" altLang="en-US" dirty="0">
                    <a:solidFill>
                      <a:srgbClr val="FF0000"/>
                    </a:solidFill>
                  </a:rPr>
                  <a:t>마틴 </a:t>
                </a:r>
                <a:r>
                  <a:rPr lang="ko-KR" altLang="en-US" dirty="0" err="1">
                    <a:solidFill>
                      <a:srgbClr val="FF0000"/>
                    </a:solidFill>
                  </a:rPr>
                  <a:t>헬먼</a:t>
                </a:r>
                <a:r>
                  <a:rPr lang="ko-KR" altLang="en-US" dirty="0" err="1"/>
                  <a:t>이</a:t>
                </a:r>
                <a:r>
                  <a:rPr lang="ko-KR" altLang="en-US" dirty="0"/>
                  <a:t> 처음 발표</a:t>
                </a:r>
                <a:endParaRPr lang="en-US" altLang="ko-KR" dirty="0"/>
              </a:p>
              <a:p>
                <a:pPr lvl="2"/>
                <a:r>
                  <a:rPr lang="ko-KR" altLang="en-US" dirty="0"/>
                  <a:t>비대칭 암호화 알고리즘 아이디어는 </a:t>
                </a:r>
                <a:r>
                  <a:rPr lang="en-US" altLang="ko-KR" dirty="0"/>
                  <a:t>20</a:t>
                </a:r>
                <a:r>
                  <a:rPr lang="ko-KR" altLang="en-US" dirty="0"/>
                  <a:t>세기 </a:t>
                </a:r>
                <a:r>
                  <a:rPr lang="ko-KR" altLang="en-US" dirty="0" err="1"/>
                  <a:t>암호학의</a:t>
                </a:r>
                <a:r>
                  <a:rPr lang="ko-KR" altLang="en-US" dirty="0"/>
                  <a:t> 혁명으로 불렸지만 실제로 사용하기엔 약점이 많았음</a:t>
                </a:r>
                <a:endParaRPr lang="en-US" altLang="ko-KR" dirty="0"/>
              </a:p>
              <a:p>
                <a:pPr lvl="3"/>
                <a:endParaRPr lang="en-US" altLang="ko-KR" dirty="0"/>
              </a:p>
              <a:p>
                <a:pPr lvl="3"/>
                <a:endParaRPr lang="en-US" altLang="ko-KR" dirty="0"/>
              </a:p>
              <a:p>
                <a:pPr lvl="3"/>
                <a:endParaRPr lang="en-US" altLang="ko-KR" dirty="0"/>
              </a:p>
              <a:p>
                <a:pPr lvl="3"/>
                <a:endParaRPr lang="en-US" altLang="ko-KR" dirty="0"/>
              </a:p>
              <a:p>
                <a:pPr lvl="3"/>
                <a:endParaRPr lang="en-US" altLang="ko-KR" dirty="0"/>
              </a:p>
              <a:p>
                <a:pPr lvl="3"/>
                <a:endParaRPr lang="en-US" altLang="ko-KR" dirty="0"/>
              </a:p>
              <a:p>
                <a:pPr lvl="3"/>
                <a:endParaRPr lang="en-US" altLang="ko-KR" dirty="0"/>
              </a:p>
              <a:p>
                <a:pPr lvl="3"/>
                <a:endParaRPr lang="en-US" altLang="ko-KR" dirty="0"/>
              </a:p>
              <a:p>
                <a:pPr lvl="3"/>
                <a:endParaRPr lang="en-US" altLang="ko-KR" dirty="0"/>
              </a:p>
              <a:p>
                <a:pPr lvl="3"/>
                <a:endParaRPr lang="en-US" altLang="ko-KR" dirty="0"/>
              </a:p>
              <a:p>
                <a:pPr lvl="3"/>
                <a:endParaRPr lang="en-US" altLang="ko-KR" dirty="0"/>
              </a:p>
              <a:p>
                <a:pPr lvl="3"/>
                <a:endParaRPr lang="en-US" altLang="ko-KR" dirty="0"/>
              </a:p>
              <a:p>
                <a:pPr lvl="3"/>
                <a:endParaRPr lang="en-US" altLang="ko-KR" dirty="0"/>
              </a:p>
              <a:p>
                <a:pPr lvl="3"/>
                <a:r>
                  <a:rPr lang="ko-KR" altLang="en-US" dirty="0"/>
                  <a:t>철수는 자신이 정한 수 </a:t>
                </a:r>
                <a:r>
                  <a:rPr lang="en-US" altLang="ko-KR" dirty="0"/>
                  <a:t>5</a:t>
                </a:r>
                <a:r>
                  <a:rPr lang="ko-KR" altLang="en-US" dirty="0"/>
                  <a:t>를 사용하여 </a:t>
                </a:r>
                <a:r>
                  <a:rPr lang="en-US" altLang="ko-KR" dirty="0"/>
                  <a:t>3</a:t>
                </a:r>
                <a:r>
                  <a:rPr lang="ko-KR" altLang="en-US" dirty="0"/>
                  <a:t>의 </a:t>
                </a:r>
                <a:r>
                  <a:rPr lang="en-US" altLang="ko-KR" dirty="0"/>
                  <a:t>5</a:t>
                </a:r>
                <a:r>
                  <a:rPr lang="ko-KR" altLang="en-US" dirty="0"/>
                  <a:t>제곱인 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243(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1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1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altLang="ko-KR" sz="11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altLang="ko-KR" dirty="0">
                    <a:solidFill>
                      <a:srgbClr val="FF0000"/>
                    </a:solidFill>
                  </a:rPr>
                  <a:t>)</a:t>
                </a:r>
                <a:r>
                  <a:rPr lang="ko-KR" altLang="en-US" dirty="0"/>
                  <a:t>을 영희에게 전송</a:t>
                </a:r>
                <a:endParaRPr lang="en-US" altLang="ko-KR" dirty="0"/>
              </a:p>
              <a:p>
                <a:pPr lvl="3"/>
                <a:r>
                  <a:rPr lang="ko-KR" altLang="en-US" dirty="0"/>
                  <a:t>영희도 자신의 수를 </a:t>
                </a:r>
                <a:r>
                  <a:rPr lang="en-US" altLang="ko-KR" dirty="0"/>
                  <a:t>7</a:t>
                </a:r>
                <a:r>
                  <a:rPr lang="ko-KR" altLang="en-US" dirty="0"/>
                  <a:t>로 정하고 </a:t>
                </a:r>
                <a:r>
                  <a:rPr lang="en-US" altLang="ko-KR" dirty="0"/>
                  <a:t>3</a:t>
                </a:r>
                <a:r>
                  <a:rPr lang="ko-KR" altLang="en-US" dirty="0"/>
                  <a:t>의 </a:t>
                </a:r>
                <a:r>
                  <a:rPr lang="en-US" altLang="ko-KR" dirty="0"/>
                  <a:t>7</a:t>
                </a:r>
                <a:r>
                  <a:rPr lang="ko-KR" altLang="en-US" dirty="0"/>
                  <a:t>제곱인 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2187(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1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1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altLang="ko-KR" sz="11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lang="en-US" altLang="ko-KR" dirty="0">
                    <a:solidFill>
                      <a:srgbClr val="FF0000"/>
                    </a:solidFill>
                  </a:rPr>
                  <a:t>)</a:t>
                </a:r>
                <a:r>
                  <a:rPr lang="ko-KR" altLang="en-US" dirty="0"/>
                  <a:t>을 철수에게 전송</a:t>
                </a:r>
                <a:endParaRPr lang="en-US" altLang="ko-KR" dirty="0"/>
              </a:p>
              <a:p>
                <a:pPr lvl="3"/>
                <a:r>
                  <a:rPr lang="ko-KR" altLang="en-US" dirty="0"/>
                  <a:t>철수와 영희는 상대에게서 받은 수에 자신의 수를 적용하여 제곱</a:t>
                </a:r>
                <a:endParaRPr lang="en-US" altLang="ko-KR" dirty="0"/>
              </a:p>
              <a:p>
                <a:pPr lvl="3"/>
                <a:r>
                  <a:rPr lang="ko-KR" altLang="en-US" dirty="0"/>
                  <a:t>둘은 자신이 정한 </a:t>
                </a:r>
                <a:r>
                  <a:rPr lang="en-US" altLang="ko-KR" dirty="0"/>
                  <a:t>5</a:t>
                </a:r>
                <a:r>
                  <a:rPr lang="ko-KR" altLang="en-US" dirty="0"/>
                  <a:t>와 </a:t>
                </a:r>
                <a:r>
                  <a:rPr lang="en-US" altLang="ko-KR" dirty="0"/>
                  <a:t>7</a:t>
                </a:r>
                <a:r>
                  <a:rPr lang="ko-KR" altLang="en-US" dirty="0"/>
                  <a:t>이라는 수를 상대방에게 전달하지 않아도 </a:t>
                </a:r>
                <a:r>
                  <a:rPr lang="en-US" altLang="ko-KR" dirty="0"/>
                  <a:t>50,031,545,098,999,707</a:t>
                </a:r>
                <a:r>
                  <a:rPr lang="ko-KR" altLang="en-US" dirty="0"/>
                  <a:t>이라는 같은 키를 공유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0"/>
              </p:nvPr>
            </p:nvSpPr>
            <p:spPr>
              <a:blipFill>
                <a:blip r:embed="rId2"/>
                <a:stretch>
                  <a:fillRect l="-2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6350" y="2636912"/>
            <a:ext cx="3117515" cy="201295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063" y="2628123"/>
            <a:ext cx="4271750" cy="199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8164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비대칭 암호화 방식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90266" cy="5400600"/>
          </a:xfrm>
        </p:spPr>
        <p:txBody>
          <a:bodyPr>
            <a:noAutofit/>
          </a:bodyPr>
          <a:lstStyle/>
          <a:p>
            <a:r>
              <a:rPr lang="en-US" altLang="ko-KR" dirty="0"/>
              <a:t>RSA </a:t>
            </a:r>
            <a:r>
              <a:rPr lang="ko-KR" altLang="en-US" dirty="0"/>
              <a:t>알고리즘</a:t>
            </a:r>
            <a:endParaRPr lang="en-US" altLang="ko-KR" dirty="0"/>
          </a:p>
          <a:p>
            <a:pPr lvl="2"/>
            <a:r>
              <a:rPr lang="ko-KR" altLang="en-US" dirty="0"/>
              <a:t>비대칭 암호화 알고리즘 중에서 가장 많은 지지를 받으며 오늘날 산업 표준으로 사용</a:t>
            </a:r>
            <a:endParaRPr lang="en-US" altLang="ko-KR" dirty="0"/>
          </a:p>
          <a:p>
            <a:pPr lvl="2"/>
            <a:r>
              <a:rPr lang="ko-KR" altLang="en-US" dirty="0"/>
              <a:t>알고리즘은 </a:t>
            </a:r>
            <a:r>
              <a:rPr lang="en-US" altLang="ko-KR" dirty="0"/>
              <a:t>MIT</a:t>
            </a:r>
            <a:r>
              <a:rPr lang="ko-KR" altLang="en-US" dirty="0"/>
              <a:t>의 </a:t>
            </a:r>
            <a:r>
              <a:rPr lang="ko-KR" altLang="en-US" dirty="0" err="1">
                <a:solidFill>
                  <a:srgbClr val="FF0000"/>
                </a:solidFill>
              </a:rPr>
              <a:t>로널드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ko-KR" altLang="en-US" dirty="0" err="1">
                <a:solidFill>
                  <a:srgbClr val="FF0000"/>
                </a:solidFill>
              </a:rPr>
              <a:t>리베스트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 err="1">
                <a:solidFill>
                  <a:srgbClr val="FF0000"/>
                </a:solidFill>
              </a:rPr>
              <a:t>아디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ko-KR" altLang="en-US" dirty="0" err="1">
                <a:solidFill>
                  <a:srgbClr val="FF0000"/>
                </a:solidFill>
              </a:rPr>
              <a:t>샤미르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레너드 </a:t>
            </a:r>
            <a:r>
              <a:rPr lang="ko-KR" altLang="en-US" dirty="0" err="1">
                <a:solidFill>
                  <a:srgbClr val="FF0000"/>
                </a:solidFill>
              </a:rPr>
              <a:t>애들먼</a:t>
            </a:r>
            <a:r>
              <a:rPr lang="ko-KR" altLang="en-US" dirty="0" err="1"/>
              <a:t>이</a:t>
            </a:r>
            <a:r>
              <a:rPr lang="ko-KR" altLang="en-US" dirty="0"/>
              <a:t> 고안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en-US" altLang="ko-KR" dirty="0"/>
              <a:t>RSA </a:t>
            </a:r>
            <a:r>
              <a:rPr lang="ko-KR" altLang="en-US" dirty="0"/>
              <a:t>암호는 기본적인 정수론</a:t>
            </a:r>
            <a:r>
              <a:rPr lang="en-US" altLang="ko-KR" dirty="0"/>
              <a:t>, </a:t>
            </a:r>
            <a:r>
              <a:rPr lang="ko-KR" altLang="en-US" dirty="0"/>
              <a:t>즉 </a:t>
            </a:r>
            <a:r>
              <a:rPr lang="ko-KR" altLang="en-US" dirty="0">
                <a:solidFill>
                  <a:srgbClr val="FF0000"/>
                </a:solidFill>
              </a:rPr>
              <a:t>소수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素數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r>
              <a:rPr lang="ko-KR" altLang="en-US" dirty="0">
                <a:solidFill>
                  <a:srgbClr val="FF0000"/>
                </a:solidFill>
              </a:rPr>
              <a:t>를 이용</a:t>
            </a:r>
            <a:endParaRPr lang="en-US" altLang="ko-KR" dirty="0">
              <a:solidFill>
                <a:srgbClr val="FF0000"/>
              </a:solidFill>
            </a:endParaRPr>
          </a:p>
          <a:p>
            <a:pPr lvl="2"/>
            <a:r>
              <a:rPr lang="ko-KR" altLang="en-US" dirty="0"/>
              <a:t>중요 정보를 소수 </a:t>
            </a:r>
            <a:r>
              <a:rPr lang="en-US" altLang="ko-KR" dirty="0"/>
              <a:t>2</a:t>
            </a:r>
            <a:r>
              <a:rPr lang="ko-KR" altLang="en-US" dirty="0"/>
              <a:t>개로 표현한 후 두 소수의 곱을 힌트와 함께 전송하여 암호로 사용하는 것</a:t>
            </a:r>
            <a:endParaRPr lang="en-US" altLang="ko-KR" dirty="0"/>
          </a:p>
          <a:p>
            <a:pPr lvl="3"/>
            <a:r>
              <a:rPr lang="en-US" altLang="ko-KR" dirty="0"/>
              <a:t>RSA </a:t>
            </a:r>
            <a:r>
              <a:rPr lang="ko-KR" altLang="en-US" dirty="0"/>
              <a:t>알고리즘에서는 모든 사람이 고유한 </a:t>
            </a:r>
            <a:r>
              <a:rPr lang="en-US" altLang="ko-KR" dirty="0"/>
              <a:t>N </a:t>
            </a:r>
            <a:r>
              <a:rPr lang="ko-KR" altLang="en-US" dirty="0"/>
              <a:t>값</a:t>
            </a:r>
            <a:r>
              <a:rPr lang="en-US" altLang="ko-KR" dirty="0"/>
              <a:t>(</a:t>
            </a:r>
            <a:r>
              <a:rPr lang="ko-KR" altLang="en-US" dirty="0"/>
              <a:t>두 소수 의 곱</a:t>
            </a:r>
            <a:r>
              <a:rPr lang="en-US" altLang="ko-KR" dirty="0"/>
              <a:t>)</a:t>
            </a:r>
            <a:r>
              <a:rPr lang="ko-KR" altLang="en-US" dirty="0"/>
              <a:t>을 가짐</a:t>
            </a:r>
            <a:endParaRPr lang="en-US" altLang="ko-KR" dirty="0"/>
          </a:p>
          <a:p>
            <a:pPr lvl="3"/>
            <a:r>
              <a:rPr lang="ko-KR" altLang="en-US" dirty="0"/>
              <a:t>영희가 </a:t>
            </a:r>
            <a:r>
              <a:rPr lang="en-US" altLang="ko-KR" dirty="0"/>
              <a:t>p=17,159</a:t>
            </a:r>
            <a:r>
              <a:rPr lang="ko-KR" altLang="en-US" dirty="0"/>
              <a:t>와 </a:t>
            </a:r>
            <a:r>
              <a:rPr lang="en-US" altLang="ko-KR" dirty="0"/>
              <a:t>q=10,247</a:t>
            </a:r>
            <a:r>
              <a:rPr lang="ko-KR" altLang="en-US" dirty="0"/>
              <a:t>의 곱을 자신의 </a:t>
            </a:r>
            <a:r>
              <a:rPr lang="en-US" altLang="ko-KR" dirty="0"/>
              <a:t>N </a:t>
            </a:r>
            <a:r>
              <a:rPr lang="ko-KR" altLang="en-US" dirty="0"/>
              <a:t>값</a:t>
            </a:r>
            <a:r>
              <a:rPr lang="en-US" altLang="ko-KR" dirty="0"/>
              <a:t>(17,159×10,247= 175,828,273)</a:t>
            </a:r>
            <a:r>
              <a:rPr lang="ko-KR" altLang="en-US" dirty="0"/>
              <a:t>으로 정함</a:t>
            </a:r>
            <a:endParaRPr lang="en-US" altLang="ko-KR" dirty="0"/>
          </a:p>
          <a:p>
            <a:pPr lvl="3"/>
            <a:r>
              <a:rPr lang="ko-KR" altLang="en-US" dirty="0">
                <a:solidFill>
                  <a:srgbClr val="FF0000"/>
                </a:solidFill>
              </a:rPr>
              <a:t>영희의 공개 키인 </a:t>
            </a:r>
            <a:r>
              <a:rPr lang="en-US" altLang="ko-KR" dirty="0">
                <a:solidFill>
                  <a:srgbClr val="FF0000"/>
                </a:solidFill>
              </a:rPr>
              <a:t>N </a:t>
            </a:r>
            <a:r>
              <a:rPr lang="ko-KR" altLang="en-US" dirty="0">
                <a:solidFill>
                  <a:srgbClr val="FF0000"/>
                </a:solidFill>
              </a:rPr>
              <a:t>값</a:t>
            </a:r>
            <a:r>
              <a:rPr lang="ko-KR" altLang="en-US" dirty="0"/>
              <a:t>이 모든 사람에게 공개</a:t>
            </a:r>
            <a:endParaRPr lang="en-US" altLang="ko-KR" dirty="0"/>
          </a:p>
          <a:p>
            <a:pPr lvl="3"/>
            <a:r>
              <a:rPr lang="ko-KR" altLang="en-US" dirty="0"/>
              <a:t>영희에게 메시지를 보내고 싶은 사람은 </a:t>
            </a:r>
            <a:r>
              <a:rPr lang="en-US" altLang="ko-KR" dirty="0"/>
              <a:t>N </a:t>
            </a:r>
            <a:r>
              <a:rPr lang="ko-KR" altLang="en-US" dirty="0"/>
              <a:t>값을 이용하여 보내는 메시지를 어떤 알고리즘으로 암호화한 후 영희에게 전송</a:t>
            </a:r>
            <a:endParaRPr lang="en-US" altLang="ko-KR" dirty="0"/>
          </a:p>
          <a:p>
            <a:pPr lvl="3"/>
            <a:r>
              <a:rPr lang="ko-KR" altLang="en-US" dirty="0"/>
              <a:t>여기서 </a:t>
            </a:r>
            <a:r>
              <a:rPr lang="ko-KR" altLang="en-US" dirty="0">
                <a:solidFill>
                  <a:srgbClr val="FF0000"/>
                </a:solidFill>
              </a:rPr>
              <a:t>영희의 개인 키는 </a:t>
            </a:r>
            <a:r>
              <a:rPr lang="en-US" altLang="ko-KR" dirty="0">
                <a:solidFill>
                  <a:srgbClr val="FF0000"/>
                </a:solidFill>
              </a:rPr>
              <a:t>p</a:t>
            </a:r>
            <a:r>
              <a:rPr lang="ko-KR" altLang="en-US" dirty="0">
                <a:solidFill>
                  <a:srgbClr val="FF0000"/>
                </a:solidFill>
              </a:rPr>
              <a:t>와 </a:t>
            </a:r>
            <a:r>
              <a:rPr lang="en-US" altLang="ko-KR" dirty="0">
                <a:solidFill>
                  <a:srgbClr val="FF0000"/>
                </a:solidFill>
              </a:rPr>
              <a:t>q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2276872"/>
            <a:ext cx="5004048" cy="1905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5167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비대칭 암호화 방식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90266" cy="5400600"/>
          </a:xfrm>
        </p:spPr>
        <p:txBody>
          <a:bodyPr>
            <a:noAutofit/>
          </a:bodyPr>
          <a:lstStyle/>
          <a:p>
            <a:r>
              <a:rPr lang="ko-KR" altLang="en-US" dirty="0"/>
              <a:t>비대칭 암호화의 구조</a:t>
            </a:r>
            <a:endParaRPr lang="en-US" altLang="ko-KR" dirty="0"/>
          </a:p>
          <a:p>
            <a:pPr lvl="2"/>
            <a:r>
              <a:rPr lang="ko-KR" altLang="en-US" dirty="0"/>
              <a:t>비대칭 암호화 알고리즘은  </a:t>
            </a:r>
            <a:r>
              <a:rPr lang="en-US" altLang="ko-KR" dirty="0"/>
              <a:t>RSA </a:t>
            </a:r>
            <a:r>
              <a:rPr lang="ko-KR" altLang="en-US" dirty="0"/>
              <a:t>알고리즘이 나오면서 정립</a:t>
            </a:r>
            <a:endParaRPr lang="en-US" altLang="ko-KR" dirty="0"/>
          </a:p>
          <a:p>
            <a:pPr lvl="2"/>
            <a:r>
              <a:rPr lang="ko-KR" altLang="en-US" dirty="0"/>
              <a:t> 각 개인이 공개 키와 개인 키를 소유하는 구조지만 서로의 개인 키는 얻을 수 없음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sz="1800" dirty="0"/>
          </a:p>
          <a:p>
            <a:pPr lvl="2"/>
            <a:endParaRPr lang="en-US" altLang="ko-KR" dirty="0"/>
          </a:p>
          <a:p>
            <a:pPr lvl="2"/>
            <a:r>
              <a:rPr lang="ko-KR" altLang="en-US" dirty="0"/>
              <a:t>대칭 암호화 알고리즘과 달리 메시지의 암호화와 복호화가 같은 키로 이루어지지 않음</a:t>
            </a:r>
            <a:endParaRPr lang="en-US" altLang="ko-KR" dirty="0"/>
          </a:p>
          <a:p>
            <a:pPr lvl="2"/>
            <a:r>
              <a:rPr lang="ko-KR" altLang="en-US" dirty="0"/>
              <a:t>언제나 한 쌍의 </a:t>
            </a:r>
            <a:r>
              <a:rPr lang="ko-KR" altLang="en-US" dirty="0">
                <a:solidFill>
                  <a:srgbClr val="FF0000"/>
                </a:solidFill>
              </a:rPr>
              <a:t>개인 키와 공개 키로 암호화와 복호화</a:t>
            </a:r>
            <a:r>
              <a:rPr lang="ko-KR" altLang="en-US" dirty="0"/>
              <a:t>가 이루어짐</a:t>
            </a:r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007" y="2132856"/>
            <a:ext cx="2498506" cy="13978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0265" y="4406378"/>
            <a:ext cx="2980674" cy="1037391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155" y="5539266"/>
            <a:ext cx="2951452" cy="1017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3869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비대칭 암호화 방식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90266" cy="5400600"/>
          </a:xfrm>
        </p:spPr>
        <p:txBody>
          <a:bodyPr>
            <a:noAutofit/>
          </a:bodyPr>
          <a:lstStyle/>
          <a:p>
            <a:r>
              <a:rPr lang="ko-KR" altLang="en-US" dirty="0"/>
              <a:t>비대칭 암호화의 기능</a:t>
            </a:r>
            <a:endParaRPr lang="en-US" altLang="ko-KR" dirty="0"/>
          </a:p>
          <a:p>
            <a:pPr lvl="1"/>
            <a:r>
              <a:rPr lang="ko-KR" altLang="en-US" dirty="0">
                <a:solidFill>
                  <a:srgbClr val="FF0000"/>
                </a:solidFill>
              </a:rPr>
              <a:t>기밀성</a:t>
            </a:r>
            <a:endParaRPr lang="en-US" altLang="ko-KR" dirty="0">
              <a:solidFill>
                <a:srgbClr val="FF0000"/>
              </a:solidFill>
            </a:endParaRPr>
          </a:p>
          <a:p>
            <a:pPr lvl="2"/>
            <a:r>
              <a:rPr lang="ko-KR" altLang="en-US" dirty="0"/>
              <a:t>비대칭 암호화 알고리즘은 대칭 암호화 알고리즘보다 더 엄밀한 기밀성을 제공</a:t>
            </a:r>
            <a:endParaRPr lang="en-US" altLang="ko-KR" dirty="0"/>
          </a:p>
          <a:p>
            <a:pPr lvl="3"/>
            <a:r>
              <a:rPr lang="ko-KR" altLang="en-US" dirty="0"/>
              <a:t>철수는 전화번호부에서 전화번호를 찾듯이 영희의 공개 키를 구함</a:t>
            </a:r>
            <a:endParaRPr lang="en-US" altLang="ko-KR" dirty="0"/>
          </a:p>
          <a:p>
            <a:pPr lvl="3"/>
            <a:r>
              <a:rPr lang="ko-KR" altLang="en-US" dirty="0"/>
              <a:t>편지를 암호화한 후 </a:t>
            </a:r>
            <a:r>
              <a:rPr lang="ko-KR" altLang="en-US" dirty="0" err="1"/>
              <a:t>공개키를</a:t>
            </a:r>
            <a:r>
              <a:rPr lang="ko-KR" altLang="en-US" dirty="0"/>
              <a:t> 이용하여 전송</a:t>
            </a:r>
            <a:endParaRPr lang="en-US" altLang="ko-KR" dirty="0"/>
          </a:p>
          <a:p>
            <a:pPr lvl="3"/>
            <a:r>
              <a:rPr lang="ko-KR" altLang="en-US" dirty="0"/>
              <a:t>영희는 자신이 가진 개인 키로 철수의 편지를 </a:t>
            </a:r>
            <a:r>
              <a:rPr lang="ko-KR" altLang="en-US" dirty="0" err="1"/>
              <a:t>복호화하여</a:t>
            </a:r>
            <a:r>
              <a:rPr lang="ko-KR" altLang="en-US" dirty="0"/>
              <a:t> 읽을 수 있음</a:t>
            </a:r>
            <a:endParaRPr lang="en-US" altLang="ko-KR" dirty="0"/>
          </a:p>
          <a:p>
            <a:pPr lvl="3"/>
            <a:r>
              <a:rPr lang="ko-KR" altLang="en-US" dirty="0"/>
              <a:t>민수가 중간에서 편지를 가로채더라도 영희의 공개 키로 암호화한 편지를 민수의 개인 키로는 </a:t>
            </a:r>
            <a:r>
              <a:rPr lang="ko-KR" altLang="en-US" dirty="0" err="1"/>
              <a:t>복호화</a:t>
            </a:r>
            <a:r>
              <a:rPr lang="ko-KR" altLang="en-US" dirty="0"/>
              <a:t> 불가</a:t>
            </a:r>
            <a:endParaRPr lang="en-US" altLang="ko-KR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3573016"/>
            <a:ext cx="5832648" cy="2552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6542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비대칭 암호화 방식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90266" cy="5400600"/>
          </a:xfrm>
        </p:spPr>
        <p:txBody>
          <a:bodyPr>
            <a:noAutofit/>
          </a:bodyPr>
          <a:lstStyle/>
          <a:p>
            <a:r>
              <a:rPr lang="ko-KR" altLang="en-US" dirty="0"/>
              <a:t>비대칭 암호화의 기능</a:t>
            </a:r>
            <a:endParaRPr lang="en-US" altLang="ko-KR" dirty="0"/>
          </a:p>
          <a:p>
            <a:pPr lvl="1"/>
            <a:r>
              <a:rPr lang="ko-KR" altLang="en-US" dirty="0">
                <a:solidFill>
                  <a:srgbClr val="FF0000"/>
                </a:solidFill>
              </a:rPr>
              <a:t>부인 방지</a:t>
            </a:r>
            <a:endParaRPr lang="en-US" altLang="ko-KR" dirty="0">
              <a:solidFill>
                <a:srgbClr val="FF0000"/>
              </a:solidFill>
            </a:endParaRPr>
          </a:p>
          <a:p>
            <a:pPr lvl="2"/>
            <a:r>
              <a:rPr lang="ko-KR" altLang="en-US" dirty="0"/>
              <a:t>대칭 암호화 알고리즘에는 없는 기능으로 쉽게 말하면 ‘발뺌 방지</a:t>
            </a:r>
            <a:r>
              <a:rPr lang="en-US" altLang="ko-KR" dirty="0"/>
              <a:t>’</a:t>
            </a:r>
          </a:p>
          <a:p>
            <a:pPr lvl="3"/>
            <a:r>
              <a:rPr lang="ko-KR" altLang="en-US" dirty="0"/>
              <a:t>철수의 개인 키로 암호화된 편지는 철수의 공개 키로만 열 수 있음</a:t>
            </a:r>
            <a:endParaRPr lang="en-US" altLang="ko-KR" dirty="0"/>
          </a:p>
          <a:p>
            <a:pPr lvl="3"/>
            <a:r>
              <a:rPr lang="ko-KR" altLang="en-US" dirty="0"/>
              <a:t>철수의 개인 키는 철수만 가지고 있으므로</a:t>
            </a:r>
            <a:r>
              <a:rPr lang="en-US" altLang="ko-KR" dirty="0"/>
              <a:t>, </a:t>
            </a:r>
            <a:r>
              <a:rPr lang="ko-KR" altLang="en-US" dirty="0"/>
              <a:t>영희는 받은 편지가 철수의 공개 키로 풀려야만 그 편지는 철수가 보낸 </a:t>
            </a:r>
            <a:endParaRPr lang="en-US" altLang="ko-KR" dirty="0"/>
          </a:p>
          <a:p>
            <a:pPr marL="628650" lvl="3" indent="0">
              <a:buNone/>
            </a:pPr>
            <a:r>
              <a:rPr lang="en-US" altLang="ko-KR" dirty="0"/>
              <a:t>    </a:t>
            </a:r>
            <a:r>
              <a:rPr lang="ko-KR" altLang="en-US" dirty="0"/>
              <a:t>편지라고 확신할 수 있음</a:t>
            </a:r>
            <a:endParaRPr lang="en-US" altLang="ko-KR" dirty="0"/>
          </a:p>
          <a:p>
            <a:pPr lvl="3"/>
            <a:r>
              <a:rPr lang="ko-KR" altLang="en-US" dirty="0"/>
              <a:t>영화나 소설에서 두 사람이 어쩔 수 없이 헤어져야 할 때 훗날을 위한 증표로 장신구를 건네는 것과 </a:t>
            </a:r>
            <a:r>
              <a:rPr lang="ko-KR" altLang="en-US" dirty="0" err="1"/>
              <a:t>비슷</a:t>
            </a:r>
            <a:endParaRPr lang="en-US" altLang="ko-KR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3573016"/>
            <a:ext cx="5832648" cy="2536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3614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비대칭 암호화 방식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90266" cy="5400600"/>
          </a:xfrm>
        </p:spPr>
        <p:txBody>
          <a:bodyPr>
            <a:noAutofit/>
          </a:bodyPr>
          <a:lstStyle/>
          <a:p>
            <a:r>
              <a:rPr lang="ko-KR" altLang="en-US" dirty="0"/>
              <a:t>비대칭 암호화의 기능</a:t>
            </a:r>
            <a:endParaRPr lang="en-US" altLang="ko-KR" dirty="0"/>
          </a:p>
          <a:p>
            <a:pPr lvl="1"/>
            <a:r>
              <a:rPr lang="ko-KR" altLang="en-US" dirty="0"/>
              <a:t>암호화 키와 관련된 용어</a:t>
            </a:r>
            <a:endParaRPr lang="en-US" altLang="ko-KR" dirty="0"/>
          </a:p>
          <a:p>
            <a:pPr lvl="2"/>
            <a:r>
              <a:rPr lang="ko-KR" altLang="en-US" dirty="0"/>
              <a:t>대칭 키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rgbClr val="FF0000"/>
                </a:solidFill>
              </a:rPr>
              <a:t>암호화할 때 쓰는 키와 </a:t>
            </a:r>
            <a:r>
              <a:rPr lang="ko-KR" altLang="en-US" dirty="0" err="1">
                <a:solidFill>
                  <a:srgbClr val="FF0000"/>
                </a:solidFill>
              </a:rPr>
              <a:t>복호화할</a:t>
            </a:r>
            <a:r>
              <a:rPr lang="ko-KR" altLang="en-US" dirty="0">
                <a:solidFill>
                  <a:srgbClr val="FF0000"/>
                </a:solidFill>
              </a:rPr>
              <a:t> 때 쓰는 키가 같은 것</a:t>
            </a:r>
            <a:endParaRPr lang="en-US" altLang="ko-KR" dirty="0">
              <a:solidFill>
                <a:srgbClr val="FF0000"/>
              </a:solidFill>
            </a:endParaRPr>
          </a:p>
          <a:p>
            <a:pPr lvl="2"/>
            <a:r>
              <a:rPr lang="ko-KR" altLang="en-US" dirty="0"/>
              <a:t>비밀 키</a:t>
            </a:r>
            <a:r>
              <a:rPr lang="en-US" altLang="ko-KR" dirty="0"/>
              <a:t>:</a:t>
            </a:r>
            <a:r>
              <a:rPr lang="ko-KR" altLang="en-US" dirty="0"/>
              <a:t> 암호화할 때와 </a:t>
            </a:r>
            <a:r>
              <a:rPr lang="ko-KR" altLang="en-US" dirty="0" err="1"/>
              <a:t>복호화할</a:t>
            </a:r>
            <a:r>
              <a:rPr lang="ko-KR" altLang="en-US" dirty="0"/>
              <a:t> 때 사용되는 키가 같으므로 암호문이 효력을 발휘하려면 </a:t>
            </a:r>
            <a:r>
              <a:rPr lang="ko-KR" altLang="en-US" dirty="0">
                <a:solidFill>
                  <a:srgbClr val="FF0000"/>
                </a:solidFill>
              </a:rPr>
              <a:t>발신자와 수신자</a:t>
            </a:r>
            <a:endParaRPr lang="en-US" altLang="ko-KR" dirty="0">
              <a:solidFill>
                <a:srgbClr val="FF0000"/>
              </a:solidFill>
            </a:endParaRPr>
          </a:p>
          <a:p>
            <a:pPr marL="447675" lvl="2" indent="0">
              <a:buNone/>
            </a:pPr>
            <a:r>
              <a:rPr lang="en-US" altLang="ko-KR" dirty="0">
                <a:solidFill>
                  <a:srgbClr val="FF0000"/>
                </a:solidFill>
              </a:rPr>
              <a:t>              </a:t>
            </a:r>
            <a:r>
              <a:rPr lang="ko-KR" altLang="en-US" dirty="0">
                <a:solidFill>
                  <a:srgbClr val="FF0000"/>
                </a:solidFill>
              </a:rPr>
              <a:t>사이의 키에 대한 정보가 비밀로 유지</a:t>
            </a:r>
            <a:endParaRPr lang="en-US" altLang="ko-KR" dirty="0">
              <a:solidFill>
                <a:srgbClr val="FF0000"/>
              </a:solidFill>
            </a:endParaRPr>
          </a:p>
          <a:p>
            <a:pPr marL="447675" lvl="2" indent="0">
              <a:buNone/>
            </a:pPr>
            <a:endParaRPr lang="en-US" altLang="ko-KR" sz="100" dirty="0"/>
          </a:p>
          <a:p>
            <a:pPr lvl="2"/>
            <a:r>
              <a:rPr lang="ko-KR" altLang="en-US" dirty="0"/>
              <a:t>비대칭 키</a:t>
            </a:r>
            <a:r>
              <a:rPr lang="en-US" altLang="ko-KR" dirty="0"/>
              <a:t>:</a:t>
            </a:r>
            <a:r>
              <a:rPr lang="ko-KR" altLang="en-US" dirty="0"/>
              <a:t> 암호화할 때 쓰는 키와 </a:t>
            </a:r>
            <a:r>
              <a:rPr lang="ko-KR" altLang="en-US" dirty="0" err="1"/>
              <a:t>복호화할</a:t>
            </a:r>
            <a:r>
              <a:rPr lang="ko-KR" altLang="en-US" dirty="0"/>
              <a:t> 때 쓰는 키가 다른 것</a:t>
            </a:r>
            <a:r>
              <a:rPr lang="en-US" altLang="ko-KR" dirty="0"/>
              <a:t> (</a:t>
            </a:r>
            <a:r>
              <a:rPr lang="ko-KR" altLang="en-US" dirty="0"/>
              <a:t>공개 키와 개인 키를 묶어 비대칭 키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공개 키와 개인 키</a:t>
            </a:r>
            <a:r>
              <a:rPr lang="en-US" altLang="ko-KR" dirty="0"/>
              <a:t>:</a:t>
            </a:r>
            <a:r>
              <a:rPr lang="ko-KR" altLang="en-US" dirty="0"/>
              <a:t> 발신자와 수신자가 각각 한 쌍을 소유</a:t>
            </a:r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3933056"/>
            <a:ext cx="5464371" cy="1610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9277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해시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90266" cy="5400600"/>
          </a:xfrm>
        </p:spPr>
        <p:txBody>
          <a:bodyPr>
            <a:noAutofit/>
          </a:bodyPr>
          <a:lstStyle/>
          <a:p>
            <a:r>
              <a:rPr lang="ko-KR" altLang="en-US" dirty="0"/>
              <a:t>해시의 특징</a:t>
            </a:r>
            <a:endParaRPr lang="en-US" altLang="ko-KR" dirty="0"/>
          </a:p>
          <a:p>
            <a:pPr lvl="2"/>
            <a:r>
              <a:rPr lang="ko-KR" altLang="en-US" dirty="0">
                <a:solidFill>
                  <a:srgbClr val="FF0000"/>
                </a:solidFill>
              </a:rPr>
              <a:t>하나의 문자열을 더 짧은 길이의 값이나 키로 변환</a:t>
            </a:r>
            <a:r>
              <a:rPr lang="ko-KR" altLang="en-US" dirty="0"/>
              <a:t>하는 것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>
                <a:solidFill>
                  <a:srgbClr val="FF0000"/>
                </a:solidFill>
              </a:rPr>
              <a:t>정보의 위조</a:t>
            </a:r>
            <a:r>
              <a:rPr lang="en-US" altLang="ko-KR" dirty="0">
                <a:solidFill>
                  <a:srgbClr val="FF0000"/>
                </a:solidFill>
              </a:rPr>
              <a:t>·</a:t>
            </a:r>
            <a:r>
              <a:rPr lang="ko-KR" altLang="en-US" dirty="0">
                <a:solidFill>
                  <a:srgbClr val="FF0000"/>
                </a:solidFill>
              </a:rPr>
              <a:t>변조를 확인</a:t>
            </a:r>
            <a:r>
              <a:rPr lang="ko-KR" altLang="en-US" dirty="0"/>
              <a:t>하기 위한 것</a:t>
            </a:r>
            <a:r>
              <a:rPr lang="en-US" altLang="ko-KR" dirty="0"/>
              <a:t>, </a:t>
            </a:r>
            <a:r>
              <a:rPr lang="ko-KR" altLang="en-US" dirty="0"/>
              <a:t>즉 </a:t>
            </a:r>
            <a:r>
              <a:rPr lang="ko-KR" altLang="en-US" dirty="0">
                <a:solidFill>
                  <a:srgbClr val="FF0000"/>
                </a:solidFill>
              </a:rPr>
              <a:t>정보의 무결성을 확인</a:t>
            </a:r>
            <a:r>
              <a:rPr lang="ko-KR" altLang="en-US" dirty="0"/>
              <a:t>하기 위한 것</a:t>
            </a:r>
            <a:endParaRPr lang="en-US" altLang="ko-KR" dirty="0"/>
          </a:p>
          <a:p>
            <a:pPr lvl="2"/>
            <a:r>
              <a:rPr lang="ko-KR" altLang="en-US" dirty="0"/>
              <a:t>해시를 사용하여 </a:t>
            </a:r>
            <a:r>
              <a:rPr lang="ko-KR" altLang="en-US" dirty="0">
                <a:solidFill>
                  <a:srgbClr val="FF0000"/>
                </a:solidFill>
              </a:rPr>
              <a:t>전자서명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 err="1">
                <a:solidFill>
                  <a:srgbClr val="FF0000"/>
                </a:solidFill>
              </a:rPr>
              <a:t>전자봉투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전자화폐 등 다양한 전자상거래 기능 구현 </a:t>
            </a:r>
            <a:r>
              <a:rPr lang="ko-KR" altLang="en-US" dirty="0"/>
              <a:t>가능</a:t>
            </a:r>
            <a:endParaRPr lang="en-US" altLang="ko-KR" dirty="0"/>
          </a:p>
          <a:p>
            <a:pPr lvl="2"/>
            <a:r>
              <a:rPr lang="ko-KR" altLang="en-US" dirty="0"/>
              <a:t>대표적인 해시 알고리즘은 </a:t>
            </a:r>
            <a:r>
              <a:rPr lang="en-US" altLang="ko-KR" dirty="0"/>
              <a:t>MD5</a:t>
            </a:r>
          </a:p>
          <a:p>
            <a:pPr lvl="2"/>
            <a:endParaRPr lang="en-US" altLang="ko-KR" sz="100" dirty="0"/>
          </a:p>
          <a:p>
            <a:pPr lvl="2"/>
            <a:r>
              <a:rPr lang="ko-KR" altLang="en-US" dirty="0"/>
              <a:t>세 </a:t>
            </a:r>
            <a:r>
              <a:rPr lang="ko-KR" altLang="en-US" dirty="0" err="1"/>
              <a:t>평문은</a:t>
            </a:r>
            <a:r>
              <a:rPr lang="ko-KR" altLang="en-US" dirty="0"/>
              <a:t> 길이가 각각 다르지만 해시 결과는 </a:t>
            </a:r>
            <a:r>
              <a:rPr lang="en-US" altLang="ko-KR" dirty="0"/>
              <a:t>32</a:t>
            </a:r>
            <a:r>
              <a:rPr lang="ko-KR" altLang="en-US" dirty="0"/>
              <a:t>개 문자로 길이가 모두 같음</a:t>
            </a:r>
            <a:endParaRPr lang="en-US" altLang="ko-KR" dirty="0"/>
          </a:p>
          <a:p>
            <a:pPr lvl="2"/>
            <a:r>
              <a:rPr lang="ko-KR" altLang="en-US" dirty="0"/>
              <a:t>두 번째와 세 번째 </a:t>
            </a:r>
            <a:r>
              <a:rPr lang="ko-KR" altLang="en-US" dirty="0" err="1"/>
              <a:t>평문은</a:t>
            </a:r>
            <a:r>
              <a:rPr lang="ko-KR" altLang="en-US" dirty="0"/>
              <a:t> 단어 하나만 다를 뿐인데 해시 결과는 완전히 다름</a:t>
            </a:r>
            <a:endParaRPr lang="en-US" altLang="ko-KR" dirty="0"/>
          </a:p>
          <a:p>
            <a:pPr lvl="3"/>
            <a:r>
              <a:rPr lang="ko-KR" altLang="en-US" dirty="0" err="1"/>
              <a:t>해시되기</a:t>
            </a:r>
            <a:r>
              <a:rPr lang="ko-KR" altLang="en-US" dirty="0"/>
              <a:t> 전의 값을 해시 값으로 추측하기가 불가능하다는 특징 때문에 일어난 결과</a:t>
            </a:r>
            <a:endParaRPr lang="en-US" altLang="ko-KR" dirty="0"/>
          </a:p>
          <a:p>
            <a:pPr lvl="3"/>
            <a:r>
              <a:rPr lang="ko-KR" altLang="en-US" dirty="0">
                <a:solidFill>
                  <a:srgbClr val="FF0000"/>
                </a:solidFill>
              </a:rPr>
              <a:t>충돌</a:t>
            </a:r>
            <a:r>
              <a:rPr lang="en-US" altLang="ko-KR" dirty="0"/>
              <a:t>: </a:t>
            </a:r>
            <a:r>
              <a:rPr lang="ko-KR" altLang="en-US" dirty="0"/>
              <a:t>다른 값의 데이터를 입력하더라도 해시 결과 값이 같을 수 있는 상황</a:t>
            </a:r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3645024"/>
            <a:ext cx="4536504" cy="3018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9978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해시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90266" cy="5400600"/>
          </a:xfrm>
        </p:spPr>
        <p:txBody>
          <a:bodyPr>
            <a:noAutofit/>
          </a:bodyPr>
          <a:lstStyle/>
          <a:p>
            <a:r>
              <a:rPr lang="ko-KR" altLang="en-US" dirty="0"/>
              <a:t>해시의 역할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원래 해시는 </a:t>
            </a:r>
            <a:r>
              <a:rPr lang="ko-KR" altLang="en-US" dirty="0">
                <a:solidFill>
                  <a:srgbClr val="FF0000"/>
                </a:solidFill>
              </a:rPr>
              <a:t>데이터베이스의 탐색을 효과적으로 구현</a:t>
            </a:r>
            <a:r>
              <a:rPr lang="ko-KR" altLang="en-US" dirty="0"/>
              <a:t>하기 위해 만들어진 것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보안에서는 해시가 완전히 똑같은 데이터만 해시 값이 같고 조금만 달라도 해시 값이 전혀 다르다는 점을 </a:t>
            </a:r>
            <a:endParaRPr lang="en-US" altLang="ko-KR" dirty="0"/>
          </a:p>
          <a:p>
            <a:pPr marL="447675" lvl="2" indent="0">
              <a:buNone/>
              <a:defRPr/>
            </a:pPr>
            <a:r>
              <a:rPr lang="ko-KR" altLang="en-US" sz="1100" dirty="0"/>
              <a:t>    </a:t>
            </a:r>
            <a:r>
              <a:rPr lang="ko-KR" altLang="en-US" dirty="0"/>
              <a:t>이용하여</a:t>
            </a:r>
            <a:r>
              <a:rPr lang="en-US" altLang="ko-KR" dirty="0"/>
              <a:t> </a:t>
            </a:r>
            <a:r>
              <a:rPr lang="ko-KR" altLang="en-US" dirty="0"/>
              <a:t>데이터가 임의로 변경되지 않았다는 </a:t>
            </a:r>
            <a:r>
              <a:rPr lang="ko-KR" altLang="en-US" dirty="0">
                <a:solidFill>
                  <a:srgbClr val="FF0000"/>
                </a:solidFill>
              </a:rPr>
              <a:t>데이터 무결성을 확인</a:t>
            </a:r>
            <a:r>
              <a:rPr lang="ko-KR" altLang="en-US" dirty="0"/>
              <a:t>하기 위한 도구로 사용</a:t>
            </a:r>
            <a:endParaRPr lang="en-US" altLang="ko-KR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2" y="2852936"/>
            <a:ext cx="4983015" cy="3270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372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해시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362274" cy="5400600"/>
          </a:xfrm>
        </p:spPr>
        <p:txBody>
          <a:bodyPr>
            <a:noAutofit/>
          </a:bodyPr>
          <a:lstStyle/>
          <a:p>
            <a:r>
              <a:rPr lang="ko-KR" altLang="en-US" dirty="0"/>
              <a:t>해시의 역할</a:t>
            </a:r>
            <a:endParaRPr lang="en-US" altLang="ko-KR" dirty="0"/>
          </a:p>
          <a:p>
            <a:pPr lvl="1"/>
            <a:r>
              <a:rPr lang="ko-KR" altLang="en-US" dirty="0"/>
              <a:t>해시 생성하기 </a:t>
            </a:r>
            <a:r>
              <a:rPr lang="en-US" altLang="ko-KR" dirty="0">
                <a:hlinkClick r:id="rId2"/>
              </a:rPr>
              <a:t>https://semalt.tools/ko/md5-hash-generator</a:t>
            </a:r>
            <a:endParaRPr lang="en-US" altLang="ko-KR" dirty="0"/>
          </a:p>
          <a:p>
            <a:pPr marL="676275" lvl="2" indent="-228600">
              <a:buFont typeface="+mj-ea"/>
              <a:buAutoNum type="circleNumDbPlain"/>
            </a:pPr>
            <a:r>
              <a:rPr lang="ko-KR" altLang="en-US" dirty="0"/>
              <a:t>해시 값 테스트를 위해 간단한 텍스트 파일</a:t>
            </a:r>
            <a:r>
              <a:rPr lang="en-US" altLang="ko-KR" dirty="0"/>
              <a:t>(test.txt)</a:t>
            </a:r>
            <a:r>
              <a:rPr lang="ko-KR" altLang="en-US" dirty="0"/>
              <a:t>을 임시로 </a:t>
            </a:r>
            <a:r>
              <a:rPr lang="ko-KR" altLang="en-US" dirty="0" err="1"/>
              <a:t>만듬</a:t>
            </a:r>
            <a:endParaRPr lang="en-US" altLang="ko-KR" dirty="0"/>
          </a:p>
          <a:p>
            <a:pPr marL="676275" lvl="2" indent="-228600">
              <a:buFont typeface="+mj-ea"/>
              <a:buAutoNum type="circleNumDbPlain"/>
            </a:pPr>
            <a:endParaRPr lang="en-US" altLang="ko-KR" dirty="0"/>
          </a:p>
          <a:p>
            <a:pPr marL="676275" lvl="2" indent="-228600">
              <a:buFont typeface="+mj-ea"/>
              <a:buAutoNum type="circleNumDbPlain"/>
            </a:pPr>
            <a:endParaRPr lang="en-US" altLang="ko-KR" dirty="0"/>
          </a:p>
          <a:p>
            <a:pPr marL="676275" lvl="2" indent="-228600">
              <a:buFont typeface="+mj-ea"/>
              <a:buAutoNum type="circleNumDbPlain"/>
            </a:pPr>
            <a:endParaRPr lang="en-US" altLang="ko-KR" dirty="0"/>
          </a:p>
          <a:p>
            <a:pPr marL="676275" lvl="2" indent="-228600">
              <a:buFont typeface="+mj-ea"/>
              <a:buAutoNum type="circleNumDbPlain"/>
            </a:pPr>
            <a:r>
              <a:rPr lang="en-US" altLang="ko-KR" dirty="0"/>
              <a:t>md5.exe</a:t>
            </a:r>
            <a:r>
              <a:rPr lang="ko-KR" altLang="en-US" dirty="0"/>
              <a:t>를 이용하여 이 값에 대한 해시 값을 세 번 구해보면 모두 같음</a:t>
            </a:r>
            <a:endParaRPr lang="en-US" altLang="ko-KR" dirty="0"/>
          </a:p>
          <a:p>
            <a:pPr marL="676275" lvl="2" indent="-228600">
              <a:buFont typeface="+mj-ea"/>
              <a:buAutoNum type="circleNumDbPlain"/>
            </a:pPr>
            <a:endParaRPr lang="en-US" altLang="ko-KR" dirty="0"/>
          </a:p>
          <a:p>
            <a:pPr marL="676275" lvl="2" indent="-228600">
              <a:buFont typeface="+mj-ea"/>
              <a:buAutoNum type="circleNumDbPlain"/>
            </a:pPr>
            <a:endParaRPr lang="en-US" altLang="ko-KR" dirty="0"/>
          </a:p>
          <a:p>
            <a:pPr marL="676275" lvl="2" indent="-228600">
              <a:buFont typeface="+mj-ea"/>
              <a:buAutoNum type="circleNumDbPlain"/>
            </a:pPr>
            <a:endParaRPr lang="en-US" altLang="ko-KR" dirty="0"/>
          </a:p>
          <a:p>
            <a:pPr marL="676275" lvl="2" indent="-228600">
              <a:buFont typeface="+mj-ea"/>
              <a:buAutoNum type="circleNumDbPlain"/>
            </a:pPr>
            <a:endParaRPr lang="en-US" altLang="ko-KR" dirty="0"/>
          </a:p>
          <a:p>
            <a:pPr marL="676275" lvl="2" indent="-228600">
              <a:buFont typeface="+mj-ea"/>
              <a:buAutoNum type="circleNumDbPlain"/>
            </a:pPr>
            <a:endParaRPr lang="en-US" altLang="ko-KR" dirty="0"/>
          </a:p>
          <a:p>
            <a:pPr marL="676275" lvl="2" indent="-228600">
              <a:buFont typeface="+mj-ea"/>
              <a:buAutoNum type="circleNumDbPlain"/>
            </a:pPr>
            <a:r>
              <a:rPr lang="ko-KR" altLang="en-US" dirty="0"/>
              <a:t>생성한 </a:t>
            </a:r>
            <a:r>
              <a:rPr lang="en-US" altLang="ko-KR" dirty="0"/>
              <a:t>test.txt </a:t>
            </a:r>
            <a:r>
              <a:rPr lang="ko-KR" altLang="en-US" dirty="0"/>
              <a:t>파일에 마침표를 추가하고 해시 값을 다시 구해보면 </a:t>
            </a:r>
            <a:r>
              <a:rPr lang="en-US" altLang="ko-KR" dirty="0"/>
              <a:t>md5.txt</a:t>
            </a:r>
            <a:r>
              <a:rPr lang="ko-KR" altLang="en-US" dirty="0"/>
              <a:t>의 내용이 조금만 바뀌어도 완전히 </a:t>
            </a:r>
            <a:endParaRPr lang="en-US" altLang="ko-KR" dirty="0"/>
          </a:p>
          <a:p>
            <a:pPr marL="447675" lvl="2" indent="0">
              <a:buNone/>
            </a:pPr>
            <a:r>
              <a:rPr lang="en-US" altLang="ko-KR" dirty="0"/>
              <a:t>    </a:t>
            </a:r>
            <a:r>
              <a:rPr lang="ko-KR" altLang="en-US" dirty="0"/>
              <a:t>다른 해시 값이 나옴</a:t>
            </a:r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1" y="2086772"/>
            <a:ext cx="5017175" cy="71986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1" y="3113712"/>
            <a:ext cx="5017175" cy="1092121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1" y="4941167"/>
            <a:ext cx="5017175" cy="693751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3" y="5713702"/>
            <a:ext cx="5017173" cy="625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3887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해시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90266" cy="5400600"/>
          </a:xfrm>
        </p:spPr>
        <p:txBody>
          <a:bodyPr>
            <a:noAutofit/>
          </a:bodyPr>
          <a:lstStyle/>
          <a:p>
            <a:r>
              <a:rPr lang="ko-KR" altLang="en-US" dirty="0"/>
              <a:t>해시의 종류</a:t>
            </a:r>
            <a:endParaRPr lang="en-US" altLang="ko-KR" dirty="0"/>
          </a:p>
          <a:p>
            <a:pPr lvl="1"/>
            <a:r>
              <a:rPr lang="en-US" altLang="ko-KR" dirty="0"/>
              <a:t>MD </a:t>
            </a:r>
            <a:r>
              <a:rPr lang="ko-KR" altLang="en-US" dirty="0"/>
              <a:t>알고리즘</a:t>
            </a:r>
            <a:endParaRPr lang="en-US" altLang="ko-KR" dirty="0"/>
          </a:p>
          <a:p>
            <a:pPr lvl="2"/>
            <a:r>
              <a:rPr lang="ko-KR" altLang="en-US" dirty="0" err="1">
                <a:solidFill>
                  <a:srgbClr val="FF0000"/>
                </a:solidFill>
              </a:rPr>
              <a:t>로널드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ko-KR" altLang="en-US" dirty="0" err="1">
                <a:solidFill>
                  <a:srgbClr val="FF0000"/>
                </a:solidFill>
              </a:rPr>
              <a:t>리베스트</a:t>
            </a:r>
            <a:r>
              <a:rPr lang="ko-KR" altLang="en-US" dirty="0" err="1"/>
              <a:t>가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rgbClr val="FF0000"/>
                </a:solidFill>
              </a:rPr>
              <a:t>공개 키 기반 구조</a:t>
            </a:r>
            <a:r>
              <a:rPr lang="ko-KR" altLang="en-US" dirty="0"/>
              <a:t>를 만들기 위해 </a:t>
            </a:r>
            <a:r>
              <a:rPr lang="en-US" altLang="ko-KR" dirty="0"/>
              <a:t>RSA</a:t>
            </a:r>
            <a:r>
              <a:rPr lang="ko-KR" altLang="en-US" dirty="0"/>
              <a:t>와 함께 개발한 것으로 </a:t>
            </a:r>
            <a:r>
              <a:rPr lang="en-US" altLang="ko-KR" dirty="0"/>
              <a:t>MD2, MD4, MD5</a:t>
            </a:r>
            <a:r>
              <a:rPr lang="ko-KR" altLang="en-US" dirty="0"/>
              <a:t>가 있음</a:t>
            </a:r>
            <a:endParaRPr lang="en-US" altLang="ko-KR" dirty="0"/>
          </a:p>
          <a:p>
            <a:pPr lvl="2"/>
            <a:r>
              <a:rPr lang="en-US" altLang="ko-KR" dirty="0"/>
              <a:t>1989</a:t>
            </a:r>
            <a:r>
              <a:rPr lang="ko-KR" altLang="en-US" dirty="0"/>
              <a:t>년에 개발된 </a:t>
            </a:r>
            <a:r>
              <a:rPr lang="en-US" altLang="ko-KR" dirty="0"/>
              <a:t>MD2</a:t>
            </a:r>
            <a:r>
              <a:rPr lang="ko-KR" altLang="en-US" dirty="0"/>
              <a:t>는 </a:t>
            </a:r>
            <a:r>
              <a:rPr lang="en-US" altLang="ko-KR" dirty="0"/>
              <a:t>8</a:t>
            </a:r>
            <a:r>
              <a:rPr lang="ko-KR" altLang="en-US" dirty="0"/>
              <a:t>비트 컴퓨터에 최적화</a:t>
            </a:r>
            <a:endParaRPr lang="en-US" altLang="ko-KR" dirty="0"/>
          </a:p>
          <a:p>
            <a:pPr lvl="2"/>
            <a:r>
              <a:rPr lang="en-US" altLang="ko-KR" dirty="0"/>
              <a:t>1990</a:t>
            </a:r>
            <a:r>
              <a:rPr lang="ko-KR" altLang="en-US" dirty="0"/>
              <a:t>년에 개발된 </a:t>
            </a:r>
            <a:r>
              <a:rPr lang="en-US" altLang="ko-KR" dirty="0"/>
              <a:t>MD4</a:t>
            </a:r>
            <a:r>
              <a:rPr lang="ko-KR" altLang="en-US" dirty="0"/>
              <a:t>와 </a:t>
            </a:r>
            <a:r>
              <a:rPr lang="en-US" altLang="ko-KR" dirty="0"/>
              <a:t>1991</a:t>
            </a:r>
            <a:r>
              <a:rPr lang="ko-KR" altLang="en-US" dirty="0"/>
              <a:t>년에 개발된 </a:t>
            </a:r>
            <a:r>
              <a:rPr lang="en-US" altLang="ko-KR" dirty="0"/>
              <a:t>MD5</a:t>
            </a:r>
            <a:r>
              <a:rPr lang="ko-KR" altLang="en-US" dirty="0"/>
              <a:t>는 </a:t>
            </a:r>
            <a:r>
              <a:rPr lang="en-US" altLang="ko-KR" dirty="0"/>
              <a:t>32</a:t>
            </a:r>
            <a:r>
              <a:rPr lang="ko-KR" altLang="en-US" dirty="0"/>
              <a:t>비트 컴퓨터에 최적화</a:t>
            </a:r>
            <a:endParaRPr lang="en-US" altLang="ko-KR" dirty="0"/>
          </a:p>
          <a:p>
            <a:pPr lvl="2"/>
            <a:r>
              <a:rPr lang="en-US" altLang="ko-KR" dirty="0"/>
              <a:t>MD5 </a:t>
            </a:r>
            <a:r>
              <a:rPr lang="ko-KR" altLang="en-US" dirty="0"/>
              <a:t>알고리즘은 </a:t>
            </a:r>
            <a:r>
              <a:rPr lang="en-US" altLang="ko-KR" dirty="0"/>
              <a:t>MD4</a:t>
            </a:r>
            <a:r>
              <a:rPr lang="ko-KR" altLang="en-US" dirty="0"/>
              <a:t>의 </a:t>
            </a:r>
            <a:r>
              <a:rPr lang="ko-KR" altLang="en-US" dirty="0" err="1"/>
              <a:t>확장판으로</a:t>
            </a:r>
            <a:r>
              <a:rPr lang="ko-KR" altLang="en-US" dirty="0"/>
              <a:t> </a:t>
            </a:r>
            <a:r>
              <a:rPr lang="en-US" altLang="ko-KR" dirty="0"/>
              <a:t>MD4</a:t>
            </a:r>
            <a:r>
              <a:rPr lang="ko-KR" altLang="en-US" dirty="0"/>
              <a:t>보다 속도가 빠르지는 않지만 </a:t>
            </a:r>
            <a:r>
              <a:rPr lang="ko-KR" altLang="en-US" dirty="0">
                <a:solidFill>
                  <a:srgbClr val="FF0000"/>
                </a:solidFill>
              </a:rPr>
              <a:t>데이터 </a:t>
            </a:r>
            <a:r>
              <a:rPr lang="ko-KR" altLang="en-US" dirty="0" err="1">
                <a:solidFill>
                  <a:srgbClr val="FF0000"/>
                </a:solidFill>
              </a:rPr>
              <a:t>보안성이</a:t>
            </a:r>
            <a:r>
              <a:rPr lang="ko-KR" altLang="en-US" dirty="0">
                <a:solidFill>
                  <a:srgbClr val="FF0000"/>
                </a:solidFill>
              </a:rPr>
              <a:t> 더 뛰어남</a:t>
            </a:r>
            <a:endParaRPr lang="en-US" altLang="ko-KR" dirty="0">
              <a:solidFill>
                <a:srgbClr val="FF0000"/>
              </a:solidFill>
            </a:endParaRPr>
          </a:p>
          <a:p>
            <a:pPr lvl="2"/>
            <a:endParaRPr lang="en-US" altLang="ko-KR" sz="100" dirty="0"/>
          </a:p>
          <a:p>
            <a:pPr lvl="1"/>
            <a:r>
              <a:rPr lang="en-US" altLang="ko-KR" dirty="0"/>
              <a:t>SHA</a:t>
            </a:r>
          </a:p>
          <a:p>
            <a:pPr lvl="2"/>
            <a:r>
              <a:rPr lang="en-US" altLang="ko-KR" dirty="0"/>
              <a:t>160</a:t>
            </a:r>
            <a:r>
              <a:rPr lang="ko-KR" altLang="en-US" dirty="0"/>
              <a:t>비트의 값을 생성하는 해시 함수로</a:t>
            </a:r>
            <a:r>
              <a:rPr lang="en-US" altLang="ko-KR" dirty="0"/>
              <a:t>, MD4</a:t>
            </a:r>
            <a:r>
              <a:rPr lang="ko-KR" altLang="en-US" dirty="0"/>
              <a:t>가 발전한 형태</a:t>
            </a:r>
            <a:r>
              <a:rPr lang="en-US" altLang="ko-KR" dirty="0"/>
              <a:t> </a:t>
            </a:r>
          </a:p>
          <a:p>
            <a:pPr lvl="2"/>
            <a:r>
              <a:rPr lang="en-US" altLang="ko-KR" dirty="0"/>
              <a:t>MD5</a:t>
            </a:r>
            <a:r>
              <a:rPr lang="ko-KR" altLang="en-US" dirty="0"/>
              <a:t>보다 조금 느리지만 좀 더 안전하다고 알려져 있으며 </a:t>
            </a:r>
            <a:r>
              <a:rPr lang="en-US" altLang="ko-KR" dirty="0"/>
              <a:t>SHA</a:t>
            </a:r>
            <a:r>
              <a:rPr lang="ko-KR" altLang="en-US" dirty="0"/>
              <a:t>에 입력하는 데이터는 </a:t>
            </a:r>
            <a:r>
              <a:rPr lang="en-US" altLang="ko-KR" dirty="0"/>
              <a:t>512</a:t>
            </a:r>
            <a:r>
              <a:rPr lang="ko-KR" altLang="en-US" dirty="0"/>
              <a:t>비트 크기의 </a:t>
            </a:r>
            <a:r>
              <a:rPr lang="ko-KR" altLang="en-US" dirty="0" err="1"/>
              <a:t>블록임</a:t>
            </a:r>
            <a:endParaRPr lang="en-US" altLang="ko-KR" dirty="0"/>
          </a:p>
          <a:p>
            <a:pPr lvl="2"/>
            <a:r>
              <a:rPr lang="en-US" altLang="ko-KR" dirty="0"/>
              <a:t>SHA </a:t>
            </a:r>
            <a:r>
              <a:rPr lang="ko-KR" altLang="en-US" dirty="0"/>
              <a:t>알고리즘은 크게 </a:t>
            </a:r>
            <a:r>
              <a:rPr lang="en-US" altLang="ko-KR" dirty="0"/>
              <a:t>SHA-1</a:t>
            </a:r>
            <a:r>
              <a:rPr lang="ko-KR" altLang="en-US" dirty="0"/>
              <a:t>과 </a:t>
            </a:r>
            <a:r>
              <a:rPr lang="en-US" altLang="ko-KR" dirty="0"/>
              <a:t>SHA-2</a:t>
            </a:r>
            <a:r>
              <a:rPr lang="ko-KR" altLang="en-US" dirty="0"/>
              <a:t>로 나눌 수 있음</a:t>
            </a:r>
            <a:endParaRPr lang="en-US" altLang="ko-KR" dirty="0"/>
          </a:p>
          <a:p>
            <a:pPr lvl="2"/>
            <a:endParaRPr lang="en-US" altLang="ko-KR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7955" y="4077072"/>
            <a:ext cx="2880320" cy="251619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565" y="4221088"/>
            <a:ext cx="4771571" cy="1336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933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8927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2678</TotalTime>
  <Words>2044</Words>
  <Application>Microsoft Office PowerPoint</Application>
  <PresentationFormat>화면 슬라이드 쇼(4:3)</PresentationFormat>
  <Paragraphs>322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4" baseType="lpstr">
      <vt:lpstr>HY견고딕</vt:lpstr>
      <vt:lpstr>맑은 고딕</vt:lpstr>
      <vt:lpstr>Arial</vt:lpstr>
      <vt:lpstr>Cambria Math</vt:lpstr>
      <vt:lpstr>Tahoma</vt:lpstr>
      <vt:lpstr>Wingdings</vt:lpstr>
      <vt:lpstr>Office 테마</vt:lpstr>
      <vt:lpstr>7 암호의 이해</vt:lpstr>
      <vt:lpstr>PowerPoint 프레젠테이션</vt:lpstr>
      <vt:lpstr>PowerPoint 프레젠테이션</vt:lpstr>
      <vt:lpstr>1. 암호의 개념과 원리</vt:lpstr>
      <vt:lpstr>1. 암호의 개념과 원리</vt:lpstr>
      <vt:lpstr>1. 암호의 개념과 원리</vt:lpstr>
      <vt:lpstr>1. 암호의 개념과 원리</vt:lpstr>
      <vt:lpstr>1. 암호의 개념과 원리</vt:lpstr>
      <vt:lpstr>1. 암호의 개념과 원리</vt:lpstr>
      <vt:lpstr>1. 암호의 개념과 원리</vt:lpstr>
      <vt:lpstr>1. 암호의 개념과 원리</vt:lpstr>
      <vt:lpstr>2. 대칭 암호화 방식</vt:lpstr>
      <vt:lpstr>2. 대칭 암호화 방식</vt:lpstr>
      <vt:lpstr>2. 대칭 암호화 방식</vt:lpstr>
      <vt:lpstr>2. 대칭 암호화 방식</vt:lpstr>
      <vt:lpstr>2. 대칭 암호화 방식</vt:lpstr>
      <vt:lpstr>3. 비대칭 암호화 방식</vt:lpstr>
      <vt:lpstr>3. 비대칭 암호화 방식</vt:lpstr>
      <vt:lpstr>3. 비대칭 암호화 방식</vt:lpstr>
      <vt:lpstr>3. 비대칭 암호화 방식</vt:lpstr>
      <vt:lpstr>3. 비대칭 암호화 방식</vt:lpstr>
      <vt:lpstr>3. 비대칭 암호화 방식</vt:lpstr>
      <vt:lpstr>4. 해시</vt:lpstr>
      <vt:lpstr>4. 해시</vt:lpstr>
      <vt:lpstr>4. 해시</vt:lpstr>
      <vt:lpstr>4. 해시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ㅇㅅㅇ</dc:creator>
  <cp:lastModifiedBy>USER</cp:lastModifiedBy>
  <cp:revision>223</cp:revision>
  <dcterms:created xsi:type="dcterms:W3CDTF">2020-06-18T03:20:34Z</dcterms:created>
  <dcterms:modified xsi:type="dcterms:W3CDTF">2025-11-03T03:44:54Z</dcterms:modified>
</cp:coreProperties>
</file>