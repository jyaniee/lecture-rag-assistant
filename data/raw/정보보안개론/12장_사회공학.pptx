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8"/>
  </p:notesMasterIdLst>
  <p:handoutMasterIdLst>
    <p:handoutMasterId r:id="rId19"/>
  </p:handoutMasterIdLst>
  <p:sldIdLst>
    <p:sldId id="522" r:id="rId2"/>
    <p:sldId id="524" r:id="rId3"/>
    <p:sldId id="525" r:id="rId4"/>
    <p:sldId id="526" r:id="rId5"/>
    <p:sldId id="527" r:id="rId6"/>
    <p:sldId id="528" r:id="rId7"/>
    <p:sldId id="529" r:id="rId8"/>
    <p:sldId id="530" r:id="rId9"/>
    <p:sldId id="531" r:id="rId10"/>
    <p:sldId id="532" r:id="rId11"/>
    <p:sldId id="533" r:id="rId12"/>
    <p:sldId id="534" r:id="rId13"/>
    <p:sldId id="535" r:id="rId14"/>
    <p:sldId id="536" r:id="rId15"/>
    <p:sldId id="537" r:id="rId16"/>
    <p:sldId id="538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BA8"/>
    <a:srgbClr val="21C9D6"/>
    <a:srgbClr val="88D0D6"/>
    <a:srgbClr val="E6E7E9"/>
    <a:srgbClr val="8F9CCD"/>
    <a:srgbClr val="4C60AC"/>
    <a:srgbClr val="E6B4C0"/>
    <a:srgbClr val="F3DDE2"/>
    <a:srgbClr val="C85873"/>
    <a:srgbClr val="83CB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31" autoAdjust="0"/>
    <p:restoredTop sz="98898" autoAdjust="0"/>
  </p:normalViewPr>
  <p:slideViewPr>
    <p:cSldViewPr>
      <p:cViewPr varScale="1">
        <p:scale>
          <a:sx n="99" d="100"/>
          <a:sy n="99" d="100"/>
        </p:scale>
        <p:origin x="1230" y="84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4" d="100"/>
          <a:sy n="124" d="100"/>
        </p:scale>
        <p:origin x="495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F0AE-7B65-4C9A-8729-A5D1A0ABE57B}" type="datetimeFigureOut">
              <a:rPr lang="ko-KR" altLang="en-US" smtClean="0"/>
              <a:pPr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72E7F-A2FE-4F50-A94D-8786A43CA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48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5921928"/>
            <a:ext cx="9144000" cy="936071"/>
          </a:xfrm>
          <a:prstGeom prst="rect">
            <a:avLst/>
          </a:prstGeom>
          <a:solidFill>
            <a:srgbClr val="8F9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제목 1"/>
          <p:cNvSpPr txBox="1">
            <a:spLocks/>
          </p:cNvSpPr>
          <p:nvPr userDrawn="1"/>
        </p:nvSpPr>
        <p:spPr>
          <a:xfrm>
            <a:off x="2195736" y="5843592"/>
            <a:ext cx="694826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xmlns="" id="{86410889-0442-4231-B9CA-3F0F289FD4E1}"/>
              </a:ext>
            </a:extLst>
          </p:cNvPr>
          <p:cNvSpPr txBox="1"/>
          <p:nvPr userDrawn="1"/>
        </p:nvSpPr>
        <p:spPr>
          <a:xfrm>
            <a:off x="619945" y="6028546"/>
            <a:ext cx="22322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300" b="1" dirty="0" smtClean="0">
                <a:latin typeface="+mn-lt"/>
                <a:ea typeface="맑은 고딕" pitchFamily="50" charset="-127"/>
              </a:rPr>
              <a:t>Chapter.</a:t>
            </a:r>
            <a:endParaRPr kumimoji="0" lang="en-US" altLang="ko-KR" sz="3300" b="1" dirty="0">
              <a:latin typeface="+mn-lt"/>
              <a:ea typeface="맑은 고딕" pitchFamily="50" charset="-127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37" name="제목 1"/>
          <p:cNvSpPr>
            <a:spLocks noGrp="1"/>
          </p:cNvSpPr>
          <p:nvPr>
            <p:ph type="title"/>
          </p:nvPr>
        </p:nvSpPr>
        <p:spPr>
          <a:xfrm>
            <a:off x="2348136" y="6102609"/>
            <a:ext cx="6948264" cy="548680"/>
          </a:xfrm>
        </p:spPr>
        <p:txBody>
          <a:bodyPr>
            <a:noAutofit/>
          </a:bodyPr>
          <a:lstStyle>
            <a:lvl1pPr algn="l">
              <a:defRPr sz="3000" b="1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1475656" y="116632"/>
            <a:ext cx="4973183" cy="5646684"/>
            <a:chOff x="2339752" y="144826"/>
            <a:chExt cx="4973183" cy="5646684"/>
          </a:xfrm>
        </p:grpSpPr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65441" y="2060848"/>
              <a:ext cx="4721804" cy="2629227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39752" y="144826"/>
              <a:ext cx="4973183" cy="1974372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136805" y="4797152"/>
              <a:ext cx="3379077" cy="994358"/>
            </a:xfrm>
            <a:prstGeom prst="rect">
              <a:avLst/>
            </a:prstGeom>
          </p:spPr>
        </p:pic>
      </p:grp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85968" y="188641"/>
            <a:ext cx="723093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xmlns="" id="{E3CF5919-2159-49EA-BD93-9C45B1EAA96D}"/>
              </a:ext>
            </a:extLst>
          </p:cNvPr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xmlns="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Clr>
                <a:srgbClr val="00B2C0"/>
              </a:buClr>
              <a:buFont typeface="+mj-lt"/>
              <a:buAutoNum type="arabicPeriod"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4" name="모서리가 둥근 직사각형 8">
            <a:extLst>
              <a:ext uri="{FF2B5EF4-FFF2-40B4-BE49-F238E27FC236}">
                <a16:creationId xmlns:a16="http://schemas.microsoft.com/office/drawing/2014/main" xmlns="" id="{D5A7425B-5701-466C-9ACB-C13BC673C0FC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B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899031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ED4A8C7A-84CB-4AB9-8F99-0BC584ACD685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B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xmlns="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Clr>
                <a:srgbClr val="00B2C0"/>
              </a:buClr>
              <a:buFont typeface="+mj-lt"/>
              <a:buAutoNum type="arabicPeriod"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7561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B4BA2D2-52F7-42A1-8EBA-192AEC431238}"/>
              </a:ext>
            </a:extLst>
          </p:cNvPr>
          <p:cNvGrpSpPr/>
          <p:nvPr userDrawn="1"/>
        </p:nvGrpSpPr>
        <p:grpSpPr>
          <a:xfrm>
            <a:off x="0" y="836712"/>
            <a:ext cx="9144000" cy="487"/>
            <a:chOff x="0" y="907564"/>
            <a:chExt cx="9144000" cy="487"/>
          </a:xfrm>
        </p:grpSpPr>
        <p:cxnSp>
          <p:nvCxnSpPr>
            <p:cNvPr id="9" name="직선 연결선 8"/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7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5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2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009BA8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/>
            </a:lvl2pPr>
            <a:lvl3pPr marL="628650" indent="-180975"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Clr>
                <a:srgbClr val="00C1D0"/>
              </a:buClr>
              <a:buSzPct val="96000"/>
              <a:defRPr sz="1050"/>
            </a:lvl4pPr>
            <a:lvl5pPr marL="990600" indent="-180975">
              <a:buClr>
                <a:srgbClr val="00C1D0"/>
              </a:buClr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906008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9">
            <a:extLst>
              <a:ext uri="{FF2B5EF4-FFF2-40B4-BE49-F238E27FC236}">
                <a16:creationId xmlns:a16="http://schemas.microsoft.com/office/drawing/2014/main" xmlns="" id="{A7D7FFC2-62D3-4BE0-8529-F40C1ADBD02D}"/>
              </a:ext>
            </a:extLst>
          </p:cNvPr>
          <p:cNvSpPr txBox="1"/>
          <p:nvPr userDrawn="1"/>
        </p:nvSpPr>
        <p:spPr>
          <a:xfrm>
            <a:off x="1475656" y="2767280"/>
            <a:ext cx="6696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Thank you</a:t>
            </a:r>
            <a:endParaRPr kumimoji="0" lang="ko-KR" altLang="en-US" sz="80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  <a:cs typeface="Tahoma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C692FB73-1543-4900-9730-CEBEC129D71A}"/>
              </a:ext>
            </a:extLst>
          </p:cNvPr>
          <p:cNvCxnSpPr>
            <a:cxnSpLocks/>
          </p:cNvCxnSpPr>
          <p:nvPr userDrawn="1"/>
        </p:nvCxnSpPr>
        <p:spPr>
          <a:xfrm>
            <a:off x="1619672" y="4221088"/>
            <a:ext cx="5472608" cy="0"/>
          </a:xfrm>
          <a:prstGeom prst="line">
            <a:avLst/>
          </a:prstGeom>
          <a:ln w="19050">
            <a:solidFill>
              <a:srgbClr val="009B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xmlns="" id="{B38D78D7-6975-4922-977D-2566434936B4}"/>
              </a:ext>
            </a:extLst>
          </p:cNvPr>
          <p:cNvCxnSpPr>
            <a:cxnSpLocks/>
          </p:cNvCxnSpPr>
          <p:nvPr userDrawn="1"/>
        </p:nvCxnSpPr>
        <p:spPr>
          <a:xfrm>
            <a:off x="1691680" y="2708920"/>
            <a:ext cx="5472608" cy="0"/>
          </a:xfrm>
          <a:prstGeom prst="line">
            <a:avLst/>
          </a:prstGeom>
          <a:ln w="19050">
            <a:solidFill>
              <a:srgbClr val="009B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71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2025-11-07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1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24" r:id="rId4"/>
    <p:sldLayoutId id="2147483726" r:id="rId5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 </a:t>
            </a:r>
            <a:r>
              <a:rPr lang="ko-KR" altLang="en-US" dirty="0" smtClean="0"/>
              <a:t>사회공학</a:t>
            </a:r>
            <a:r>
              <a:rPr lang="en-US" altLang="ko-KR" dirty="0" smtClean="0"/>
              <a:t>(Social Engineer)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392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사회공학의</a:t>
            </a:r>
            <a:r>
              <a:rPr lang="ko-KR" altLang="en-US" dirty="0"/>
              <a:t> 이해 </a:t>
            </a:r>
            <a:endParaRPr lang="en-US" altLang="ko-KR" dirty="0" smtClean="0"/>
          </a:p>
          <a:p>
            <a:r>
              <a:rPr lang="ko-KR" altLang="en-US" dirty="0" smtClean="0"/>
              <a:t>사회공학 </a:t>
            </a:r>
            <a:r>
              <a:rPr lang="ko-KR" altLang="en-US" dirty="0"/>
              <a:t>기법 </a:t>
            </a:r>
            <a:endParaRPr lang="en-US" altLang="ko-KR" dirty="0" smtClean="0"/>
          </a:p>
          <a:p>
            <a:r>
              <a:rPr lang="ko-KR" altLang="en-US" dirty="0" smtClean="0"/>
              <a:t>사회공학 </a:t>
            </a:r>
            <a:r>
              <a:rPr lang="ko-KR" altLang="en-US" dirty="0"/>
              <a:t>사례와 대응책</a:t>
            </a:r>
          </a:p>
        </p:txBody>
      </p:sp>
    </p:spTree>
    <p:extLst>
      <p:ext uri="{BB962C8B-B14F-4D97-AF65-F5344CB8AC3E}">
        <p14:creationId xmlns:p14="http://schemas.microsoft.com/office/powerpoint/2010/main" val="338331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848872" cy="41044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rgbClr val="FF0000"/>
                </a:solidFill>
              </a:rPr>
              <a:t>사회공학</a:t>
            </a:r>
            <a:r>
              <a:rPr lang="ko-KR" altLang="en-US" dirty="0" err="1"/>
              <a:t>의</a:t>
            </a:r>
            <a:r>
              <a:rPr lang="ko-KR" altLang="en-US" dirty="0"/>
              <a:t> 위험성을 이해한다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smtClean="0"/>
              <a:t>여러 </a:t>
            </a:r>
            <a:r>
              <a:rPr lang="ko-KR" altLang="en-US" dirty="0"/>
              <a:t>가지 </a:t>
            </a:r>
            <a:r>
              <a:rPr lang="ko-KR" altLang="en-US" dirty="0">
                <a:solidFill>
                  <a:srgbClr val="FF0000"/>
                </a:solidFill>
              </a:rPr>
              <a:t>사회공학 기법</a:t>
            </a:r>
            <a:r>
              <a:rPr lang="ko-KR" altLang="en-US" dirty="0"/>
              <a:t>을 알아본다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smtClean="0"/>
              <a:t>사회공학 </a:t>
            </a:r>
            <a:r>
              <a:rPr lang="ko-KR" altLang="en-US" dirty="0"/>
              <a:t>기법에 </a:t>
            </a:r>
            <a:r>
              <a:rPr lang="ko-KR" altLang="en-US" dirty="0">
                <a:solidFill>
                  <a:srgbClr val="FF0000"/>
                </a:solidFill>
              </a:rPr>
              <a:t>대응</a:t>
            </a:r>
            <a:r>
              <a:rPr lang="ko-KR" altLang="en-US" dirty="0"/>
              <a:t>하는 방법을 알아본다</a:t>
            </a:r>
            <a:endParaRPr lang="en-US" altLang="ko-KR" sz="1900" dirty="0" smtClean="0"/>
          </a:p>
        </p:txBody>
      </p:sp>
    </p:spTree>
    <p:extLst>
      <p:ext uri="{BB962C8B-B14F-4D97-AF65-F5344CB8AC3E}">
        <p14:creationId xmlns:p14="http://schemas.microsoft.com/office/powerpoint/2010/main" val="150560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err="1"/>
              <a:t>사회공학의</a:t>
            </a:r>
            <a:r>
              <a:rPr lang="ko-KR" altLang="en-US" dirty="0"/>
              <a:t>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r>
              <a:rPr lang="ko-KR" altLang="en-US" dirty="0" err="1"/>
              <a:t>사회공학의</a:t>
            </a:r>
            <a:r>
              <a:rPr lang="ko-KR" altLang="en-US" dirty="0"/>
              <a:t> </a:t>
            </a:r>
            <a:r>
              <a:rPr lang="ko-KR" altLang="en-US" dirty="0" smtClean="0"/>
              <a:t>개념</a:t>
            </a:r>
            <a:endParaRPr lang="en-US" altLang="ko-KR" dirty="0" smtClean="0"/>
          </a:p>
          <a:p>
            <a:pPr lvl="2"/>
            <a:r>
              <a:rPr lang="ko-KR" altLang="en-US" dirty="0"/>
              <a:t>컴퓨터 보안에서 인간 상호 작용의 깊은 </a:t>
            </a:r>
            <a:r>
              <a:rPr lang="ko-KR" altLang="en-US" dirty="0">
                <a:solidFill>
                  <a:srgbClr val="FF0000"/>
                </a:solidFill>
              </a:rPr>
              <a:t>신뢰를 </a:t>
            </a:r>
            <a:r>
              <a:rPr lang="ko-KR" altLang="en-US" dirty="0" smtClean="0">
                <a:solidFill>
                  <a:srgbClr val="FF0000"/>
                </a:solidFill>
              </a:rPr>
              <a:t>이용</a:t>
            </a:r>
            <a:r>
              <a:rPr lang="ko-KR" altLang="en-US" dirty="0" smtClean="0"/>
              <a:t>하여 </a:t>
            </a:r>
            <a:r>
              <a:rPr lang="ko-KR" altLang="en-US" dirty="0"/>
              <a:t>사람을 속여 </a:t>
            </a:r>
            <a:r>
              <a:rPr lang="ko-KR" altLang="en-US" dirty="0">
                <a:solidFill>
                  <a:srgbClr val="FF0000"/>
                </a:solidFill>
              </a:rPr>
              <a:t>정상 보안 절차를 깨뜨리고 </a:t>
            </a:r>
            <a:r>
              <a:rPr lang="ko-KR" altLang="en-US" dirty="0" err="1" smtClean="0">
                <a:solidFill>
                  <a:srgbClr val="FF0000"/>
                </a:solidFill>
              </a:rPr>
              <a:t>비기술적인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447675" lvl="2" indent="0">
              <a:buNone/>
            </a:pPr>
            <a:r>
              <a:rPr lang="en-US" altLang="ko-KR" sz="1050" dirty="0">
                <a:solidFill>
                  <a:srgbClr val="FF0000"/>
                </a:solidFill>
              </a:rPr>
              <a:t> </a:t>
            </a:r>
            <a:r>
              <a:rPr lang="en-US" altLang="ko-KR" sz="1050" dirty="0" smtClean="0">
                <a:solidFill>
                  <a:srgbClr val="FF0000"/>
                </a:solidFill>
              </a:rPr>
              <a:t>  </a:t>
            </a:r>
            <a:r>
              <a:rPr lang="ko-KR" altLang="en-US" sz="1050" dirty="0" smtClean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수단으로 정보를 얻는 행위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/>
              <a:t>조직의 보안 수준을 높이기 위해서는 사회공학 공격에 대한 조직 구성원의 보안 의식이 절실히 필요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409" y="3284984"/>
            <a:ext cx="6369859" cy="281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7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err="1"/>
              <a:t>사회공학의</a:t>
            </a:r>
            <a:r>
              <a:rPr lang="ko-KR" altLang="en-US" dirty="0"/>
              <a:t>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r>
              <a:rPr lang="ko-KR" altLang="en-US" dirty="0" err="1"/>
              <a:t>사회공학의</a:t>
            </a:r>
            <a:r>
              <a:rPr lang="ko-KR" altLang="en-US" dirty="0"/>
              <a:t> </a:t>
            </a:r>
            <a:r>
              <a:rPr lang="ko-KR" altLang="en-US" dirty="0" smtClean="0"/>
              <a:t>개념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err="1"/>
              <a:t>사회공학에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취약한 조직</a:t>
            </a:r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직원 수가 많은 조직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/>
              <a:t>서로 얼굴을 모르는 직원도 많아서 낯선 사람에 대한 경계심이 </a:t>
            </a:r>
            <a:r>
              <a:rPr lang="ko-KR" altLang="en-US" dirty="0" smtClean="0"/>
              <a:t>낮음</a:t>
            </a:r>
            <a:endParaRPr lang="en-US" altLang="ko-KR" dirty="0" smtClean="0"/>
          </a:p>
          <a:p>
            <a:pPr lvl="3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/>
              <a:t>구성체가 </a:t>
            </a:r>
            <a:r>
              <a:rPr lang="ko-KR" altLang="en-US" dirty="0">
                <a:solidFill>
                  <a:srgbClr val="FF0000"/>
                </a:solidFill>
              </a:rPr>
              <a:t>여러 곳에 분산되어 있는 조직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/>
              <a:t>다른 지점의 직원으로 가장하여 접근하기 </a:t>
            </a:r>
            <a:r>
              <a:rPr lang="ko-KR" altLang="en-US" dirty="0" smtClean="0"/>
              <a:t>쉬움</a:t>
            </a:r>
            <a:endParaRPr lang="en-US" altLang="ko-KR" dirty="0" smtClean="0"/>
          </a:p>
          <a:p>
            <a:pPr lvl="3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/>
              <a:t>조직원의 </a:t>
            </a:r>
            <a:r>
              <a:rPr lang="ko-KR" altLang="en-US" dirty="0">
                <a:solidFill>
                  <a:srgbClr val="FF0000"/>
                </a:solidFill>
              </a:rPr>
              <a:t>개인 정보를 쉽게 획득할 수 있는 조직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/>
              <a:t>조직 내에서 쉽게 획득한 개인 정보를 이용하여 공격 대상을 잘 알고 있는 것처럼 속여서 더 높은 수준의 정보 획득 </a:t>
            </a:r>
            <a:r>
              <a:rPr lang="ko-KR" altLang="en-US" dirty="0" smtClean="0"/>
              <a:t>가능</a:t>
            </a:r>
            <a:endParaRPr lang="en-US" altLang="ko-KR" dirty="0" smtClean="0"/>
          </a:p>
          <a:p>
            <a:pPr lvl="3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보안 교육을 하지 않는 조직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/>
              <a:t>사회공학 공격에 대한 대응책이 마련되어 있지 않아 정보 유출이 </a:t>
            </a:r>
            <a:r>
              <a:rPr lang="ko-KR" altLang="en-US" dirty="0" smtClean="0"/>
              <a:t>쉬움</a:t>
            </a:r>
            <a:endParaRPr lang="en-US" altLang="ko-KR" dirty="0" smtClean="0"/>
          </a:p>
          <a:p>
            <a:pPr lvl="3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정보의 분류와 관리가 허술한 조직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/>
              <a:t>정보는 중요도에 따라 분류 및 관리해야 하는데 이러한 분류가 명확하지 않은 조직에서는 정보가 쉽게 노출될 수 있음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2805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err="1"/>
              <a:t>사회공학의</a:t>
            </a:r>
            <a:r>
              <a:rPr lang="ko-KR" altLang="en-US" dirty="0"/>
              <a:t>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613794" cy="5400600"/>
          </a:xfrm>
        </p:spPr>
        <p:txBody>
          <a:bodyPr/>
          <a:lstStyle/>
          <a:p>
            <a:r>
              <a:rPr lang="ko-KR" altLang="en-US" dirty="0" err="1"/>
              <a:t>사회공학의</a:t>
            </a:r>
            <a:r>
              <a:rPr lang="ko-KR" altLang="en-US" dirty="0"/>
              <a:t> </a:t>
            </a:r>
            <a:r>
              <a:rPr lang="ko-KR" altLang="en-US" dirty="0" smtClean="0"/>
              <a:t>개념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/>
              <a:t>사회공학 공격 대상</a:t>
            </a:r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정보의 가치</a:t>
            </a:r>
            <a:r>
              <a:rPr lang="ko-KR" altLang="en-US" dirty="0"/>
              <a:t>를 모르는 사람</a:t>
            </a:r>
          </a:p>
          <a:p>
            <a:pPr lvl="3">
              <a:defRPr/>
            </a:pPr>
            <a:r>
              <a:rPr lang="ko-KR" altLang="en-US" dirty="0"/>
              <a:t>업무와 직접 관련이 없는 사람은 정보의 가치를 알지 못하여 자신도 모르게 유출할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3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특별한 권한</a:t>
            </a:r>
            <a:r>
              <a:rPr lang="ko-KR" altLang="en-US" dirty="0"/>
              <a:t>을 가진 사람</a:t>
            </a:r>
          </a:p>
          <a:p>
            <a:pPr lvl="3">
              <a:defRPr/>
            </a:pPr>
            <a:r>
              <a:rPr lang="ko-KR" altLang="en-US" dirty="0"/>
              <a:t>업무용 그룹웨어에서 정보에 접근하기 쉬운 특별한 권한을 가진 사람을 속여 공격 대상의 패스워드를 바꾼 뒤 해당 </a:t>
            </a:r>
            <a:endParaRPr lang="en-US" altLang="ko-KR" dirty="0" smtClean="0"/>
          </a:p>
          <a:p>
            <a:pPr marL="628650" lvl="3" indent="0">
              <a:buNone/>
              <a:defRPr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그룹웨어에 </a:t>
            </a:r>
            <a:r>
              <a:rPr lang="ko-KR" altLang="en-US" dirty="0"/>
              <a:t>로그인할 수 </a:t>
            </a:r>
            <a:r>
              <a:rPr lang="ko-KR" altLang="en-US" dirty="0" smtClean="0"/>
              <a:t>있음</a:t>
            </a:r>
            <a:endParaRPr lang="en-US" altLang="ko-KR" dirty="0"/>
          </a:p>
          <a:p>
            <a:pPr lvl="3">
              <a:defRPr/>
            </a:pPr>
            <a:endParaRPr lang="en-US" altLang="ko-KR" sz="100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제조사 </a:t>
            </a:r>
            <a:r>
              <a:rPr lang="ko-KR" altLang="en-US" dirty="0">
                <a:solidFill>
                  <a:srgbClr val="FF0000"/>
                </a:solidFill>
              </a:rPr>
              <a:t>또는 </a:t>
            </a:r>
            <a:r>
              <a:rPr lang="ko-KR" altLang="en-US" dirty="0" err="1">
                <a:solidFill>
                  <a:srgbClr val="FF0000"/>
                </a:solidFill>
              </a:rPr>
              <a:t>판매사</a:t>
            </a:r>
            <a:endParaRPr lang="ko-KR" altLang="en-US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/>
              <a:t>공격 대상 회사의 정보를 많이 알고 있고 시스템에 대한 접근 권한과 유지</a:t>
            </a:r>
            <a:r>
              <a:rPr lang="en-US" altLang="ko-KR" dirty="0"/>
              <a:t>, </a:t>
            </a:r>
            <a:r>
              <a:rPr lang="ko-KR" altLang="en-US" dirty="0"/>
              <a:t>보수용 계정을 가지고 있어 정보 획득 </a:t>
            </a:r>
            <a:r>
              <a:rPr lang="ko-KR" altLang="en-US" dirty="0" smtClean="0"/>
              <a:t>가능</a:t>
            </a:r>
            <a:endParaRPr lang="en-US" altLang="ko-KR" dirty="0"/>
          </a:p>
          <a:p>
            <a:pPr lvl="3">
              <a:defRPr/>
            </a:pPr>
            <a:endParaRPr lang="en-US" altLang="ko-KR" sz="100" dirty="0" smtClean="0"/>
          </a:p>
          <a:p>
            <a:pPr lvl="2">
              <a:defRPr/>
            </a:pPr>
            <a:r>
              <a:rPr lang="ko-KR" altLang="en-US" dirty="0" smtClean="0"/>
              <a:t> </a:t>
            </a:r>
            <a:r>
              <a:rPr lang="ko-KR" altLang="en-US" dirty="0"/>
              <a:t>새로 </a:t>
            </a:r>
            <a:r>
              <a:rPr lang="ko-KR" altLang="en-US" dirty="0" smtClean="0"/>
              <a:t>들어온</a:t>
            </a:r>
            <a:r>
              <a:rPr lang="en-US" altLang="ko-KR" dirty="0" smtClean="0"/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신입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ko-KR" altLang="en-US" dirty="0"/>
              <a:t>사람</a:t>
            </a:r>
          </a:p>
          <a:p>
            <a:pPr lvl="3">
              <a:defRPr/>
            </a:pPr>
            <a:r>
              <a:rPr lang="ko-KR" altLang="en-US" dirty="0"/>
              <a:t>낯선 사람과 새로운 환경에 적응하려고 경계심을 풀 때 회사 조력자로 가장하여 신상 정보나 시스템 접근 정보를 얻을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686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사회공학 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 smtClean="0"/>
              <a:t>사회공학 기법의 분류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인간 기반 </a:t>
            </a:r>
            <a:r>
              <a:rPr lang="ko-KR" altLang="en-US" dirty="0" smtClean="0"/>
              <a:t>공격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dirty="0"/>
              <a:t>공격자가 공격 대상에게 직접 접근하거나 전화 등을 이용하는 </a:t>
            </a:r>
            <a:r>
              <a:rPr lang="ko-KR" altLang="en-US" dirty="0" smtClean="0"/>
              <a:t>방법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컴퓨터 </a:t>
            </a:r>
            <a:r>
              <a:rPr lang="ko-KR" altLang="en-US" dirty="0">
                <a:solidFill>
                  <a:srgbClr val="FF0000"/>
                </a:solidFill>
              </a:rPr>
              <a:t>기반 </a:t>
            </a:r>
            <a:r>
              <a:rPr lang="ko-KR" altLang="en-US" dirty="0" smtClean="0"/>
              <a:t>공격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dirty="0"/>
              <a:t>악성 코드</a:t>
            </a:r>
            <a:r>
              <a:rPr lang="en-US" altLang="ko-KR" dirty="0"/>
              <a:t>, </a:t>
            </a:r>
            <a:r>
              <a:rPr lang="ko-KR" altLang="en-US" dirty="0"/>
              <a:t>컴퓨터 프로 그램</a:t>
            </a:r>
            <a:r>
              <a:rPr lang="en-US" altLang="ko-KR" dirty="0"/>
              <a:t>, </a:t>
            </a:r>
            <a:r>
              <a:rPr lang="ko-KR" altLang="en-US" dirty="0"/>
              <a:t>웹 사이트 등을 이용하는 접근 </a:t>
            </a:r>
            <a:r>
              <a:rPr lang="ko-KR" altLang="en-US" dirty="0" smtClean="0"/>
              <a:t>방법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일반적으로 사회공학 기법은 인간 기반의 </a:t>
            </a:r>
            <a:r>
              <a:rPr lang="ko-KR" altLang="en-US" dirty="0" smtClean="0"/>
              <a:t>수단을 </a:t>
            </a:r>
            <a:r>
              <a:rPr lang="ko-KR" altLang="en-US" dirty="0"/>
              <a:t>이용하는 공격 형태를 지칭</a:t>
            </a:r>
            <a:endParaRPr lang="en-US" altLang="ko-KR" dirty="0" smtClean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 smtClean="0"/>
              <a:t>인간 </a:t>
            </a:r>
            <a:r>
              <a:rPr lang="ko-KR" altLang="en-US" dirty="0"/>
              <a:t>기반 사회공학 기법</a:t>
            </a:r>
          </a:p>
          <a:p>
            <a:pPr lvl="1">
              <a:defRPr/>
            </a:pPr>
            <a:r>
              <a:rPr lang="ko-KR" altLang="en-US" dirty="0"/>
              <a:t>직접적인 접근</a:t>
            </a:r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직접</a:t>
            </a:r>
            <a:r>
              <a:rPr lang="ko-KR" altLang="en-US" dirty="0"/>
              <a:t> 만나거나 </a:t>
            </a:r>
            <a:r>
              <a:rPr lang="ko-KR" altLang="en-US" dirty="0">
                <a:solidFill>
                  <a:srgbClr val="FF0000"/>
                </a:solidFill>
              </a:rPr>
              <a:t>전화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온라인</a:t>
            </a:r>
            <a:r>
              <a:rPr lang="ko-KR" altLang="en-US" dirty="0"/>
              <a:t>으로 접근하는 </a:t>
            </a:r>
            <a:r>
              <a:rPr lang="ko-KR" altLang="en-US" dirty="0" smtClean="0"/>
              <a:t>것</a:t>
            </a:r>
            <a:endParaRPr lang="en-US" altLang="ko-KR" dirty="0"/>
          </a:p>
          <a:p>
            <a:pPr lvl="2">
              <a:defRPr/>
            </a:pPr>
            <a:endParaRPr lang="en-US" altLang="ko-KR" sz="100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권력</a:t>
            </a:r>
            <a:r>
              <a:rPr lang="ko-KR" altLang="en-US" dirty="0" smtClean="0"/>
              <a:t>을 </a:t>
            </a:r>
            <a:r>
              <a:rPr lang="ko-KR" altLang="en-US" dirty="0"/>
              <a:t>이용한 </a:t>
            </a:r>
            <a:r>
              <a:rPr lang="ko-KR" altLang="en-US" dirty="0" smtClean="0"/>
              <a:t>접근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조직에서 높은 위치에 있는 사람으로 가장하여 정보 </a:t>
            </a:r>
            <a:r>
              <a:rPr lang="ko-KR" altLang="en-US" dirty="0" smtClean="0"/>
              <a:t>획득</a:t>
            </a:r>
            <a:endParaRPr lang="en-US" altLang="ko-KR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동정심</a:t>
            </a:r>
            <a:r>
              <a:rPr lang="ko-KR" altLang="en-US" dirty="0"/>
              <a:t>에 호소한 접근</a:t>
            </a:r>
          </a:p>
          <a:p>
            <a:pPr lvl="3">
              <a:defRPr/>
            </a:pPr>
            <a:r>
              <a:rPr lang="ko-KR" altLang="en-US" dirty="0"/>
              <a:t>매우 긴급한 상황에 처해 도움이 필요한 것처럼 행동하는 </a:t>
            </a:r>
            <a:r>
              <a:rPr lang="ko-KR" altLang="en-US" dirty="0" smtClean="0"/>
              <a:t>경우</a:t>
            </a:r>
            <a:endParaRPr lang="en-US" altLang="ko-KR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가장된 인간관계</a:t>
            </a:r>
            <a:r>
              <a:rPr lang="ko-KR" altLang="en-US" dirty="0"/>
              <a:t>를 이용한 접근</a:t>
            </a:r>
          </a:p>
          <a:p>
            <a:pPr lvl="3">
              <a:defRPr/>
            </a:pPr>
            <a:r>
              <a:rPr lang="ko-KR" altLang="en-US" dirty="0"/>
              <a:t>개인 정보를 얻어 신분을 가장한 뒤 공격 대상에게 정보 </a:t>
            </a:r>
            <a:r>
              <a:rPr lang="ko-KR" altLang="en-US" dirty="0" smtClean="0"/>
              <a:t>획득</a:t>
            </a:r>
            <a:endParaRPr lang="en-US" altLang="ko-KR" dirty="0" smtClean="0"/>
          </a:p>
          <a:p>
            <a:pPr lvl="4">
              <a:defRPr/>
            </a:pPr>
            <a:endParaRPr lang="en-US" altLang="ko-KR" sz="100" dirty="0"/>
          </a:p>
        </p:txBody>
      </p:sp>
    </p:spTree>
    <p:extLst>
      <p:ext uri="{BB962C8B-B14F-4D97-AF65-F5344CB8AC3E}">
        <p14:creationId xmlns:p14="http://schemas.microsoft.com/office/powerpoint/2010/main" val="45358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사회공학 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인간 기반 사회공학 기법</a:t>
            </a:r>
          </a:p>
          <a:p>
            <a:pPr lvl="1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도청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en-US" altLang="ko-KR" dirty="0" err="1" smtClean="0">
                <a:solidFill>
                  <a:srgbClr val="FF0000"/>
                </a:solidFill>
              </a:rPr>
              <a:t>Evasdroping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/>
              <a:t>도청 장치나 유선 전화선을 통한 </a:t>
            </a:r>
            <a:r>
              <a:rPr lang="ko-KR" altLang="en-US" dirty="0" smtClean="0"/>
              <a:t>도청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레이저 </a:t>
            </a:r>
            <a:r>
              <a:rPr lang="ko-KR" altLang="en-US" dirty="0"/>
              <a:t>마이크로폰으로 유리나 벽의 진동을 탐지하여 음성으로 바꾸어 </a:t>
            </a:r>
            <a:r>
              <a:rPr lang="ko-KR" altLang="en-US" dirty="0" smtClean="0"/>
              <a:t>도청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문에 귀를 대고 엿듣거나 슬그머니 가까이 다가가 엿듣는 것도 도청에 </a:t>
            </a:r>
            <a:r>
              <a:rPr lang="ko-KR" altLang="en-US" dirty="0" smtClean="0"/>
              <a:t>속함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내부 직원이나 평소에 친하게 지내던 사람도 사회공학 공격자가 될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>
                <a:solidFill>
                  <a:srgbClr val="FF0000"/>
                </a:solidFill>
              </a:rPr>
              <a:t>어깨너머로 </a:t>
            </a:r>
            <a:r>
              <a:rPr lang="ko-KR" altLang="en-US" dirty="0" smtClean="0">
                <a:solidFill>
                  <a:srgbClr val="FF0000"/>
                </a:solidFill>
              </a:rPr>
              <a:t>훔쳐보기</a:t>
            </a:r>
            <a:r>
              <a:rPr lang="en-US" altLang="ko-KR" dirty="0" smtClean="0">
                <a:solidFill>
                  <a:srgbClr val="FF0000"/>
                </a:solidFill>
              </a:rPr>
              <a:t>(Peeking)</a:t>
            </a:r>
          </a:p>
          <a:p>
            <a:pPr lvl="2">
              <a:defRPr/>
            </a:pPr>
            <a:r>
              <a:rPr lang="ko-KR" altLang="en-US" dirty="0" smtClean="0"/>
              <a:t>작업 </a:t>
            </a:r>
            <a:r>
              <a:rPr lang="ko-KR" altLang="en-US" dirty="0"/>
              <a:t>중인 사람의 뒤 로 다가가 그 사람의 업무 관련 정보나 패스워드 등을 </a:t>
            </a:r>
            <a:r>
              <a:rPr lang="ko-KR" altLang="en-US" dirty="0" smtClean="0"/>
              <a:t>알아내는 것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최근엔 편광 </a:t>
            </a:r>
            <a:r>
              <a:rPr lang="ko-KR" altLang="en-US" dirty="0"/>
              <a:t>필름을 많이 </a:t>
            </a:r>
            <a:r>
              <a:rPr lang="ko-KR" altLang="en-US" dirty="0" smtClean="0"/>
              <a:t>사용하고 </a:t>
            </a:r>
            <a:r>
              <a:rPr lang="ko-KR" altLang="en-US" dirty="0"/>
              <a:t>있으며</a:t>
            </a:r>
            <a:r>
              <a:rPr lang="en-US" altLang="ko-KR" dirty="0"/>
              <a:t>, </a:t>
            </a:r>
            <a:r>
              <a:rPr lang="ko-KR" altLang="en-US" dirty="0" smtClean="0"/>
              <a:t>패스워드는 별표</a:t>
            </a:r>
            <a:r>
              <a:rPr lang="en-US" altLang="ko-KR" dirty="0"/>
              <a:t>(*)</a:t>
            </a:r>
            <a:r>
              <a:rPr lang="ko-KR" altLang="en-US" dirty="0"/>
              <a:t>로 </a:t>
            </a:r>
            <a:r>
              <a:rPr lang="ko-KR" altLang="en-US" dirty="0" smtClean="0"/>
              <a:t>표시되어 이 방식으로 정보를 훔치기 어려움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손가락 움직임만으로 쉽게 유추할 수 있는 </a:t>
            </a:r>
            <a:r>
              <a:rPr lang="ko-KR" altLang="en-US" dirty="0" smtClean="0"/>
              <a:t>패스워드</a:t>
            </a:r>
            <a:r>
              <a:rPr lang="en-US" altLang="ko-KR" dirty="0" smtClean="0"/>
              <a:t>(</a:t>
            </a:r>
            <a:r>
              <a:rPr lang="ko-KR" altLang="en-US" dirty="0" smtClean="0"/>
              <a:t>예</a:t>
            </a:r>
            <a:r>
              <a:rPr lang="en-US" altLang="ko-KR" dirty="0" smtClean="0"/>
              <a:t>: qwer1234</a:t>
            </a:r>
            <a:r>
              <a:rPr lang="en-US" altLang="ko-KR" dirty="0"/>
              <a:t>)</a:t>
            </a:r>
            <a:r>
              <a:rPr lang="ko-KR" altLang="en-US" dirty="0"/>
              <a:t>는 쉽게 노출될 수 있으므로 유의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4509120"/>
            <a:ext cx="3168352" cy="225968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4475764"/>
            <a:ext cx="1929493" cy="227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5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사회공학 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인간 기반 사회공학 기법</a:t>
            </a:r>
          </a:p>
          <a:p>
            <a:pPr lvl="1">
              <a:defRPr/>
            </a:pPr>
            <a:r>
              <a:rPr lang="ko-KR" altLang="en-US" dirty="0">
                <a:solidFill>
                  <a:srgbClr val="FF0000"/>
                </a:solidFill>
              </a:rPr>
              <a:t>휴지통 뒤지기</a:t>
            </a:r>
          </a:p>
          <a:p>
            <a:pPr lvl="2">
              <a:defRPr/>
            </a:pPr>
            <a:r>
              <a:rPr lang="ko-KR" altLang="en-US" dirty="0"/>
              <a:t>다소 </a:t>
            </a:r>
            <a:r>
              <a:rPr lang="ko-KR" altLang="en-US" dirty="0" err="1"/>
              <a:t>지저분하지만</a:t>
            </a:r>
            <a:r>
              <a:rPr lang="ko-KR" altLang="en-US" dirty="0"/>
              <a:t> 효과적인 정보 수집 </a:t>
            </a:r>
            <a:r>
              <a:rPr lang="ko-KR" altLang="en-US" dirty="0" smtClean="0"/>
              <a:t>방법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휴지통 뒤지기로 얻을 가능성이 높은 정보</a:t>
            </a:r>
          </a:p>
          <a:p>
            <a:pPr lvl="3">
              <a:defRPr/>
            </a:pPr>
            <a:r>
              <a:rPr lang="ko-KR" altLang="en-US" dirty="0"/>
              <a:t>회사 인사 구조도</a:t>
            </a:r>
          </a:p>
          <a:p>
            <a:pPr lvl="3">
              <a:defRPr/>
            </a:pPr>
            <a:r>
              <a:rPr lang="ko-KR" altLang="en-US" dirty="0" smtClean="0"/>
              <a:t>업무 </a:t>
            </a:r>
            <a:r>
              <a:rPr lang="ko-KR" altLang="en-US" dirty="0"/>
              <a:t>관련 메모</a:t>
            </a:r>
          </a:p>
          <a:p>
            <a:pPr lvl="3">
              <a:defRPr/>
            </a:pPr>
            <a:r>
              <a:rPr lang="ko-KR" altLang="en-US" dirty="0" smtClean="0"/>
              <a:t>소스 </a:t>
            </a:r>
            <a:r>
              <a:rPr lang="ko-KR" altLang="en-US" dirty="0" err="1"/>
              <a:t>인쇄본</a:t>
            </a:r>
            <a:endParaRPr lang="ko-KR" altLang="en-US" dirty="0"/>
          </a:p>
          <a:p>
            <a:pPr lvl="3">
              <a:defRPr/>
            </a:pPr>
            <a:r>
              <a:rPr lang="ko-KR" altLang="en-US" dirty="0" smtClean="0"/>
              <a:t>하드디스크</a:t>
            </a:r>
            <a:r>
              <a:rPr lang="en-US" altLang="ko-KR" dirty="0"/>
              <a:t>, </a:t>
            </a:r>
            <a:r>
              <a:rPr lang="ko-KR" altLang="en-US" dirty="0"/>
              <a:t>디스켓</a:t>
            </a:r>
            <a:r>
              <a:rPr lang="en-US" altLang="ko-KR" dirty="0"/>
              <a:t>, CD</a:t>
            </a:r>
          </a:p>
          <a:p>
            <a:pPr lvl="3">
              <a:defRPr/>
            </a:pPr>
            <a:r>
              <a:rPr lang="ko-KR" altLang="en-US" dirty="0" smtClean="0"/>
              <a:t>유효 </a:t>
            </a:r>
            <a:r>
              <a:rPr lang="ko-KR" altLang="en-US" dirty="0"/>
              <a:t>기간이 지나거나 현재 사용 중인 아이디와 패스워드 </a:t>
            </a:r>
            <a:r>
              <a:rPr lang="ko-KR" altLang="en-US" dirty="0" smtClean="0"/>
              <a:t>정보</a:t>
            </a:r>
            <a:endParaRPr lang="en-US" altLang="ko-KR" dirty="0" smtClean="0"/>
          </a:p>
          <a:p>
            <a:pPr lvl="3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최근에는 정보가 외부로 유출되는 것을 막기 위해 문서 </a:t>
            </a:r>
            <a:r>
              <a:rPr lang="ko-KR" altLang="en-US" dirty="0" err="1"/>
              <a:t>세단기를</a:t>
            </a:r>
            <a:r>
              <a:rPr lang="ko-KR" altLang="en-US" dirty="0"/>
              <a:t> 많이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 smtClean="0"/>
              <a:t>1951</a:t>
            </a:r>
            <a:r>
              <a:rPr lang="ko-KR" altLang="en-US" dirty="0" smtClean="0"/>
              <a:t>에 설립된 </a:t>
            </a:r>
            <a:r>
              <a:rPr lang="ko-KR" altLang="en-US" dirty="0" err="1" smtClean="0"/>
              <a:t>아이언마운틴이라는</a:t>
            </a:r>
            <a:r>
              <a:rPr lang="ko-KR" altLang="en-US" dirty="0" smtClean="0"/>
              <a:t> </a:t>
            </a:r>
            <a:r>
              <a:rPr lang="ko-KR" altLang="en-US" dirty="0"/>
              <a:t>회사는 산에 굴을 뚫어 문서를 보관하는 서비스를 </a:t>
            </a:r>
            <a:r>
              <a:rPr lang="ko-KR" altLang="en-US" dirty="0" smtClean="0"/>
              <a:t>시작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4896544" y="2343056"/>
            <a:ext cx="4572000" cy="943335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9625" lvl="3" indent="-180975" defTabSz="685800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/>
            </a:pPr>
            <a:r>
              <a:rPr lang="ko-KR" altLang="en-US" sz="1050" dirty="0">
                <a:solidFill>
                  <a:prstClr val="black"/>
                </a:solidFill>
              </a:rPr>
              <a:t>시스템 매뉴얼</a:t>
            </a:r>
          </a:p>
          <a:p>
            <a:pPr marL="809625" lvl="3" indent="-180975" defTabSz="685800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/>
            </a:pPr>
            <a:r>
              <a:rPr lang="ko-KR" altLang="en-US" sz="1050" dirty="0">
                <a:solidFill>
                  <a:prstClr val="black"/>
                </a:solidFill>
              </a:rPr>
              <a:t>회사 </a:t>
            </a:r>
            <a:r>
              <a:rPr lang="ko-KR" altLang="en-US" sz="1050" dirty="0" err="1">
                <a:solidFill>
                  <a:prstClr val="black"/>
                </a:solidFill>
              </a:rPr>
              <a:t>약관록</a:t>
            </a:r>
            <a:endParaRPr lang="ko-KR" altLang="en-US" sz="1050" dirty="0">
              <a:solidFill>
                <a:prstClr val="black"/>
              </a:solidFill>
            </a:endParaRPr>
          </a:p>
          <a:p>
            <a:pPr marL="809625" lvl="3" indent="-180975" defTabSz="685800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/>
            </a:pPr>
            <a:r>
              <a:rPr lang="ko-KR" altLang="en-US" sz="1050" dirty="0">
                <a:solidFill>
                  <a:prstClr val="black"/>
                </a:solidFill>
              </a:rPr>
              <a:t>회사 사무 일정</a:t>
            </a:r>
          </a:p>
          <a:p>
            <a:pPr marL="809625" lvl="3" indent="-180975" defTabSz="685800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/>
            </a:pPr>
            <a:r>
              <a:rPr lang="ko-KR" altLang="en-US" sz="1050" dirty="0">
                <a:solidFill>
                  <a:prstClr val="black"/>
                </a:solidFill>
              </a:rPr>
              <a:t>행사 계획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4504703"/>
            <a:ext cx="4248472" cy="211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6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사회공학 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컴퓨터 기반 사회공학 기법</a:t>
            </a:r>
          </a:p>
          <a:p>
            <a:pPr lvl="1">
              <a:defRPr/>
            </a:pPr>
            <a:r>
              <a:rPr lang="ko-KR" altLang="en-US" dirty="0"/>
              <a:t>시스템 </a:t>
            </a:r>
            <a:r>
              <a:rPr lang="ko-KR" altLang="en-US" dirty="0" smtClean="0"/>
              <a:t>분석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err="1">
                <a:solidFill>
                  <a:srgbClr val="FF0000"/>
                </a:solidFill>
              </a:rPr>
              <a:t>포렌식</a:t>
            </a:r>
            <a:r>
              <a:rPr lang="ko-KR" altLang="en-US" dirty="0" err="1"/>
              <a:t>을</a:t>
            </a:r>
            <a:r>
              <a:rPr lang="ko-KR" altLang="en-US" dirty="0"/>
              <a:t> 사용한 시스템 </a:t>
            </a:r>
            <a:r>
              <a:rPr lang="ko-KR" altLang="en-US" dirty="0" smtClean="0"/>
              <a:t>분석 가능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버려진 하드디스크나 컴퓨터를 사용하거나 정보를 얻고 싶은 대상의 노트북 또는 </a:t>
            </a:r>
            <a:r>
              <a:rPr lang="en-US" altLang="ko-KR" dirty="0"/>
              <a:t>PC</a:t>
            </a:r>
            <a:r>
              <a:rPr lang="ko-KR" altLang="en-US" dirty="0"/>
              <a:t>를 중고로 사서 분석하여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정보 획득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중요한 업무를 수행한 저장 장치의 내용은 </a:t>
            </a:r>
            <a:r>
              <a:rPr lang="en-US" altLang="ko-KR" dirty="0" smtClean="0"/>
              <a:t>Eraser</a:t>
            </a:r>
            <a:r>
              <a:rPr lang="ko-KR" altLang="en-US" dirty="0"/>
              <a:t>와 같은 툴을 이용하여 삭제하려는 </a:t>
            </a:r>
            <a:r>
              <a:rPr lang="ko-KR" altLang="en-US" dirty="0" smtClean="0"/>
              <a:t>파일의 위치에 일괄적으로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en-US" altLang="ko-KR" dirty="0" smtClean="0"/>
              <a:t>  0</a:t>
            </a:r>
            <a:r>
              <a:rPr lang="ko-KR" altLang="en-US" dirty="0" smtClean="0"/>
              <a:t>이라는 값으로 덮어쓰기를 해야 함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특수 </a:t>
            </a:r>
            <a:r>
              <a:rPr lang="ko-KR" altLang="en-US" dirty="0"/>
              <a:t>장비를 이용하면 파일 삭제 툴로 삭제한 정보도 해독할 수 있으므로 완벽한 삭제가 필요할 경우 강력한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ko-KR" altLang="en-US" dirty="0" smtClean="0"/>
              <a:t>   자기장을 </a:t>
            </a:r>
            <a:r>
              <a:rPr lang="ko-KR" altLang="en-US" dirty="0"/>
              <a:t>발생시키는 자기 소거 장치 </a:t>
            </a:r>
            <a:r>
              <a:rPr lang="ko-KR" altLang="en-US" dirty="0" smtClean="0"/>
              <a:t>이용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endParaRPr lang="en-US" altLang="ko-KR" dirty="0"/>
          </a:p>
          <a:p>
            <a:pPr lvl="2">
              <a:defRPr/>
            </a:pPr>
            <a:r>
              <a:rPr lang="en-US" altLang="ko-KR" dirty="0" smtClean="0"/>
              <a:t>Eraser</a:t>
            </a:r>
          </a:p>
          <a:p>
            <a:pPr lvl="3">
              <a:defRPr/>
            </a:pPr>
            <a:r>
              <a:rPr lang="en-US" altLang="ko-KR" dirty="0"/>
              <a:t>New Task</a:t>
            </a:r>
            <a:r>
              <a:rPr lang="ko-KR" altLang="en-US" dirty="0"/>
              <a:t>를 통해 삭제 작업을 </a:t>
            </a:r>
            <a:r>
              <a:rPr lang="ko-KR" altLang="en-US" dirty="0" smtClean="0"/>
              <a:t>등록함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등록할 </a:t>
            </a:r>
            <a:r>
              <a:rPr lang="ko-KR" altLang="en-US" dirty="0"/>
              <a:t>수 있는 삭제 작업은 특정 파일</a:t>
            </a:r>
            <a:r>
              <a:rPr lang="en-US" altLang="ko-KR" dirty="0"/>
              <a:t>, </a:t>
            </a:r>
            <a:r>
              <a:rPr lang="ko-KR" altLang="en-US" dirty="0"/>
              <a:t>폴더</a:t>
            </a:r>
            <a:r>
              <a:rPr lang="en-US" altLang="ko-KR" dirty="0"/>
              <a:t>, </a:t>
            </a:r>
            <a:r>
              <a:rPr lang="ko-KR" altLang="en-US" dirty="0"/>
              <a:t>디스크</a:t>
            </a:r>
            <a:r>
              <a:rPr lang="en-US" altLang="ko-KR" dirty="0"/>
              <a:t>, </a:t>
            </a:r>
            <a:r>
              <a:rPr lang="ko-KR" altLang="en-US" dirty="0"/>
              <a:t>휴지통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4941168"/>
            <a:ext cx="3168352" cy="143059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171" y="3656035"/>
            <a:ext cx="2448272" cy="320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54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사회공학 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컴퓨터 기반 사회공학 기법</a:t>
            </a:r>
          </a:p>
          <a:p>
            <a:pPr lvl="1">
              <a:defRPr/>
            </a:pPr>
            <a:r>
              <a:rPr lang="ko-KR" altLang="en-US" dirty="0"/>
              <a:t>시스템 </a:t>
            </a:r>
            <a:r>
              <a:rPr lang="ko-KR" altLang="en-US" dirty="0" smtClean="0"/>
              <a:t>분석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하드디스크 의 정보를 디스크에 쓰인 </a:t>
            </a:r>
            <a:r>
              <a:rPr lang="ko-KR" altLang="en-US" dirty="0" err="1"/>
              <a:t>자기체가</a:t>
            </a:r>
            <a:r>
              <a:rPr lang="ko-KR" altLang="en-US" dirty="0"/>
              <a:t> 약간 </a:t>
            </a:r>
            <a:r>
              <a:rPr lang="ko-KR" altLang="en-US" dirty="0" smtClean="0"/>
              <a:t>남기 때문에 일곱 </a:t>
            </a:r>
            <a:r>
              <a:rPr lang="ko-KR" altLang="en-US" dirty="0"/>
              <a:t>번이나 쓰고 지워도 해독할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잔존 </a:t>
            </a:r>
            <a:r>
              <a:rPr lang="ko-KR" altLang="en-US" dirty="0" err="1" smtClean="0"/>
              <a:t>자기체까지</a:t>
            </a:r>
            <a:r>
              <a:rPr lang="ko-KR" altLang="en-US" dirty="0" smtClean="0"/>
              <a:t> </a:t>
            </a:r>
            <a:r>
              <a:rPr lang="ko-KR" altLang="en-US" dirty="0"/>
              <a:t>완전히 삭제하려면 강력한 자기장을 발생시키는 </a:t>
            </a:r>
            <a:r>
              <a:rPr lang="ko-KR" altLang="en-US" dirty="0">
                <a:solidFill>
                  <a:srgbClr val="FF0000"/>
                </a:solidFill>
              </a:rPr>
              <a:t>자기 소거 장치</a:t>
            </a:r>
            <a:r>
              <a:rPr lang="ko-KR" altLang="en-US" dirty="0"/>
              <a:t>를 이용해야 </a:t>
            </a:r>
            <a:r>
              <a:rPr lang="ko-KR" altLang="en-US" dirty="0" smtClean="0"/>
              <a:t>함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175" y="3284984"/>
            <a:ext cx="3024336" cy="282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31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사회공학 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컴퓨터 기반 사회공학 기법</a:t>
            </a:r>
          </a:p>
          <a:p>
            <a:pPr lvl="1">
              <a:defRPr/>
            </a:pPr>
            <a:r>
              <a:rPr lang="ko-KR" altLang="en-US" dirty="0">
                <a:solidFill>
                  <a:srgbClr val="FF0000"/>
                </a:solidFill>
              </a:rPr>
              <a:t>악성 소프트웨어 </a:t>
            </a:r>
            <a:r>
              <a:rPr lang="ko-KR" altLang="en-US" dirty="0"/>
              <a:t>전송</a:t>
            </a:r>
          </a:p>
          <a:p>
            <a:pPr lvl="2">
              <a:defRPr/>
            </a:pPr>
            <a:r>
              <a:rPr lang="ko-KR" altLang="en-US" dirty="0"/>
              <a:t>서비스 제공 업체로 가장하여 </a:t>
            </a:r>
            <a:r>
              <a:rPr lang="ko-KR" altLang="en-US" dirty="0">
                <a:solidFill>
                  <a:srgbClr val="FF0000"/>
                </a:solidFill>
              </a:rPr>
              <a:t>바이러스</a:t>
            </a:r>
            <a:r>
              <a:rPr lang="ko-KR" altLang="en-US" dirty="0"/>
              <a:t>나 </a:t>
            </a:r>
            <a:r>
              <a:rPr lang="ko-KR" altLang="en-US" dirty="0" err="1">
                <a:solidFill>
                  <a:srgbClr val="FF0000"/>
                </a:solidFill>
              </a:rPr>
              <a:t>백도어</a:t>
            </a:r>
            <a:r>
              <a:rPr lang="ko-KR" altLang="en-US" dirty="0"/>
              <a:t> 또는 키보드 입력을 가로챌 수 있는 </a:t>
            </a:r>
            <a:r>
              <a:rPr lang="ko-KR" altLang="en-US" dirty="0" err="1">
                <a:solidFill>
                  <a:srgbClr val="FF0000"/>
                </a:solidFill>
              </a:rPr>
              <a:t>키로거</a:t>
            </a:r>
            <a:r>
              <a:rPr lang="ko-KR" altLang="en-US" dirty="0"/>
              <a:t> 등을 전송하여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공격 </a:t>
            </a:r>
            <a:r>
              <a:rPr lang="ko-KR" altLang="en-US" dirty="0"/>
              <a:t>대상이 설치하게 만드는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가까이에 있는 사람이라면 플로피 디스크나 </a:t>
            </a:r>
            <a:r>
              <a:rPr lang="en-US" altLang="ko-KR" dirty="0"/>
              <a:t>USB </a:t>
            </a:r>
            <a:r>
              <a:rPr lang="ko-KR" altLang="en-US" dirty="0"/>
              <a:t>메모리에 담아 그 사람의 시스템에서 몰래 실행할 수도 </a:t>
            </a:r>
            <a:r>
              <a:rPr lang="ko-KR" altLang="en-US" dirty="0" smtClean="0"/>
              <a:t>있음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>
                <a:solidFill>
                  <a:srgbClr val="FF0000"/>
                </a:solidFill>
              </a:rPr>
              <a:t>인터넷</a:t>
            </a:r>
            <a:r>
              <a:rPr lang="ko-KR" altLang="en-US" dirty="0"/>
              <a:t>을 이용한 공격</a:t>
            </a:r>
          </a:p>
          <a:p>
            <a:pPr lvl="2">
              <a:defRPr/>
            </a:pPr>
            <a:r>
              <a:rPr lang="ko-KR" altLang="en-US" dirty="0"/>
              <a:t>다양한 검색 엔진에서 공격 대상의 개인 정보</a:t>
            </a:r>
            <a:r>
              <a:rPr lang="en-US" altLang="ko-KR" dirty="0"/>
              <a:t>, </a:t>
            </a:r>
            <a:r>
              <a:rPr lang="ko-KR" altLang="en-US" dirty="0"/>
              <a:t>사회 활동 정보 </a:t>
            </a:r>
            <a:r>
              <a:rPr lang="ko-KR" altLang="en-US" dirty="0" smtClean="0"/>
              <a:t>수집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신상 털기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피싱</a:t>
            </a:r>
            <a:r>
              <a:rPr lang="en-US" altLang="ko-KR" dirty="0" smtClean="0">
                <a:solidFill>
                  <a:srgbClr val="FF0000"/>
                </a:solidFill>
              </a:rPr>
              <a:t>(Private Data + Fishing = Phishing)</a:t>
            </a:r>
            <a:endParaRPr lang="ko-KR" altLang="en-US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/>
              <a:t>개인 정보를 불법으로 도용하려는 속임수의 한 유형</a:t>
            </a:r>
            <a:r>
              <a:rPr lang="en-US" altLang="ko-KR" dirty="0" smtClean="0"/>
              <a:t>. (Voice, SMS, Messenger)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공격 대상에게 그럴듯한 이메일을 보낸 뒤 링크</a:t>
            </a:r>
            <a:r>
              <a:rPr lang="en-US" altLang="ko-KR" dirty="0"/>
              <a:t>(URL)</a:t>
            </a:r>
            <a:r>
              <a:rPr lang="ko-KR" altLang="en-US" dirty="0"/>
              <a:t>에 접속하여 신용 정보나 금융 정보를 입력하게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pPr lvl="2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/>
              <a:t>피싱 메일에 포함된 링크의 특성</a:t>
            </a:r>
          </a:p>
          <a:p>
            <a:pPr lvl="3">
              <a:defRPr/>
            </a:pPr>
            <a:r>
              <a:rPr lang="ko-KR" altLang="en-US" dirty="0"/>
              <a:t>링크 정보로 표시된 주소와 실제 </a:t>
            </a:r>
            <a:r>
              <a:rPr lang="ko-KR" altLang="en-US" dirty="0" smtClean="0"/>
              <a:t>리다이렉트주소가 다름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공격 대상이 이용하는 </a:t>
            </a:r>
            <a:r>
              <a:rPr lang="en-US" altLang="ko-KR" dirty="0"/>
              <a:t>URL</a:t>
            </a:r>
            <a:r>
              <a:rPr lang="ko-KR" altLang="en-US" dirty="0"/>
              <a:t>과 유사한 </a:t>
            </a:r>
            <a:r>
              <a:rPr lang="en-US" altLang="ko-KR" dirty="0"/>
              <a:t>URL</a:t>
            </a:r>
            <a:r>
              <a:rPr lang="ko-KR" altLang="en-US" dirty="0"/>
              <a:t>로 연결 정보 </a:t>
            </a:r>
            <a:r>
              <a:rPr lang="ko-KR" altLang="en-US" dirty="0" smtClean="0"/>
              <a:t>변형</a:t>
            </a:r>
            <a:endParaRPr lang="en-US" altLang="ko-KR" dirty="0"/>
          </a:p>
          <a:p>
            <a:pPr lvl="3">
              <a:defRPr/>
            </a:pPr>
            <a:r>
              <a:rPr lang="en-US" altLang="ko-KR" dirty="0"/>
              <a:t>URL</a:t>
            </a:r>
            <a:r>
              <a:rPr lang="ko-KR" altLang="en-US" dirty="0"/>
              <a:t>을 인코딩하여 사용자가 가짜 사이트의 링크 주소를 알기 어렵게 조작</a:t>
            </a:r>
          </a:p>
        </p:txBody>
      </p:sp>
    </p:spTree>
    <p:extLst>
      <p:ext uri="{BB962C8B-B14F-4D97-AF65-F5344CB8AC3E}">
        <p14:creationId xmlns:p14="http://schemas.microsoft.com/office/powerpoint/2010/main" val="250570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사회공학 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컴퓨터 기반 사회공학 기법</a:t>
            </a:r>
          </a:p>
          <a:p>
            <a:pPr lvl="1">
              <a:defRPr/>
            </a:pPr>
            <a:r>
              <a:rPr lang="ko-KR" altLang="en-US" dirty="0" smtClean="0"/>
              <a:t>피싱 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피싱 사이트는 전 세계적으로 수만 개에 이르고 그 특성상 잠시 생겼다가 사라지기를 </a:t>
            </a:r>
            <a:r>
              <a:rPr lang="ko-KR" altLang="en-US" dirty="0" smtClean="0"/>
              <a:t>반복하므로 </a:t>
            </a:r>
            <a:r>
              <a:rPr lang="ko-KR" altLang="en-US" dirty="0"/>
              <a:t>유심히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sz="900" dirty="0"/>
              <a:t> </a:t>
            </a:r>
            <a:r>
              <a:rPr lang="en-US" altLang="ko-KR" sz="900" dirty="0" smtClean="0"/>
              <a:t>  </a:t>
            </a:r>
            <a:r>
              <a:rPr lang="en-US" altLang="ko-KR" dirty="0" smtClean="0"/>
              <a:t> </a:t>
            </a:r>
            <a:r>
              <a:rPr lang="ko-KR" altLang="en-US" dirty="0" smtClean="0"/>
              <a:t>살펴보지 </a:t>
            </a:r>
            <a:r>
              <a:rPr lang="ko-KR" altLang="en-US" dirty="0"/>
              <a:t>않으면 피싱 사이트인지 구별하기가 </a:t>
            </a:r>
            <a:r>
              <a:rPr lang="ko-KR" altLang="en-US" dirty="0" smtClean="0"/>
              <a:t>쉽지 않음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420888"/>
            <a:ext cx="5328592" cy="416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0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사회공학 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컴퓨터 기반 사회공학 기법</a:t>
            </a:r>
          </a:p>
          <a:p>
            <a:pPr lvl="1">
              <a:defRPr/>
            </a:pPr>
            <a:r>
              <a:rPr lang="ko-KR" altLang="en-US" dirty="0" err="1" smtClean="0"/>
              <a:t>파밍</a:t>
            </a:r>
            <a:r>
              <a:rPr lang="en-US" altLang="ko-KR" dirty="0" smtClean="0"/>
              <a:t>(</a:t>
            </a:r>
            <a:r>
              <a:rPr lang="en-US" altLang="ko-KR" dirty="0" smtClean="0">
                <a:solidFill>
                  <a:srgbClr val="FF0000"/>
                </a:solidFill>
              </a:rPr>
              <a:t>Phishing + Farming = Pharming</a:t>
            </a:r>
            <a:r>
              <a:rPr lang="en-US" altLang="ko-KR" dirty="0" smtClean="0"/>
              <a:t>)</a:t>
            </a:r>
            <a:endParaRPr lang="ko-KR" altLang="en-US" dirty="0"/>
          </a:p>
          <a:p>
            <a:pPr lvl="2">
              <a:defRPr/>
            </a:pPr>
            <a:r>
              <a:rPr lang="ko-KR" altLang="en-US" dirty="0"/>
              <a:t>합법적으로 소유하고 있던 사용자의 도메인을 탈취하거나 악성 코드 감염으로 </a:t>
            </a:r>
            <a:r>
              <a:rPr lang="en-US" altLang="ko-KR" dirty="0"/>
              <a:t>DNS</a:t>
            </a:r>
            <a:r>
              <a:rPr lang="ko-KR" altLang="en-US" dirty="0"/>
              <a:t>를 속여 사용자가 진짜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사이트로 </a:t>
            </a:r>
            <a:r>
              <a:rPr lang="ko-KR" altLang="en-US" dirty="0"/>
              <a:t>오인하게 함으로써 개인 정보를 훔치는 </a:t>
            </a:r>
            <a:r>
              <a:rPr lang="ko-KR" altLang="en-US" dirty="0" smtClean="0"/>
              <a:t>수법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>
                <a:solidFill>
                  <a:srgbClr val="FF0000"/>
                </a:solidFill>
              </a:rPr>
              <a:t>DNS </a:t>
            </a:r>
            <a:r>
              <a:rPr lang="ko-KR" altLang="en-US" dirty="0" err="1">
                <a:solidFill>
                  <a:srgbClr val="FF0000"/>
                </a:solidFill>
              </a:rPr>
              <a:t>스푸핑</a:t>
            </a:r>
            <a:r>
              <a:rPr lang="ko-KR" altLang="en-US" dirty="0" err="1"/>
              <a:t>과</a:t>
            </a:r>
            <a:r>
              <a:rPr lang="ko-KR" altLang="en-US" dirty="0"/>
              <a:t> 기본적으로 같은 공격이며 </a:t>
            </a:r>
            <a:r>
              <a:rPr lang="en-US" altLang="ko-KR" dirty="0"/>
              <a:t>DNS </a:t>
            </a:r>
            <a:r>
              <a:rPr lang="ko-KR" altLang="en-US" dirty="0" err="1"/>
              <a:t>스푸핑</a:t>
            </a:r>
            <a:r>
              <a:rPr lang="ko-KR" altLang="en-US" dirty="0"/>
              <a:t> 공격으로 개인 정보를 </a:t>
            </a:r>
            <a:r>
              <a:rPr lang="ko-KR" altLang="en-US" dirty="0" smtClean="0"/>
              <a:t>수집</a:t>
            </a: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 err="1" smtClean="0"/>
              <a:t>스미싱</a:t>
            </a:r>
            <a:r>
              <a:rPr lang="en-US" altLang="ko-KR" dirty="0" smtClean="0"/>
              <a:t>(</a:t>
            </a:r>
            <a:r>
              <a:rPr lang="en-US" altLang="ko-KR" dirty="0" smtClean="0">
                <a:solidFill>
                  <a:srgbClr val="FF0000"/>
                </a:solidFill>
              </a:rPr>
              <a:t>SMS + Phishing = </a:t>
            </a:r>
            <a:r>
              <a:rPr lang="en-US" altLang="ko-KR" dirty="0" err="1" smtClean="0">
                <a:solidFill>
                  <a:srgbClr val="FF0000"/>
                </a:solidFill>
              </a:rPr>
              <a:t>Smishing</a:t>
            </a:r>
            <a:r>
              <a:rPr lang="en-US" altLang="ko-KR" dirty="0" smtClean="0"/>
              <a:t>)</a:t>
            </a:r>
            <a:endParaRPr lang="ko-KR" altLang="en-US" dirty="0"/>
          </a:p>
          <a:p>
            <a:pPr lvl="2">
              <a:defRPr/>
            </a:pPr>
            <a:r>
              <a:rPr lang="ko-KR" altLang="en-US" dirty="0"/>
              <a:t>문자 메시지로 무료 쿠폰 제공 후 링크 접속을 유도하여 개인 정보를 빼내는 </a:t>
            </a:r>
            <a:r>
              <a:rPr lang="ko-KR" altLang="en-US" dirty="0" smtClean="0"/>
              <a:t>수법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560" y="2240038"/>
            <a:ext cx="1745920" cy="317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81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사회공학 사례와 대응책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 smtClean="0"/>
              <a:t>컴퓨터 기반 사회공학 기법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가장 효과적인 방법은 조직 구성원들에게 </a:t>
            </a:r>
            <a:r>
              <a:rPr lang="ko-KR" altLang="en-US" dirty="0">
                <a:solidFill>
                  <a:srgbClr val="FF0000"/>
                </a:solidFill>
              </a:rPr>
              <a:t>보안 </a:t>
            </a:r>
            <a:r>
              <a:rPr lang="ko-KR" altLang="en-US" dirty="0" smtClean="0">
                <a:solidFill>
                  <a:srgbClr val="FF0000"/>
                </a:solidFill>
              </a:rPr>
              <a:t>교육</a:t>
            </a:r>
            <a:r>
              <a:rPr lang="ko-KR" altLang="en-US" dirty="0" smtClean="0"/>
              <a:t>을 </a:t>
            </a:r>
            <a:r>
              <a:rPr lang="ko-KR" altLang="en-US" dirty="0"/>
              <a:t>하여 </a:t>
            </a:r>
            <a:r>
              <a:rPr lang="ko-KR" altLang="en-US" dirty="0">
                <a:solidFill>
                  <a:srgbClr val="FF0000"/>
                </a:solidFill>
              </a:rPr>
              <a:t>보안 의식</a:t>
            </a:r>
            <a:r>
              <a:rPr lang="ko-KR" altLang="en-US" dirty="0"/>
              <a:t>을 높이고 낯선 사람에 대한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경계심을 </a:t>
            </a:r>
            <a:r>
              <a:rPr lang="ko-KR" altLang="en-US" dirty="0"/>
              <a:t>갖도록 하는 것</a:t>
            </a:r>
            <a:endParaRPr lang="en-US" altLang="ko-KR" dirty="0" smtClean="0"/>
          </a:p>
          <a:p>
            <a:pPr lvl="2">
              <a:defRPr/>
            </a:pP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전화로 </a:t>
            </a:r>
            <a:r>
              <a:rPr lang="ko-KR" altLang="en-US" dirty="0"/>
              <a:t>정보를 요청했을 때 상대방이 정보를 확인한 후 전화하겠다고 </a:t>
            </a:r>
            <a:r>
              <a:rPr lang="ko-KR" altLang="en-US" dirty="0" smtClean="0"/>
              <a:t>하면 공격자는 </a:t>
            </a:r>
            <a:r>
              <a:rPr lang="ko-KR" altLang="en-US" dirty="0"/>
              <a:t>이를 거절하고 정보를 줄 때까지 </a:t>
            </a:r>
            <a:endParaRPr lang="en-US" altLang="ko-KR" dirty="0" smtClean="0"/>
          </a:p>
          <a:p>
            <a:pPr marL="628650" lvl="3" indent="0">
              <a:buNone/>
              <a:defRPr/>
            </a:pPr>
            <a:r>
              <a:rPr lang="ko-KR" altLang="en-US" dirty="0" smtClean="0"/>
              <a:t>    기다리겠다고 함</a:t>
            </a:r>
            <a:r>
              <a:rPr lang="en-US" altLang="ko-KR" dirty="0" smtClean="0"/>
              <a:t>, </a:t>
            </a:r>
            <a:r>
              <a:rPr lang="ko-KR" altLang="en-US" dirty="0"/>
              <a:t>공격자는 자신의 위치를 노출하지 않기 위해 전화번호를 알려주려 하지 않음</a:t>
            </a:r>
            <a:endParaRPr lang="en-US" altLang="ko-KR" dirty="0" smtClean="0"/>
          </a:p>
          <a:p>
            <a:pPr lvl="3">
              <a:defRPr/>
            </a:pPr>
            <a:endParaRPr lang="en-US" altLang="ko-KR" sz="100" dirty="0" smtClean="0"/>
          </a:p>
          <a:p>
            <a:pPr lvl="3">
              <a:defRPr/>
            </a:pPr>
            <a:r>
              <a:rPr lang="ko-KR" altLang="en-US" dirty="0" smtClean="0"/>
              <a:t>긴급한 </a:t>
            </a:r>
            <a:r>
              <a:rPr lang="ko-KR" altLang="en-US" dirty="0"/>
              <a:t>상황이나 정상적인 절차를 밟기 어려운 난처한 상황이라면서 정보를 </a:t>
            </a:r>
            <a:r>
              <a:rPr lang="ko-KR" altLang="en-US" dirty="0" smtClean="0"/>
              <a:t>요청</a:t>
            </a:r>
            <a:endParaRPr lang="en-US" altLang="ko-KR" dirty="0" smtClean="0"/>
          </a:p>
          <a:p>
            <a:pPr lvl="3">
              <a:defRPr/>
            </a:pPr>
            <a:endParaRPr lang="en-US" altLang="ko-KR" sz="100" dirty="0" smtClean="0"/>
          </a:p>
          <a:p>
            <a:pPr lvl="3">
              <a:defRPr/>
            </a:pPr>
            <a:r>
              <a:rPr lang="ko-KR" altLang="en-US" dirty="0" smtClean="0"/>
              <a:t>내부 </a:t>
            </a:r>
            <a:r>
              <a:rPr lang="ko-KR" altLang="en-US" dirty="0"/>
              <a:t>또는 외부의 높은 직책에 있는 사람으로 </a:t>
            </a:r>
            <a:r>
              <a:rPr lang="ko-KR" altLang="en-US" dirty="0" smtClean="0"/>
              <a:t>가장</a:t>
            </a:r>
            <a:endParaRPr lang="en-US" altLang="ko-KR" dirty="0" smtClean="0"/>
          </a:p>
          <a:p>
            <a:pPr lvl="3">
              <a:defRPr/>
            </a:pPr>
            <a:endParaRPr lang="en-US" altLang="ko-KR" sz="100" dirty="0" smtClean="0"/>
          </a:p>
          <a:p>
            <a:pPr lvl="3">
              <a:defRPr/>
            </a:pPr>
            <a:r>
              <a:rPr lang="ko-KR" altLang="en-US" dirty="0" smtClean="0"/>
              <a:t>조직의 </a:t>
            </a:r>
            <a:r>
              <a:rPr lang="ko-KR" altLang="en-US" dirty="0"/>
              <a:t>규정과 절차가 법에서 정한 것과 일치하지 않는다고 항의하여 정보를 획득하려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pPr lvl="3">
              <a:defRPr/>
            </a:pPr>
            <a:endParaRPr lang="en-US" altLang="ko-KR" sz="100" dirty="0" smtClean="0"/>
          </a:p>
          <a:p>
            <a:pPr lvl="3">
              <a:defRPr/>
            </a:pPr>
            <a:r>
              <a:rPr lang="ko-KR" altLang="en-US" dirty="0" smtClean="0"/>
              <a:t>정보를 </a:t>
            </a:r>
            <a:r>
              <a:rPr lang="ko-KR" altLang="en-US" dirty="0"/>
              <a:t>요청한 후 관련 사항에 대한 질문을 받으면 불편함을 </a:t>
            </a:r>
            <a:r>
              <a:rPr lang="ko-KR" altLang="en-US" dirty="0" smtClean="0"/>
              <a:t>표출</a:t>
            </a:r>
            <a:endParaRPr lang="en-US" altLang="ko-KR" dirty="0" smtClean="0"/>
          </a:p>
          <a:p>
            <a:pPr marL="628650" lvl="3" indent="0">
              <a:buNone/>
              <a:defRPr/>
            </a:pPr>
            <a:r>
              <a:rPr lang="ko-KR" altLang="en-US" dirty="0" smtClean="0"/>
              <a:t>    정보를 </a:t>
            </a:r>
            <a:r>
              <a:rPr lang="ko-KR" altLang="en-US" dirty="0"/>
              <a:t>확인해야 하는 책임자일지라도 고객이 불편함을 드러내면 질문하기 어렵다는 점을 악용하는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marL="628650" lvl="3" indent="0">
              <a:buNone/>
              <a:defRPr/>
            </a:pPr>
            <a:endParaRPr lang="en-US" altLang="ko-KR" sz="100" dirty="0" smtClean="0"/>
          </a:p>
          <a:p>
            <a:pPr lvl="3">
              <a:defRPr/>
            </a:pPr>
            <a:r>
              <a:rPr lang="ko-KR" altLang="en-US" dirty="0" smtClean="0"/>
              <a:t>회사의 </a:t>
            </a:r>
            <a:r>
              <a:rPr lang="ko-KR" altLang="en-US" dirty="0"/>
              <a:t>높은 사람 이름을 언급하며 특별한 권한을 가진 것처럼 </a:t>
            </a:r>
            <a:r>
              <a:rPr lang="ko-KR" altLang="en-US" dirty="0" smtClean="0"/>
              <a:t>가장</a:t>
            </a:r>
            <a:endParaRPr lang="en-US" altLang="ko-KR" dirty="0" smtClean="0"/>
          </a:p>
          <a:p>
            <a:pPr lvl="3">
              <a:defRPr/>
            </a:pPr>
            <a:endParaRPr lang="en-US" altLang="ko-KR" sz="100" dirty="0" smtClean="0"/>
          </a:p>
          <a:p>
            <a:pPr lvl="3">
              <a:defRPr/>
            </a:pPr>
            <a:r>
              <a:rPr lang="ko-KR" altLang="en-US" dirty="0" smtClean="0"/>
              <a:t>잡담을 </a:t>
            </a:r>
            <a:r>
              <a:rPr lang="ko-KR" altLang="en-US" dirty="0"/>
              <a:t>계속하여 주위를 산만하게 함으로써 상대방이 정보를 흘리게 </a:t>
            </a:r>
            <a:r>
              <a:rPr lang="ko-KR" altLang="en-US" dirty="0" smtClean="0"/>
              <a:t>유도</a:t>
            </a:r>
            <a:endParaRPr lang="en-US" altLang="ko-KR" dirty="0" smtClean="0"/>
          </a:p>
          <a:p>
            <a:pPr lvl="3">
              <a:defRPr/>
            </a:pP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1508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53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3175</TotalTime>
  <Words>1056</Words>
  <Application>Microsoft Office PowerPoint</Application>
  <PresentationFormat>화면 슬라이드 쇼(4:3)</PresentationFormat>
  <Paragraphs>167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HY견고딕</vt:lpstr>
      <vt:lpstr>맑은 고딕</vt:lpstr>
      <vt:lpstr>Arial</vt:lpstr>
      <vt:lpstr>Tahoma</vt:lpstr>
      <vt:lpstr>Wingdings</vt:lpstr>
      <vt:lpstr>Office 테마</vt:lpstr>
      <vt:lpstr>12 사회공학(Social Engineer)</vt:lpstr>
      <vt:lpstr>PowerPoint 프레젠테이션</vt:lpstr>
      <vt:lpstr>PowerPoint 프레젠테이션</vt:lpstr>
      <vt:lpstr>1. 사회공학의 이해</vt:lpstr>
      <vt:lpstr>1. 사회공학의 이해</vt:lpstr>
      <vt:lpstr>1. 사회공학의 이해</vt:lpstr>
      <vt:lpstr>2. 사회공학 기법</vt:lpstr>
      <vt:lpstr>2. 사회공학 기법</vt:lpstr>
      <vt:lpstr>2. 사회공학 기법</vt:lpstr>
      <vt:lpstr>2. 사회공학 기법</vt:lpstr>
      <vt:lpstr>2. 사회공학 기법</vt:lpstr>
      <vt:lpstr>2. 사회공학 기법</vt:lpstr>
      <vt:lpstr>2. 사회공학 기법</vt:lpstr>
      <vt:lpstr>2. 사회공학 기법</vt:lpstr>
      <vt:lpstr>3. 사회공학 사례와 대응책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ㅇㅅㅇ</dc:creator>
  <cp:lastModifiedBy>USER</cp:lastModifiedBy>
  <cp:revision>279</cp:revision>
  <dcterms:created xsi:type="dcterms:W3CDTF">2020-06-18T03:20:34Z</dcterms:created>
  <dcterms:modified xsi:type="dcterms:W3CDTF">2025-11-07T07:00:19Z</dcterms:modified>
</cp:coreProperties>
</file>