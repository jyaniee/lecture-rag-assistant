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6"/>
  </p:notesMasterIdLst>
  <p:handoutMasterIdLst>
    <p:handoutMasterId r:id="rId57"/>
  </p:handoutMasterIdLst>
  <p:sldIdLst>
    <p:sldId id="522" r:id="rId2"/>
    <p:sldId id="524" r:id="rId3"/>
    <p:sldId id="525" r:id="rId4"/>
    <p:sldId id="526" r:id="rId5"/>
    <p:sldId id="527" r:id="rId6"/>
    <p:sldId id="528" r:id="rId7"/>
    <p:sldId id="529" r:id="rId8"/>
    <p:sldId id="530" r:id="rId9"/>
    <p:sldId id="532" r:id="rId10"/>
    <p:sldId id="533" r:id="rId11"/>
    <p:sldId id="531" r:id="rId12"/>
    <p:sldId id="534" r:id="rId13"/>
    <p:sldId id="535" r:id="rId14"/>
    <p:sldId id="536" r:id="rId15"/>
    <p:sldId id="578" r:id="rId16"/>
    <p:sldId id="579" r:id="rId17"/>
    <p:sldId id="537" r:id="rId18"/>
    <p:sldId id="539" r:id="rId19"/>
    <p:sldId id="538" r:id="rId20"/>
    <p:sldId id="541" r:id="rId21"/>
    <p:sldId id="543" r:id="rId22"/>
    <p:sldId id="544" r:id="rId23"/>
    <p:sldId id="546" r:id="rId24"/>
    <p:sldId id="547" r:id="rId25"/>
    <p:sldId id="548" r:id="rId26"/>
    <p:sldId id="549" r:id="rId27"/>
    <p:sldId id="550" r:id="rId28"/>
    <p:sldId id="551" r:id="rId29"/>
    <p:sldId id="552" r:id="rId30"/>
    <p:sldId id="553" r:id="rId31"/>
    <p:sldId id="554" r:id="rId32"/>
    <p:sldId id="555" r:id="rId33"/>
    <p:sldId id="556" r:id="rId34"/>
    <p:sldId id="557" r:id="rId35"/>
    <p:sldId id="558" r:id="rId36"/>
    <p:sldId id="559" r:id="rId37"/>
    <p:sldId id="560" r:id="rId38"/>
    <p:sldId id="561" r:id="rId39"/>
    <p:sldId id="562" r:id="rId40"/>
    <p:sldId id="563" r:id="rId41"/>
    <p:sldId id="564" r:id="rId42"/>
    <p:sldId id="565" r:id="rId43"/>
    <p:sldId id="566" r:id="rId44"/>
    <p:sldId id="567" r:id="rId45"/>
    <p:sldId id="568" r:id="rId46"/>
    <p:sldId id="569" r:id="rId47"/>
    <p:sldId id="570" r:id="rId48"/>
    <p:sldId id="571" r:id="rId49"/>
    <p:sldId id="572" r:id="rId50"/>
    <p:sldId id="573" r:id="rId51"/>
    <p:sldId id="575" r:id="rId52"/>
    <p:sldId id="574" r:id="rId53"/>
    <p:sldId id="576" r:id="rId54"/>
    <p:sldId id="577" r:id="rId5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BA8"/>
    <a:srgbClr val="21C9D6"/>
    <a:srgbClr val="88D0D6"/>
    <a:srgbClr val="E6E7E9"/>
    <a:srgbClr val="8F9CCD"/>
    <a:srgbClr val="4C60AC"/>
    <a:srgbClr val="E6B4C0"/>
    <a:srgbClr val="F3DDE2"/>
    <a:srgbClr val="C85873"/>
    <a:srgbClr val="83CB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31" autoAdjust="0"/>
    <p:restoredTop sz="98898" autoAdjust="0"/>
  </p:normalViewPr>
  <p:slideViewPr>
    <p:cSldViewPr>
      <p:cViewPr varScale="1">
        <p:scale>
          <a:sx n="99" d="100"/>
          <a:sy n="99" d="100"/>
        </p:scale>
        <p:origin x="1230" y="84"/>
      </p:cViewPr>
      <p:guideLst>
        <p:guide orient="horz" pos="119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4" d="100"/>
          <a:sy n="124" d="100"/>
        </p:scale>
        <p:origin x="495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/>
              <a:pPr/>
              <a:t>2025-11-24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6F0AE-7B65-4C9A-8729-A5D1A0ABE57B}" type="datetimeFigureOut">
              <a:rPr lang="ko-KR" altLang="en-US" smtClean="0"/>
              <a:pPr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72E7F-A2FE-4F50-A94D-8786A43CA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48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5921928"/>
            <a:ext cx="9144000" cy="936071"/>
          </a:xfrm>
          <a:prstGeom prst="rect">
            <a:avLst/>
          </a:prstGeom>
          <a:solidFill>
            <a:srgbClr val="8F9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제목 1"/>
          <p:cNvSpPr txBox="1">
            <a:spLocks/>
          </p:cNvSpPr>
          <p:nvPr userDrawn="1"/>
        </p:nvSpPr>
        <p:spPr>
          <a:xfrm>
            <a:off x="2195736" y="5843592"/>
            <a:ext cx="694826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xmlns="" id="{86410889-0442-4231-B9CA-3F0F289FD4E1}"/>
              </a:ext>
            </a:extLst>
          </p:cNvPr>
          <p:cNvSpPr txBox="1"/>
          <p:nvPr userDrawn="1"/>
        </p:nvSpPr>
        <p:spPr>
          <a:xfrm>
            <a:off x="619945" y="6028546"/>
            <a:ext cx="22322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300" b="1" dirty="0" smtClean="0">
                <a:latin typeface="+mn-lt"/>
                <a:ea typeface="맑은 고딕" pitchFamily="50" charset="-127"/>
              </a:rPr>
              <a:t>Chapter.</a:t>
            </a:r>
            <a:endParaRPr kumimoji="0" lang="en-US" altLang="ko-KR" sz="3300" b="1" dirty="0">
              <a:latin typeface="+mn-lt"/>
              <a:ea typeface="맑은 고딕" pitchFamily="50" charset="-127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ea typeface="맑은 고딕" pitchFamily="50" charset="-127"/>
            </a:endParaRPr>
          </a:p>
        </p:txBody>
      </p:sp>
      <p:sp>
        <p:nvSpPr>
          <p:cNvPr id="37" name="제목 1"/>
          <p:cNvSpPr>
            <a:spLocks noGrp="1"/>
          </p:cNvSpPr>
          <p:nvPr>
            <p:ph type="title"/>
          </p:nvPr>
        </p:nvSpPr>
        <p:spPr>
          <a:xfrm>
            <a:off x="2348136" y="6102609"/>
            <a:ext cx="6948264" cy="548680"/>
          </a:xfrm>
        </p:spPr>
        <p:txBody>
          <a:bodyPr>
            <a:noAutofit/>
          </a:bodyPr>
          <a:lstStyle>
            <a:lvl1pPr algn="l">
              <a:defRPr sz="3000" b="1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1475656" y="116632"/>
            <a:ext cx="4973183" cy="5646684"/>
            <a:chOff x="2339752" y="144826"/>
            <a:chExt cx="4973183" cy="5646684"/>
          </a:xfrm>
        </p:grpSpPr>
        <p:pic>
          <p:nvPicPr>
            <p:cNvPr id="14" name="그림 13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465441" y="2060848"/>
              <a:ext cx="4721804" cy="2629227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39752" y="144826"/>
              <a:ext cx="4973183" cy="1974372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136805" y="4797152"/>
              <a:ext cx="3379077" cy="994358"/>
            </a:xfrm>
            <a:prstGeom prst="rect">
              <a:avLst/>
            </a:prstGeom>
          </p:spPr>
        </p:pic>
      </p:grp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85968" y="188641"/>
            <a:ext cx="723093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xmlns="" id="{E3CF5919-2159-49EA-BD93-9C45B1EAA96D}"/>
              </a:ext>
            </a:extLst>
          </p:cNvPr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11" name="텍스트 개체 틀 6">
            <a:extLst>
              <a:ext uri="{FF2B5EF4-FFF2-40B4-BE49-F238E27FC236}">
                <a16:creationId xmlns:a16="http://schemas.microsoft.com/office/drawing/2014/main" xmlns="" id="{19267DBF-3997-413A-AA3B-689DC6FE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Clr>
                <a:srgbClr val="00B2C0"/>
              </a:buClr>
              <a:buFont typeface="+mj-lt"/>
              <a:buAutoNum type="arabicPeriod"/>
              <a:defRPr sz="20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4" name="모서리가 둥근 직사각형 8">
            <a:extLst>
              <a:ext uri="{FF2B5EF4-FFF2-40B4-BE49-F238E27FC236}">
                <a16:creationId xmlns:a16="http://schemas.microsoft.com/office/drawing/2014/main" xmlns="" id="{D5A7425B-5701-466C-9ACB-C13BC673C0FC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9B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8990312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xmlns="" id="{ED4A8C7A-84CB-4AB9-8F99-0BC584ACD685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9B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xmlns="" id="{19267DBF-3997-413A-AA3B-689DC6FE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Clr>
                <a:srgbClr val="00B2C0"/>
              </a:buClr>
              <a:buFont typeface="+mj-lt"/>
              <a:buAutoNum type="arabicPeriod"/>
              <a:defRPr sz="20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7561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5B4BA2D2-52F7-42A1-8EBA-192AEC431238}"/>
              </a:ext>
            </a:extLst>
          </p:cNvPr>
          <p:cNvGrpSpPr/>
          <p:nvPr userDrawn="1"/>
        </p:nvGrpSpPr>
        <p:grpSpPr>
          <a:xfrm>
            <a:off x="0" y="836712"/>
            <a:ext cx="9144000" cy="487"/>
            <a:chOff x="0" y="907564"/>
            <a:chExt cx="9144000" cy="487"/>
          </a:xfrm>
        </p:grpSpPr>
        <p:cxnSp>
          <p:nvCxnSpPr>
            <p:cNvPr id="9" name="직선 연결선 8"/>
            <p:cNvCxnSpPr/>
            <p:nvPr userDrawn="1"/>
          </p:nvCxnSpPr>
          <p:spPr>
            <a:xfrm>
              <a:off x="2124744" y="908051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7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 userDrawn="1"/>
          </p:nvCxnSpPr>
          <p:spPr>
            <a:xfrm>
              <a:off x="4464496" y="908051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5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 userDrawn="1"/>
          </p:nvCxnSpPr>
          <p:spPr>
            <a:xfrm>
              <a:off x="6804248" y="907564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2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 userDrawn="1"/>
          </p:nvCxnSpPr>
          <p:spPr>
            <a:xfrm>
              <a:off x="0" y="908051"/>
              <a:ext cx="2339752" cy="0"/>
            </a:xfrm>
            <a:prstGeom prst="line">
              <a:avLst/>
            </a:prstGeom>
            <a:ln w="76200">
              <a:solidFill>
                <a:srgbClr val="009BA8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/>
            </a:lvl2pPr>
            <a:lvl3pPr marL="628650" indent="-180975"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Clr>
                <a:srgbClr val="00C1D0"/>
              </a:buClr>
              <a:buSzPct val="96000"/>
              <a:defRPr sz="1050"/>
            </a:lvl4pPr>
            <a:lvl5pPr marL="990600" indent="-180975">
              <a:buClr>
                <a:srgbClr val="00C1D0"/>
              </a:buClr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7906008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9">
            <a:extLst>
              <a:ext uri="{FF2B5EF4-FFF2-40B4-BE49-F238E27FC236}">
                <a16:creationId xmlns:a16="http://schemas.microsoft.com/office/drawing/2014/main" xmlns="" id="{A7D7FFC2-62D3-4BE0-8529-F40C1ADBD02D}"/>
              </a:ext>
            </a:extLst>
          </p:cNvPr>
          <p:cNvSpPr txBox="1"/>
          <p:nvPr userDrawn="1"/>
        </p:nvSpPr>
        <p:spPr>
          <a:xfrm>
            <a:off x="1475656" y="2767280"/>
            <a:ext cx="66967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Thank you</a:t>
            </a:r>
            <a:endParaRPr kumimoji="0" lang="ko-KR" altLang="en-US" sz="8000" spc="-1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  <a:cs typeface="Tahoma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C692FB73-1543-4900-9730-CEBEC129D71A}"/>
              </a:ext>
            </a:extLst>
          </p:cNvPr>
          <p:cNvCxnSpPr>
            <a:cxnSpLocks/>
          </p:cNvCxnSpPr>
          <p:nvPr userDrawn="1"/>
        </p:nvCxnSpPr>
        <p:spPr>
          <a:xfrm>
            <a:off x="1619672" y="4221088"/>
            <a:ext cx="5472608" cy="0"/>
          </a:xfrm>
          <a:prstGeom prst="line">
            <a:avLst/>
          </a:prstGeom>
          <a:ln w="19050">
            <a:solidFill>
              <a:srgbClr val="009B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xmlns="" id="{B38D78D7-6975-4922-977D-2566434936B4}"/>
              </a:ext>
            </a:extLst>
          </p:cNvPr>
          <p:cNvCxnSpPr>
            <a:cxnSpLocks/>
          </p:cNvCxnSpPr>
          <p:nvPr userDrawn="1"/>
        </p:nvCxnSpPr>
        <p:spPr>
          <a:xfrm>
            <a:off x="1691680" y="2708920"/>
            <a:ext cx="5472608" cy="0"/>
          </a:xfrm>
          <a:prstGeom prst="line">
            <a:avLst/>
          </a:prstGeom>
          <a:ln w="19050">
            <a:solidFill>
              <a:srgbClr val="009B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819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11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24" r:id="rId4"/>
    <p:sldLayoutId id="2147483730" r:id="rId5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en-US" altLang="ko-KR" dirty="0" smtClean="0"/>
              <a:t> </a:t>
            </a:r>
            <a:r>
              <a:rPr lang="ko-KR" altLang="en-US" dirty="0" smtClean="0"/>
              <a:t>보안 시스템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392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smtClean="0"/>
              <a:t>인증 </a:t>
            </a:r>
            <a:r>
              <a:rPr lang="ko-KR" altLang="en-US" dirty="0"/>
              <a:t>시스템</a:t>
            </a:r>
          </a:p>
          <a:p>
            <a:r>
              <a:rPr lang="ko-KR" altLang="en-US" dirty="0" smtClean="0"/>
              <a:t>방화벽</a:t>
            </a:r>
            <a:endParaRPr lang="ko-KR" altLang="en-US" dirty="0"/>
          </a:p>
          <a:p>
            <a:r>
              <a:rPr lang="ko-KR" altLang="en-US" dirty="0" smtClean="0"/>
              <a:t>침입 </a:t>
            </a:r>
            <a:r>
              <a:rPr lang="ko-KR" altLang="en-US" dirty="0"/>
              <a:t>탐지 시스템</a:t>
            </a:r>
          </a:p>
          <a:p>
            <a:r>
              <a:rPr lang="ko-KR" altLang="en-US" dirty="0" smtClean="0"/>
              <a:t>침입 </a:t>
            </a:r>
            <a:r>
              <a:rPr lang="ko-KR" altLang="en-US" dirty="0"/>
              <a:t>방지 시스템</a:t>
            </a:r>
          </a:p>
          <a:p>
            <a:r>
              <a:rPr lang="ko-KR" altLang="en-US" dirty="0" smtClean="0"/>
              <a:t>통제 </a:t>
            </a:r>
            <a:r>
              <a:rPr lang="ko-KR" altLang="en-US" dirty="0"/>
              <a:t>및 감시 장비</a:t>
            </a:r>
          </a:p>
          <a:p>
            <a:r>
              <a:rPr lang="ko-KR" altLang="en-US" dirty="0" smtClean="0"/>
              <a:t>기타 </a:t>
            </a:r>
            <a:r>
              <a:rPr lang="ko-KR" altLang="en-US" dirty="0"/>
              <a:t>보안 솔루션</a:t>
            </a:r>
          </a:p>
        </p:txBody>
      </p:sp>
    </p:spTree>
    <p:extLst>
      <p:ext uri="{BB962C8B-B14F-4D97-AF65-F5344CB8AC3E}">
        <p14:creationId xmlns:p14="http://schemas.microsoft.com/office/powerpoint/2010/main" val="338331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인증 수단의 종류와 방법</a:t>
            </a:r>
            <a:r>
              <a:rPr lang="ko-KR" altLang="en-US" dirty="0"/>
              <a:t>을 알아본다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FF0000"/>
                </a:solidFill>
              </a:rPr>
              <a:t>방화벽의 </a:t>
            </a:r>
            <a:r>
              <a:rPr lang="ko-KR" altLang="en-US" dirty="0">
                <a:solidFill>
                  <a:srgbClr val="FF0000"/>
                </a:solidFill>
              </a:rPr>
              <a:t>기능과 목적</a:t>
            </a:r>
            <a:r>
              <a:rPr lang="ko-KR" altLang="en-US" dirty="0"/>
              <a:t>을 이해한다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FF0000"/>
                </a:solidFill>
              </a:rPr>
              <a:t>침입 </a:t>
            </a:r>
            <a:r>
              <a:rPr lang="ko-KR" altLang="en-US" dirty="0">
                <a:solidFill>
                  <a:srgbClr val="FF0000"/>
                </a:solidFill>
              </a:rPr>
              <a:t>탐지 시스템</a:t>
            </a:r>
            <a:r>
              <a:rPr lang="ko-KR" altLang="en-US" dirty="0"/>
              <a:t>과 </a:t>
            </a:r>
            <a:r>
              <a:rPr lang="ko-KR" altLang="en-US" dirty="0">
                <a:solidFill>
                  <a:srgbClr val="FF0000"/>
                </a:solidFill>
              </a:rPr>
              <a:t>침입 방지 시스템의 기능과 목적</a:t>
            </a:r>
            <a:r>
              <a:rPr lang="ko-KR" altLang="en-US" dirty="0"/>
              <a:t>을 이해한다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FF0000"/>
                </a:solidFill>
              </a:rPr>
              <a:t>출입 </a:t>
            </a:r>
            <a:r>
              <a:rPr lang="ko-KR" altLang="en-US" dirty="0">
                <a:solidFill>
                  <a:srgbClr val="FF0000"/>
                </a:solidFill>
              </a:rPr>
              <a:t>통제 및 모니터링 시스템의 종류와 기능</a:t>
            </a:r>
            <a:r>
              <a:rPr lang="ko-KR" altLang="en-US" dirty="0"/>
              <a:t>을 파악한다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>
                <a:solidFill>
                  <a:srgbClr val="FF0000"/>
                </a:solidFill>
              </a:rPr>
              <a:t>VPN</a:t>
            </a:r>
            <a:r>
              <a:rPr lang="ko-KR" altLang="en-US" dirty="0">
                <a:solidFill>
                  <a:srgbClr val="FF0000"/>
                </a:solidFill>
              </a:rPr>
              <a:t>의 기능과 목적</a:t>
            </a:r>
            <a:r>
              <a:rPr lang="ko-KR" altLang="en-US" dirty="0"/>
              <a:t>을 이해한다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FF0000"/>
                </a:solidFill>
              </a:rPr>
              <a:t>백신 </a:t>
            </a:r>
            <a:r>
              <a:rPr lang="ko-KR" altLang="en-US" dirty="0">
                <a:solidFill>
                  <a:srgbClr val="FF0000"/>
                </a:solidFill>
              </a:rPr>
              <a:t>및 </a:t>
            </a:r>
            <a:r>
              <a:rPr lang="en-US" altLang="ko-KR" dirty="0">
                <a:solidFill>
                  <a:srgbClr val="FF0000"/>
                </a:solidFill>
              </a:rPr>
              <a:t>DRM, ESM </a:t>
            </a:r>
            <a:r>
              <a:rPr lang="ko-KR" altLang="en-US" dirty="0">
                <a:solidFill>
                  <a:srgbClr val="FF0000"/>
                </a:solidFill>
              </a:rPr>
              <a:t>등 보안 솔루션의 기능</a:t>
            </a:r>
            <a:r>
              <a:rPr lang="ko-KR" altLang="en-US" dirty="0"/>
              <a:t>을 알아본다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FF0000"/>
                </a:solidFill>
              </a:rPr>
              <a:t>보안 </a:t>
            </a:r>
            <a:r>
              <a:rPr lang="ko-KR" altLang="en-US" dirty="0">
                <a:solidFill>
                  <a:srgbClr val="FF0000"/>
                </a:solidFill>
              </a:rPr>
              <a:t>솔루션</a:t>
            </a:r>
            <a:r>
              <a:rPr lang="ko-KR" altLang="en-US" dirty="0"/>
              <a:t>을 이해하고 이를 구성해본다</a:t>
            </a:r>
            <a:r>
              <a:rPr lang="en-US" altLang="ko-KR" dirty="0"/>
              <a:t>.</a:t>
            </a:r>
            <a:endParaRPr lang="en-US" altLang="ko-KR" sz="1900" dirty="0" smtClean="0"/>
          </a:p>
        </p:txBody>
      </p:sp>
    </p:spTree>
    <p:extLst>
      <p:ext uri="{BB962C8B-B14F-4D97-AF65-F5344CB8AC3E}">
        <p14:creationId xmlns:p14="http://schemas.microsoft.com/office/powerpoint/2010/main" val="150560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/>
              <a:t>인증 시스템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인증 </a:t>
            </a:r>
            <a:r>
              <a:rPr lang="ko-KR" altLang="en-US" dirty="0" smtClean="0"/>
              <a:t>수단</a:t>
            </a:r>
            <a:r>
              <a:rPr lang="en-US" altLang="ko-KR" dirty="0" smtClean="0"/>
              <a:t>	</a:t>
            </a:r>
          </a:p>
          <a:p>
            <a:pPr lvl="1"/>
            <a:r>
              <a:rPr lang="ko-KR" altLang="en-US" dirty="0"/>
              <a:t>알고 있는 </a:t>
            </a:r>
            <a:r>
              <a:rPr lang="ko-KR" altLang="en-US" dirty="0" smtClean="0"/>
              <a:t>것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사용자가 알고 있는 정보로 </a:t>
            </a:r>
            <a:r>
              <a:rPr lang="ko-KR" altLang="en-US" dirty="0" smtClean="0"/>
              <a:t>인증</a:t>
            </a:r>
            <a:endParaRPr lang="en-US" altLang="ko-KR" dirty="0"/>
          </a:p>
          <a:p>
            <a:pPr lvl="2">
              <a:defRPr/>
            </a:pPr>
            <a:r>
              <a:rPr lang="ko-KR" altLang="en-US" dirty="0" smtClean="0"/>
              <a:t>대표적인 </a:t>
            </a:r>
            <a:r>
              <a:rPr lang="ko-KR" altLang="en-US" dirty="0"/>
              <a:t>예는 사용자의 </a:t>
            </a:r>
            <a:r>
              <a:rPr lang="ko-KR" altLang="en-US" dirty="0">
                <a:solidFill>
                  <a:srgbClr val="FF0000"/>
                </a:solidFill>
              </a:rPr>
              <a:t>아이디와 패스워드</a:t>
            </a:r>
            <a:r>
              <a:rPr lang="ko-KR" altLang="en-US" dirty="0"/>
              <a:t>를 이용한 </a:t>
            </a:r>
            <a:r>
              <a:rPr lang="ko-KR" altLang="en-US" dirty="0" smtClean="0"/>
              <a:t>인증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사용자의 기억에 의존하므로 값싸고 편리하지만 패스워드를 안전하게 관리하기가 조금 </a:t>
            </a:r>
            <a:r>
              <a:rPr lang="ko-KR" altLang="en-US" dirty="0" smtClean="0"/>
              <a:t>어려움</a:t>
            </a: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자신의 </a:t>
            </a:r>
            <a:r>
              <a:rPr lang="ko-KR" altLang="en-US" dirty="0" smtClean="0"/>
              <a:t>모습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지문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/>
              <a:t>가격 부담이 없고 </a:t>
            </a:r>
            <a:r>
              <a:rPr lang="ko-KR" altLang="en-US" dirty="0">
                <a:solidFill>
                  <a:srgbClr val="FF0000"/>
                </a:solidFill>
              </a:rPr>
              <a:t>효율성이 좋으며 </a:t>
            </a:r>
            <a:r>
              <a:rPr lang="ko-KR" altLang="en-US" dirty="0"/>
              <a:t>사용 시 </a:t>
            </a:r>
            <a:r>
              <a:rPr lang="ko-KR" altLang="en-US" dirty="0" smtClean="0"/>
              <a:t>거부감이 없음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손에 </a:t>
            </a:r>
            <a:r>
              <a:rPr lang="ko-KR" altLang="en-US" dirty="0"/>
              <a:t>땀이 많거나 허물이 잘 벗겨지는 사람의 </a:t>
            </a:r>
            <a:r>
              <a:rPr lang="ko-KR" altLang="en-US" dirty="0" smtClean="0"/>
              <a:t>경우 </a:t>
            </a:r>
            <a:r>
              <a:rPr lang="ko-KR" altLang="en-US" dirty="0" err="1">
                <a:solidFill>
                  <a:srgbClr val="FF0000"/>
                </a:solidFill>
              </a:rPr>
              <a:t>오탐률이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높음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손 모양 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 smtClean="0"/>
              <a:t>손가락의 </a:t>
            </a:r>
            <a:r>
              <a:rPr lang="ko-KR" altLang="en-US" dirty="0"/>
              <a:t>길이나 굵기 등 손 </a:t>
            </a:r>
            <a:r>
              <a:rPr lang="ko-KR" altLang="en-US" dirty="0" smtClean="0"/>
              <a:t>모양을 </a:t>
            </a:r>
            <a:r>
              <a:rPr lang="ko-KR" altLang="en-US" dirty="0"/>
              <a:t>이용하여 인증하는 </a:t>
            </a:r>
            <a:r>
              <a:rPr lang="ko-KR" altLang="en-US" dirty="0" smtClean="0"/>
              <a:t>방식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매우 간편하고 </a:t>
            </a:r>
            <a:r>
              <a:rPr lang="ko-KR" altLang="en-US" dirty="0"/>
              <a:t>인증 데이터의 크기가 작아서 </a:t>
            </a:r>
            <a:r>
              <a:rPr lang="ko-KR" altLang="en-US" dirty="0">
                <a:solidFill>
                  <a:srgbClr val="FF0000"/>
                </a:solidFill>
              </a:rPr>
              <a:t>빠른 인증이 </a:t>
            </a:r>
            <a:r>
              <a:rPr lang="ko-KR" altLang="en-US" dirty="0" smtClean="0">
                <a:solidFill>
                  <a:srgbClr val="FF0000"/>
                </a:solidFill>
              </a:rPr>
              <a:t>가능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 smtClean="0"/>
              <a:t>손 </a:t>
            </a:r>
            <a:r>
              <a:rPr lang="ko-KR" altLang="en-US" dirty="0"/>
              <a:t>모양이 비슷한 사람도 많고 고무 인형 등을 </a:t>
            </a:r>
            <a:r>
              <a:rPr lang="ko-KR" altLang="en-US" dirty="0" smtClean="0"/>
              <a:t>이용하여 </a:t>
            </a:r>
            <a:r>
              <a:rPr lang="ko-KR" altLang="en-US" dirty="0"/>
              <a:t>쉽게 조작할 수 있어</a:t>
            </a:r>
            <a:r>
              <a:rPr lang="en-US" altLang="ko-KR" dirty="0"/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높은 </a:t>
            </a:r>
            <a:r>
              <a:rPr lang="ko-KR" altLang="en-US" dirty="0">
                <a:solidFill>
                  <a:srgbClr val="FF0000"/>
                </a:solidFill>
              </a:rPr>
              <a:t>보안 수준을 제공하지 </a:t>
            </a:r>
            <a:r>
              <a:rPr lang="ko-KR" altLang="en-US" dirty="0" smtClean="0">
                <a:solidFill>
                  <a:srgbClr val="FF0000"/>
                </a:solidFill>
              </a:rPr>
              <a:t>못함</a:t>
            </a:r>
            <a:endParaRPr lang="en-US" altLang="ko-KR" dirty="0" smtClean="0">
              <a:solidFill>
                <a:srgbClr val="FF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3068960"/>
            <a:ext cx="1637361" cy="121263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539" y="5301208"/>
            <a:ext cx="4358245" cy="134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7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/>
              <a:t>인증 시스템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인증 </a:t>
            </a:r>
            <a:r>
              <a:rPr lang="ko-KR" altLang="en-US" dirty="0" smtClean="0"/>
              <a:t>수단</a:t>
            </a:r>
            <a:r>
              <a:rPr lang="en-US" altLang="ko-KR" dirty="0" smtClean="0"/>
              <a:t>	</a:t>
            </a:r>
          </a:p>
          <a:p>
            <a:pPr lvl="1">
              <a:defRPr/>
            </a:pPr>
            <a:r>
              <a:rPr lang="ko-KR" altLang="en-US" dirty="0" smtClean="0"/>
              <a:t>자신의 모습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망막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 smtClean="0"/>
              <a:t>눈 </a:t>
            </a:r>
            <a:r>
              <a:rPr lang="ko-KR" altLang="en-US" dirty="0"/>
              <a:t>뒷부분에 있는 모세혈관을 이용하는 </a:t>
            </a:r>
            <a:r>
              <a:rPr lang="ko-KR" altLang="en-US" dirty="0" smtClean="0"/>
              <a:t>것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인증하는 </a:t>
            </a:r>
            <a:r>
              <a:rPr lang="ko-KR" altLang="en-US" dirty="0"/>
              <a:t>데 </a:t>
            </a:r>
            <a:r>
              <a:rPr lang="en-US" altLang="ko-KR" dirty="0"/>
              <a:t>10~15</a:t>
            </a:r>
            <a:r>
              <a:rPr lang="ko-KR" altLang="en-US" dirty="0"/>
              <a:t>초 정도 걸리고 정확도가 매우 </a:t>
            </a:r>
            <a:r>
              <a:rPr lang="ko-KR" altLang="en-US" dirty="0" smtClean="0"/>
              <a:t>높음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장치에 </a:t>
            </a:r>
            <a:r>
              <a:rPr lang="ko-KR" altLang="en-US" dirty="0"/>
              <a:t>눈을 </a:t>
            </a:r>
            <a:r>
              <a:rPr lang="en-US" altLang="ko-KR" dirty="0"/>
              <a:t>10</a:t>
            </a:r>
            <a:r>
              <a:rPr lang="ko-KR" altLang="en-US" dirty="0"/>
              <a:t>초 이상 대고 초점을 </a:t>
            </a:r>
            <a:r>
              <a:rPr lang="ko-KR" altLang="en-US" dirty="0" smtClean="0"/>
              <a:t>맞춰야 </a:t>
            </a:r>
            <a:r>
              <a:rPr lang="ko-KR" altLang="en-US" dirty="0"/>
              <a:t>하므로 거부감을 불러일으킬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안경을 </a:t>
            </a:r>
            <a:r>
              <a:rPr lang="ko-KR" altLang="en-US" dirty="0"/>
              <a:t>쓴 상태에서는 인증을 거칠 수 </a:t>
            </a:r>
            <a:r>
              <a:rPr lang="ko-KR" altLang="en-US" dirty="0" smtClean="0"/>
              <a:t>없으며 </a:t>
            </a:r>
            <a:r>
              <a:rPr lang="ko-KR" altLang="en-US" dirty="0"/>
              <a:t>눈병에 걸리면 인식률이 </a:t>
            </a:r>
            <a:r>
              <a:rPr lang="ko-KR" altLang="en-US" dirty="0" smtClean="0"/>
              <a:t>떨어짐 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매우 </a:t>
            </a:r>
            <a:r>
              <a:rPr lang="ko-KR" altLang="en-US" dirty="0">
                <a:solidFill>
                  <a:srgbClr val="FF0000"/>
                </a:solidFill>
              </a:rPr>
              <a:t>높은 보안 수준을 요구</a:t>
            </a:r>
            <a:r>
              <a:rPr lang="ko-KR" altLang="en-US" dirty="0"/>
              <a:t>할 </a:t>
            </a:r>
            <a:r>
              <a:rPr lang="ko-KR" altLang="en-US" dirty="0" smtClean="0"/>
              <a:t>때 사용</a:t>
            </a:r>
            <a:endParaRPr lang="en-US" altLang="ko-KR" dirty="0" smtClean="0"/>
          </a:p>
          <a:p>
            <a:pPr lvl="3">
              <a:defRPr/>
            </a:pPr>
            <a:endParaRPr lang="en-US" altLang="ko-KR" dirty="0" smtClean="0"/>
          </a:p>
          <a:p>
            <a:pPr lvl="3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홍채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 smtClean="0"/>
              <a:t>홍채</a:t>
            </a:r>
            <a:r>
              <a:rPr lang="en-US" altLang="ko-KR" dirty="0" smtClean="0"/>
              <a:t>: </a:t>
            </a:r>
            <a:r>
              <a:rPr lang="ko-KR" altLang="en-US" dirty="0" smtClean="0"/>
              <a:t>눈의 색깔을 </a:t>
            </a:r>
            <a:r>
              <a:rPr lang="ko-KR" altLang="en-US" dirty="0"/>
              <a:t>결정하는 부분으로 우리나라 사람은 대부분 홍채가 검은색이나 </a:t>
            </a:r>
            <a:r>
              <a:rPr lang="ko-KR" altLang="en-US" dirty="0" smtClean="0"/>
              <a:t>갈색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홍채 </a:t>
            </a:r>
            <a:r>
              <a:rPr lang="ko-KR" altLang="en-US" dirty="0"/>
              <a:t>인증은 망막 인증보다 </a:t>
            </a:r>
            <a:r>
              <a:rPr lang="ko-KR" altLang="en-US" dirty="0" smtClean="0">
                <a:solidFill>
                  <a:srgbClr val="FF0000"/>
                </a:solidFill>
              </a:rPr>
              <a:t>정확도가 </a:t>
            </a:r>
            <a:r>
              <a:rPr lang="ko-KR" altLang="en-US" dirty="0">
                <a:solidFill>
                  <a:srgbClr val="FF0000"/>
                </a:solidFill>
              </a:rPr>
              <a:t>높으며</a:t>
            </a:r>
            <a:r>
              <a:rPr lang="en-US" altLang="ko-KR" dirty="0"/>
              <a:t>, </a:t>
            </a:r>
            <a:r>
              <a:rPr lang="en-US" altLang="ko-KR" dirty="0" smtClean="0"/>
              <a:t>50cm </a:t>
            </a:r>
            <a:r>
              <a:rPr lang="ko-KR" altLang="en-US" dirty="0"/>
              <a:t>정도의 거리에서도 인증이 </a:t>
            </a:r>
            <a:r>
              <a:rPr lang="ko-KR" altLang="en-US" dirty="0" smtClean="0"/>
              <a:t>가능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망막 </a:t>
            </a:r>
            <a:r>
              <a:rPr lang="ko-KR" altLang="en-US" dirty="0"/>
              <a:t>인증이 홍채 인증으로 대체되고 있지만 망막 인식 장비와 마찬가지로 </a:t>
            </a:r>
            <a:r>
              <a:rPr lang="ko-KR" altLang="en-US" dirty="0" smtClean="0">
                <a:solidFill>
                  <a:srgbClr val="FF0000"/>
                </a:solidFill>
              </a:rPr>
              <a:t>고가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915" y="2132856"/>
            <a:ext cx="2166478" cy="147106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756" y="3995240"/>
            <a:ext cx="2001000" cy="161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89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/>
              <a:t>인증 시스템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인증 </a:t>
            </a:r>
            <a:r>
              <a:rPr lang="ko-KR" altLang="en-US" dirty="0" smtClean="0"/>
              <a:t>수단</a:t>
            </a:r>
            <a:r>
              <a:rPr lang="en-US" altLang="ko-KR" dirty="0" smtClean="0"/>
              <a:t>	</a:t>
            </a:r>
          </a:p>
          <a:p>
            <a:pPr lvl="1">
              <a:defRPr/>
            </a:pPr>
            <a:r>
              <a:rPr lang="ko-KR" altLang="en-US" dirty="0" smtClean="0"/>
              <a:t>자신의 모습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서명</a:t>
            </a:r>
          </a:p>
          <a:p>
            <a:pPr lvl="3">
              <a:defRPr/>
            </a:pPr>
            <a:r>
              <a:rPr lang="ko-KR" altLang="en-US" dirty="0"/>
              <a:t>서명의 진위 여부를 판단하는 인증 장치도 있으나 </a:t>
            </a:r>
            <a:r>
              <a:rPr lang="ko-KR" altLang="en-US" dirty="0">
                <a:solidFill>
                  <a:srgbClr val="FF0000"/>
                </a:solidFill>
              </a:rPr>
              <a:t>보안 수준이 그다지 높지 않아</a:t>
            </a:r>
            <a:r>
              <a:rPr lang="ko-KR" altLang="en-US" dirty="0"/>
              <a:t> 일반적으로 사용되지는 </a:t>
            </a:r>
            <a:r>
              <a:rPr lang="ko-KR" altLang="en-US" dirty="0" smtClean="0"/>
              <a:t>않음</a:t>
            </a:r>
            <a:endParaRPr lang="en-US" altLang="ko-KR" dirty="0" smtClean="0"/>
          </a:p>
          <a:p>
            <a:pPr lvl="3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키보드</a:t>
            </a:r>
          </a:p>
          <a:p>
            <a:pPr lvl="3">
              <a:defRPr/>
            </a:pPr>
            <a:r>
              <a:rPr lang="ko-KR" altLang="en-US" dirty="0"/>
              <a:t>키보드를 누를 때 발생하는 </a:t>
            </a:r>
            <a:r>
              <a:rPr lang="ko-KR" altLang="en-US" dirty="0">
                <a:solidFill>
                  <a:srgbClr val="FF0000"/>
                </a:solidFill>
              </a:rPr>
              <a:t>특정한 </a:t>
            </a:r>
            <a:r>
              <a:rPr lang="ko-KR" altLang="en-US" dirty="0" smtClean="0">
                <a:solidFill>
                  <a:srgbClr val="FF0000"/>
                </a:solidFill>
              </a:rPr>
              <a:t>리듬을 </a:t>
            </a:r>
            <a:r>
              <a:rPr lang="ko-KR" altLang="en-US" dirty="0">
                <a:solidFill>
                  <a:srgbClr val="FF0000"/>
                </a:solidFill>
              </a:rPr>
              <a:t>이용</a:t>
            </a:r>
            <a:r>
              <a:rPr lang="ko-KR" altLang="en-US" dirty="0"/>
              <a:t>하여 신분을 확인하는 </a:t>
            </a:r>
            <a:r>
              <a:rPr lang="ko-KR" altLang="en-US" dirty="0" smtClean="0"/>
              <a:t>방법</a:t>
            </a:r>
            <a:endParaRPr lang="en-US" altLang="ko-KR" dirty="0"/>
          </a:p>
          <a:p>
            <a:pPr lvl="3">
              <a:defRPr/>
            </a:pPr>
            <a:r>
              <a:rPr lang="ko-KR" altLang="en-US" dirty="0" err="1">
                <a:solidFill>
                  <a:srgbClr val="FF0000"/>
                </a:solidFill>
              </a:rPr>
              <a:t>오탐률이</a:t>
            </a:r>
            <a:r>
              <a:rPr lang="ko-KR" altLang="en-US" dirty="0">
                <a:solidFill>
                  <a:srgbClr val="FF0000"/>
                </a:solidFill>
              </a:rPr>
              <a:t> 높고 </a:t>
            </a:r>
            <a:r>
              <a:rPr lang="ko-KR" altLang="en-US" dirty="0"/>
              <a:t>효율적이지 못하여 높은 보안 수준을 요구하는 경우에는 사용하지 </a:t>
            </a:r>
            <a:r>
              <a:rPr lang="ko-KR" altLang="en-US" dirty="0" smtClean="0"/>
              <a:t>않음</a:t>
            </a:r>
            <a:endParaRPr lang="en-US" altLang="ko-KR" dirty="0" smtClean="0"/>
          </a:p>
          <a:p>
            <a:pPr lvl="3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 smtClean="0"/>
              <a:t>성문</a:t>
            </a:r>
            <a:r>
              <a:rPr lang="en-US" altLang="ko-KR" dirty="0" smtClean="0"/>
              <a:t>(</a:t>
            </a:r>
            <a:r>
              <a:rPr lang="ko-KR" altLang="en-US" dirty="0" smtClean="0"/>
              <a:t>목소리</a:t>
            </a:r>
            <a:r>
              <a:rPr lang="en-US" altLang="ko-KR" dirty="0" smtClean="0"/>
              <a:t>)</a:t>
            </a:r>
            <a:endParaRPr lang="ko-KR" altLang="en-US" dirty="0"/>
          </a:p>
          <a:p>
            <a:pPr lvl="3">
              <a:defRPr/>
            </a:pPr>
            <a:r>
              <a:rPr lang="ko-KR" altLang="en-US" dirty="0"/>
              <a:t>사람마다 각기 다른 </a:t>
            </a:r>
            <a:r>
              <a:rPr lang="ko-KR" altLang="en-US" dirty="0" smtClean="0"/>
              <a:t>성문을 </a:t>
            </a:r>
            <a:r>
              <a:rPr lang="ko-KR" altLang="en-US" dirty="0"/>
              <a:t>이용하는 </a:t>
            </a:r>
            <a:r>
              <a:rPr lang="ko-KR" altLang="en-US" dirty="0" smtClean="0"/>
              <a:t>인증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성문은 환경이나 감정에 따라 변하기도 하고 </a:t>
            </a:r>
            <a:r>
              <a:rPr lang="ko-KR" altLang="en-US" dirty="0" err="1"/>
              <a:t>흉내낼</a:t>
            </a:r>
            <a:r>
              <a:rPr lang="ko-KR" altLang="en-US" dirty="0"/>
              <a:t> 수도 있어서 </a:t>
            </a:r>
            <a:r>
              <a:rPr lang="ko-KR" altLang="en-US" dirty="0">
                <a:solidFill>
                  <a:srgbClr val="FF0000"/>
                </a:solidFill>
              </a:rPr>
              <a:t>보안 수준이 높지 </a:t>
            </a:r>
            <a:r>
              <a:rPr lang="ko-KR" altLang="en-US" dirty="0" smtClean="0">
                <a:solidFill>
                  <a:srgbClr val="FF0000"/>
                </a:solidFill>
              </a:rPr>
              <a:t>않음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얼굴</a:t>
            </a:r>
          </a:p>
          <a:p>
            <a:pPr lvl="3">
              <a:defRPr/>
            </a:pPr>
            <a:r>
              <a:rPr lang="ko-KR" altLang="en-US" dirty="0"/>
              <a:t>얼굴 사진을 이용하는 </a:t>
            </a:r>
            <a:r>
              <a:rPr lang="ko-KR" altLang="en-US" dirty="0" smtClean="0"/>
              <a:t>인증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대표적인 </a:t>
            </a:r>
            <a:r>
              <a:rPr lang="ko-KR" altLang="en-US" dirty="0"/>
              <a:t>예는 여권 사진으로 인증 장비가 다양한 표정의 얼굴을 정확히 인증하지 못하여 </a:t>
            </a:r>
            <a:r>
              <a:rPr lang="ko-KR" altLang="en-US" dirty="0">
                <a:solidFill>
                  <a:srgbClr val="FF0000"/>
                </a:solidFill>
              </a:rPr>
              <a:t>무표정한 얼굴만 확인</a:t>
            </a:r>
            <a:r>
              <a:rPr lang="ko-KR" altLang="en-US" dirty="0"/>
              <a:t>이 </a:t>
            </a:r>
            <a:r>
              <a:rPr lang="ko-KR" altLang="en-US" dirty="0" smtClean="0"/>
              <a:t>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5747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/>
              <a:t>인증 시스템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인증 </a:t>
            </a:r>
            <a:r>
              <a:rPr lang="ko-KR" altLang="en-US" dirty="0" smtClean="0"/>
              <a:t>수단</a:t>
            </a:r>
            <a:r>
              <a:rPr lang="en-US" altLang="ko-KR" dirty="0" smtClean="0"/>
              <a:t>	</a:t>
            </a:r>
          </a:p>
          <a:p>
            <a:pPr lvl="1">
              <a:defRPr/>
            </a:pPr>
            <a:r>
              <a:rPr lang="ko-KR" altLang="en-US" dirty="0" smtClean="0"/>
              <a:t>가지고 </a:t>
            </a:r>
            <a:r>
              <a:rPr lang="ko-KR" altLang="en-US" dirty="0"/>
              <a:t>있는 </a:t>
            </a:r>
            <a:r>
              <a:rPr lang="ko-KR" altLang="en-US" dirty="0" smtClean="0"/>
              <a:t>것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사용자가 소유한 것을 인증 수단으로 삼는 방식은 아주 오래전부터 </a:t>
            </a:r>
            <a:r>
              <a:rPr lang="ko-KR" altLang="en-US" dirty="0" smtClean="0"/>
              <a:t>이용 </a:t>
            </a:r>
            <a:r>
              <a:rPr lang="en-US" altLang="ko-KR" dirty="0" smtClean="0"/>
              <a:t>(ex: </a:t>
            </a:r>
            <a:r>
              <a:rPr lang="ko-KR" altLang="en-US" dirty="0" smtClean="0"/>
              <a:t>마패</a:t>
            </a:r>
            <a:r>
              <a:rPr lang="en-US" altLang="ko-KR" dirty="0" smtClean="0"/>
              <a:t>)</a:t>
            </a:r>
          </a:p>
          <a:p>
            <a:pPr lvl="2">
              <a:defRPr/>
            </a:pPr>
            <a:r>
              <a:rPr lang="ko-KR" altLang="en-US" dirty="0"/>
              <a:t>오</a:t>
            </a:r>
            <a:r>
              <a:rPr lang="ko-KR" altLang="en-US" dirty="0" smtClean="0"/>
              <a:t>늘날에도 </a:t>
            </a:r>
            <a:r>
              <a:rPr lang="ko-KR" altLang="en-US" dirty="0"/>
              <a:t>소유물을 활용한 인증 수단을 사용하고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다른 </a:t>
            </a:r>
            <a:r>
              <a:rPr lang="ko-KR" altLang="en-US" dirty="0"/>
              <a:t>사람이 쉽게 도용할 수 있기 때문에 단독으로 </a:t>
            </a:r>
            <a:r>
              <a:rPr lang="ko-KR" altLang="en-US" dirty="0" smtClean="0"/>
              <a:t>쓰이지 않음</a:t>
            </a: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284984"/>
            <a:ext cx="6165522" cy="29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2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/>
              <a:t>인증 시스템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인증 </a:t>
            </a:r>
            <a:r>
              <a:rPr lang="ko-KR" altLang="en-US" dirty="0" smtClean="0"/>
              <a:t>수단</a:t>
            </a:r>
            <a:r>
              <a:rPr lang="en-US" altLang="ko-KR" dirty="0" smtClean="0"/>
              <a:t>	</a:t>
            </a:r>
          </a:p>
          <a:p>
            <a:pPr lvl="1">
              <a:defRPr/>
            </a:pPr>
            <a:r>
              <a:rPr lang="ko-KR" altLang="en-US" dirty="0" smtClean="0"/>
              <a:t>가지고 </a:t>
            </a:r>
            <a:r>
              <a:rPr lang="ko-KR" altLang="en-US" dirty="0"/>
              <a:t>있는 </a:t>
            </a:r>
            <a:r>
              <a:rPr lang="ko-KR" altLang="en-US" dirty="0" smtClean="0"/>
              <a:t>것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스마트키 또는 스마트카드</a:t>
            </a:r>
          </a:p>
          <a:p>
            <a:pPr lvl="3">
              <a:defRPr/>
            </a:pPr>
            <a:r>
              <a:rPr lang="ko-KR" altLang="en-US" dirty="0"/>
              <a:t>스마트카드를 소유한 사람만 출입을 허가하는 </a:t>
            </a:r>
            <a:r>
              <a:rPr lang="ko-KR" altLang="en-US" dirty="0" smtClean="0"/>
              <a:t>방식</a:t>
            </a:r>
            <a:endParaRPr lang="en-US" altLang="ko-KR" dirty="0" smtClean="0"/>
          </a:p>
          <a:p>
            <a:pPr lvl="4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신분증</a:t>
            </a:r>
          </a:p>
          <a:p>
            <a:pPr lvl="3">
              <a:defRPr/>
            </a:pPr>
            <a:r>
              <a:rPr lang="ko-KR" altLang="en-US" dirty="0"/>
              <a:t>사진이 포함된 신분증으로 본인임을 확인하는 </a:t>
            </a:r>
            <a:r>
              <a:rPr lang="ko-KR" altLang="en-US" dirty="0" smtClean="0"/>
              <a:t>것</a:t>
            </a:r>
            <a:endParaRPr lang="en-US" altLang="ko-KR" dirty="0"/>
          </a:p>
          <a:p>
            <a:pPr lvl="3">
              <a:defRPr/>
            </a:pPr>
            <a:r>
              <a:rPr lang="en-US" altLang="ko-KR" dirty="0"/>
              <a:t>'</a:t>
            </a:r>
            <a:r>
              <a:rPr lang="ko-KR" altLang="en-US" dirty="0"/>
              <a:t>가지고 있는 것</a:t>
            </a:r>
            <a:r>
              <a:rPr lang="en-US" altLang="ko-KR" dirty="0"/>
              <a:t>'</a:t>
            </a:r>
            <a:r>
              <a:rPr lang="ko-KR" altLang="en-US" dirty="0"/>
              <a:t>과 </a:t>
            </a:r>
            <a:r>
              <a:rPr lang="en-US" altLang="ko-KR" dirty="0"/>
              <a:t>'</a:t>
            </a:r>
            <a:r>
              <a:rPr lang="ko-KR" altLang="en-US" dirty="0"/>
              <a:t>자신의 모습</a:t>
            </a:r>
            <a:r>
              <a:rPr lang="en-US" altLang="ko-KR" dirty="0"/>
              <a:t>'</a:t>
            </a:r>
            <a:r>
              <a:rPr lang="ko-KR" altLang="en-US" dirty="0"/>
              <a:t>을 모두 이용하는 </a:t>
            </a:r>
            <a:r>
              <a:rPr lang="ko-KR" altLang="en-US" dirty="0" smtClean="0"/>
              <a:t>경우</a:t>
            </a:r>
            <a:endParaRPr lang="en-US" altLang="ko-KR" dirty="0" smtClean="0"/>
          </a:p>
          <a:p>
            <a:pPr lvl="4">
              <a:defRPr/>
            </a:pPr>
            <a:endParaRPr lang="en-US" altLang="ko-KR" dirty="0"/>
          </a:p>
          <a:p>
            <a:pPr lvl="2">
              <a:defRPr/>
            </a:pPr>
            <a:r>
              <a:rPr lang="en-US" altLang="ko-KR" dirty="0">
                <a:solidFill>
                  <a:srgbClr val="FF0000"/>
                </a:solidFill>
              </a:rPr>
              <a:t>OTP</a:t>
            </a:r>
          </a:p>
          <a:p>
            <a:pPr lvl="3">
              <a:defRPr/>
            </a:pPr>
            <a:r>
              <a:rPr lang="en-US" altLang="ko-KR" dirty="0" smtClean="0"/>
              <a:t>OTP</a:t>
            </a:r>
            <a:r>
              <a:rPr lang="ko-KR" altLang="en-US" dirty="0" smtClean="0"/>
              <a:t>는 </a:t>
            </a:r>
            <a:r>
              <a:rPr lang="en-US" altLang="ko-KR" dirty="0"/>
              <a:t>1</a:t>
            </a:r>
            <a:r>
              <a:rPr lang="ko-KR" altLang="en-US" dirty="0"/>
              <a:t>분마다 다른 패스워드를 생성하는 단말 </a:t>
            </a:r>
            <a:r>
              <a:rPr lang="ko-KR" altLang="en-US" dirty="0" smtClean="0"/>
              <a:t>장치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고정된 번호 중에서 임의의 지시 번호를 입력하는 보안 카드보다 좀 더 안전한 </a:t>
            </a:r>
            <a:r>
              <a:rPr lang="ko-KR" altLang="en-US" dirty="0" smtClean="0"/>
              <a:t>방식</a:t>
            </a:r>
            <a:endParaRPr lang="en-US" altLang="ko-KR" dirty="0" smtClean="0"/>
          </a:p>
          <a:p>
            <a:pPr lvl="3">
              <a:defRPr/>
            </a:pPr>
            <a:endParaRPr lang="en-US" altLang="ko-KR" dirty="0"/>
          </a:p>
          <a:p>
            <a:pPr lvl="4">
              <a:defRPr/>
            </a:pP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공인인증서</a:t>
            </a:r>
            <a:endParaRPr lang="ko-KR" altLang="en-US" dirty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/>
              <a:t>인터넷 뱅킹이나 온라인상의 신용카드 거래에서 많이 </a:t>
            </a:r>
            <a:r>
              <a:rPr lang="ko-KR" altLang="en-US" dirty="0" smtClean="0"/>
              <a:t>사용함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공인인증서 패스워드를 알아야 하므로 </a:t>
            </a:r>
            <a:r>
              <a:rPr lang="en-US" altLang="ko-KR" dirty="0"/>
              <a:t>'</a:t>
            </a:r>
            <a:r>
              <a:rPr lang="ko-KR" altLang="en-US" dirty="0"/>
              <a:t>가지고 있는 것</a:t>
            </a:r>
            <a:r>
              <a:rPr lang="en-US" altLang="ko-KR" dirty="0"/>
              <a:t>'</a:t>
            </a:r>
            <a:r>
              <a:rPr lang="ko-KR" altLang="en-US" dirty="0"/>
              <a:t>과 </a:t>
            </a:r>
            <a:r>
              <a:rPr lang="en-US" altLang="ko-KR" dirty="0"/>
              <a:t>'</a:t>
            </a:r>
            <a:r>
              <a:rPr lang="ko-KR" altLang="en-US" dirty="0"/>
              <a:t>알고 있는 것</a:t>
            </a:r>
            <a:r>
              <a:rPr lang="en-US" altLang="ko-KR" dirty="0"/>
              <a:t>'</a:t>
            </a:r>
            <a:r>
              <a:rPr lang="ko-KR" altLang="en-US" dirty="0"/>
              <a:t>을 동시에 이용하는 </a:t>
            </a:r>
            <a:r>
              <a:rPr lang="ko-KR" altLang="en-US" dirty="0" smtClean="0"/>
              <a:t>인증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3212976"/>
            <a:ext cx="1872208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77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/>
              <a:t>인증 시스템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smtClean="0"/>
              <a:t>인증 수단</a:t>
            </a:r>
          </a:p>
          <a:p>
            <a:pPr lvl="1"/>
            <a:r>
              <a:rPr lang="ko-KR" altLang="en-US" dirty="0" smtClean="0"/>
              <a:t>위치하는 곳</a:t>
            </a:r>
            <a:endParaRPr lang="en-US" altLang="ko-KR" dirty="0" smtClean="0"/>
          </a:p>
          <a:p>
            <a:pPr lvl="2"/>
            <a:r>
              <a:rPr lang="ko-KR" altLang="en-US" dirty="0" smtClean="0">
                <a:solidFill>
                  <a:srgbClr val="FF0000"/>
                </a:solidFill>
              </a:rPr>
              <a:t>사용자 </a:t>
            </a:r>
            <a:r>
              <a:rPr lang="en-US" altLang="ko-KR" dirty="0" smtClean="0">
                <a:solidFill>
                  <a:srgbClr val="FF0000"/>
                </a:solidFill>
              </a:rPr>
              <a:t>IP </a:t>
            </a:r>
          </a:p>
          <a:p>
            <a:pPr lvl="3"/>
            <a:r>
              <a:rPr lang="ko-KR" altLang="en-US" dirty="0" smtClean="0"/>
              <a:t>인터넷 게임이나 온라인 서비스를 이용할 때 국가에 따라 서비스 정책이 다른 경우 사용자 </a:t>
            </a:r>
            <a:r>
              <a:rPr lang="en-US" altLang="ko-KR" dirty="0" smtClean="0"/>
              <a:t>IP</a:t>
            </a:r>
            <a:r>
              <a:rPr lang="ko-KR" altLang="en-US" dirty="0" smtClean="0"/>
              <a:t>를 통해 국가 간 접속을 </a:t>
            </a:r>
            <a:endParaRPr lang="en-US" altLang="ko-KR" dirty="0" smtClean="0"/>
          </a:p>
          <a:p>
            <a:pPr marL="628650" lvl="3" indent="0">
              <a:buNone/>
            </a:pPr>
            <a:r>
              <a:rPr lang="ko-KR" altLang="en-US" dirty="0" smtClean="0"/>
              <a:t>    차단하는 것은 바로 ‘위치하는 </a:t>
            </a:r>
            <a:r>
              <a:rPr lang="ko-KR" altLang="en-US" dirty="0" err="1" smtClean="0"/>
              <a:t>곳’을</a:t>
            </a:r>
            <a:r>
              <a:rPr lang="ko-KR" altLang="en-US" dirty="0" smtClean="0"/>
              <a:t> 이용한 인증</a:t>
            </a:r>
            <a:endParaRPr lang="en-US" altLang="ko-KR" dirty="0" smtClean="0"/>
          </a:p>
          <a:p>
            <a:pPr lvl="4"/>
            <a:endParaRPr lang="en-US" altLang="ko-KR" dirty="0" smtClean="0"/>
          </a:p>
          <a:p>
            <a:pPr lvl="2"/>
            <a:r>
              <a:rPr lang="ko-KR" altLang="en-US" dirty="0" err="1" smtClean="0">
                <a:solidFill>
                  <a:srgbClr val="FF0000"/>
                </a:solidFill>
              </a:rPr>
              <a:t>콜백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lvl="3"/>
            <a:r>
              <a:rPr lang="ko-KR" altLang="en-US" dirty="0" smtClean="0"/>
              <a:t>발신자가 전화로 서비스를 요청했을 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전화를 끊고 걸려온 번호로 전화를 다시 걸어 발신자의 전화번호가 유효한지 </a:t>
            </a:r>
            <a:endParaRPr lang="en-US" altLang="ko-KR" dirty="0" smtClean="0"/>
          </a:p>
          <a:p>
            <a:pPr marL="628650" lvl="3" indent="0">
              <a:buNone/>
            </a:pPr>
            <a:r>
              <a:rPr lang="ko-KR" altLang="en-US" dirty="0" smtClean="0"/>
              <a:t>    확인하는 방법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9192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/>
              <a:t>인증 시스템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SSO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가장 </a:t>
            </a:r>
            <a:r>
              <a:rPr lang="ko-KR" altLang="en-US" dirty="0"/>
              <a:t>기본적인 인증 </a:t>
            </a:r>
            <a:r>
              <a:rPr lang="ko-KR" altLang="en-US" dirty="0" smtClean="0"/>
              <a:t>시스템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'</a:t>
            </a:r>
            <a:r>
              <a:rPr lang="ko-KR" altLang="en-US" dirty="0"/>
              <a:t>모든 인증을 하나의 시스템에서</a:t>
            </a:r>
            <a:r>
              <a:rPr lang="en-US" altLang="ko-KR" dirty="0"/>
              <a:t>'</a:t>
            </a:r>
            <a:r>
              <a:rPr lang="ko-KR" altLang="en-US" dirty="0"/>
              <a:t>라는 목적으로 </a:t>
            </a:r>
            <a:r>
              <a:rPr lang="ko-KR" altLang="en-US" dirty="0" smtClean="0"/>
              <a:t>개발</a:t>
            </a:r>
            <a:endParaRPr lang="en-US" altLang="ko-KR" dirty="0"/>
          </a:p>
          <a:p>
            <a:pPr lvl="2"/>
            <a:r>
              <a:rPr lang="ko-KR" altLang="en-US" dirty="0"/>
              <a:t>시스템이 몇 대라도 </a:t>
            </a:r>
            <a:r>
              <a:rPr lang="ko-KR" altLang="en-US" dirty="0">
                <a:solidFill>
                  <a:srgbClr val="FF0000"/>
                </a:solidFill>
              </a:rPr>
              <a:t>한 시스템의 인증에 성공하면 다른 시스템의 접근 권한을 모두 얻는 </a:t>
            </a:r>
            <a:r>
              <a:rPr lang="ko-KR" altLang="en-US" dirty="0" smtClean="0">
                <a:solidFill>
                  <a:srgbClr val="FF0000"/>
                </a:solidFill>
              </a:rPr>
              <a:t>것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 smtClean="0"/>
              <a:t>처음에 </a:t>
            </a:r>
            <a:r>
              <a:rPr lang="ko-KR" altLang="en-US" dirty="0"/>
              <a:t>클라이언트가 서버에 연결을 </a:t>
            </a:r>
            <a:r>
              <a:rPr lang="ko-KR" altLang="en-US" dirty="0" smtClean="0"/>
              <a:t>요청</a:t>
            </a:r>
            <a:endParaRPr lang="en-US" altLang="ko-KR" dirty="0" smtClean="0"/>
          </a:p>
          <a:p>
            <a:pPr marL="857250" lvl="3" indent="-228600">
              <a:buFont typeface="+mj-ea"/>
              <a:buAutoNum type="circleNumDbPlain"/>
            </a:pPr>
            <a:r>
              <a:rPr lang="ko-KR" altLang="en-US" dirty="0" smtClean="0"/>
              <a:t>서버는 </a:t>
            </a:r>
            <a:r>
              <a:rPr lang="ko-KR" altLang="en-US" dirty="0"/>
              <a:t>클라이언트에게 </a:t>
            </a:r>
            <a:r>
              <a:rPr lang="en-US" altLang="ko-KR" dirty="0"/>
              <a:t>SSO </a:t>
            </a:r>
            <a:r>
              <a:rPr lang="ko-KR" altLang="en-US" dirty="0"/>
              <a:t>서버로부터 </a:t>
            </a:r>
            <a:r>
              <a:rPr lang="ko-KR" altLang="en-US" dirty="0" smtClean="0"/>
              <a:t>인증을 </a:t>
            </a:r>
            <a:r>
              <a:rPr lang="ko-KR" altLang="en-US" dirty="0"/>
              <a:t>받은 후 접속하라고 </a:t>
            </a:r>
            <a:r>
              <a:rPr lang="ko-KR" altLang="en-US" dirty="0" smtClean="0"/>
              <a:t>요청</a:t>
            </a:r>
            <a:endParaRPr lang="en-US" altLang="ko-KR" dirty="0" smtClean="0"/>
          </a:p>
          <a:p>
            <a:pPr marL="857250" lvl="3" indent="-228600">
              <a:buFont typeface="+mj-ea"/>
              <a:buAutoNum type="circleNumDbPlain"/>
            </a:pPr>
            <a:endParaRPr lang="en-US" altLang="ko-KR" dirty="0" smtClean="0"/>
          </a:p>
          <a:p>
            <a:pPr marL="857250" lvl="3" indent="-228600">
              <a:buFont typeface="+mj-ea"/>
              <a:buAutoNum type="circleNumDbPlain" startAt="5"/>
            </a:pPr>
            <a:r>
              <a:rPr lang="en-US" altLang="ko-KR" dirty="0" smtClean="0"/>
              <a:t>SSO </a:t>
            </a:r>
            <a:r>
              <a:rPr lang="ko-KR" altLang="en-US" dirty="0"/>
              <a:t>서버와 연결된 서버 </a:t>
            </a:r>
            <a:r>
              <a:rPr lang="en-US" altLang="ko-KR" dirty="0"/>
              <a:t>1, 2, 3</a:t>
            </a:r>
            <a:r>
              <a:rPr lang="ko-KR" altLang="en-US" dirty="0"/>
              <a:t>에도 별도의 인증 과정 없이 접속할 수 </a:t>
            </a:r>
            <a:r>
              <a:rPr lang="ko-KR" altLang="en-US" dirty="0" smtClean="0"/>
              <a:t>있음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492896"/>
            <a:ext cx="4179766" cy="273630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49400" y="6075824"/>
            <a:ext cx="3812262" cy="2377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28650" lvl="3" defTabSz="685800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00C1D0"/>
              </a:buClr>
              <a:buSzPct val="96000"/>
            </a:pPr>
            <a:r>
              <a:rPr lang="ko-KR" altLang="en-US" sz="1050" dirty="0" smtClean="0">
                <a:solidFill>
                  <a:srgbClr val="21C9D6"/>
                </a:solidFill>
              </a:rPr>
              <a:t>③</a:t>
            </a:r>
            <a:r>
              <a:rPr lang="en-US" altLang="ko-KR" sz="1050" dirty="0" smtClean="0">
                <a:solidFill>
                  <a:srgbClr val="21C9D6"/>
                </a:solidFill>
              </a:rPr>
              <a:t>,</a:t>
            </a:r>
            <a:r>
              <a:rPr lang="ko-KR" altLang="en-US" sz="1050" dirty="0" smtClean="0">
                <a:solidFill>
                  <a:srgbClr val="21C9D6"/>
                </a:solidFill>
              </a:rPr>
              <a:t>④  </a:t>
            </a:r>
            <a:r>
              <a:rPr lang="ko-KR" altLang="en-US" sz="1050" dirty="0" smtClean="0">
                <a:solidFill>
                  <a:prstClr val="black"/>
                </a:solidFill>
              </a:rPr>
              <a:t>클라이언트가 </a:t>
            </a:r>
            <a:r>
              <a:rPr lang="en-US" altLang="ko-KR" sz="1050" dirty="0">
                <a:solidFill>
                  <a:prstClr val="black"/>
                </a:solidFill>
              </a:rPr>
              <a:t>SSO </a:t>
            </a:r>
            <a:r>
              <a:rPr lang="ko-KR" altLang="en-US" sz="1050" dirty="0">
                <a:solidFill>
                  <a:prstClr val="black"/>
                </a:solidFill>
              </a:rPr>
              <a:t>서버로부터 인증을 받음</a:t>
            </a:r>
            <a:endParaRPr lang="en-US" altLang="ko-KR" sz="105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43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/>
              <a:t>인증 시스템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SSO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커베로스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SSO </a:t>
            </a:r>
            <a:r>
              <a:rPr lang="ko-KR" altLang="en-US" dirty="0" smtClean="0"/>
              <a:t>접속 </a:t>
            </a:r>
            <a:r>
              <a:rPr lang="ko-KR" altLang="en-US" dirty="0"/>
              <a:t>형태의 대표적인 인증 방법으로는 </a:t>
            </a:r>
            <a:r>
              <a:rPr lang="ko-KR" altLang="en-US" dirty="0" err="1" smtClean="0"/>
              <a:t>커베로스를</a:t>
            </a:r>
            <a:r>
              <a:rPr lang="ko-KR" altLang="en-US" dirty="0" smtClean="0"/>
              <a:t> </a:t>
            </a:r>
            <a:r>
              <a:rPr lang="ko-KR" altLang="en-US" dirty="0"/>
              <a:t>이용한 윈도우 액티브 디렉터</a:t>
            </a:r>
            <a:endParaRPr lang="en-US" altLang="ko-KR" dirty="0" smtClean="0"/>
          </a:p>
          <a:p>
            <a:pPr lvl="2"/>
            <a:r>
              <a:rPr lang="ko-KR" altLang="en-US" dirty="0"/>
              <a:t>윈도우 서버에 이용되는 </a:t>
            </a:r>
            <a:r>
              <a:rPr lang="ko-KR" altLang="en-US" dirty="0" err="1"/>
              <a:t>커베로스는</a:t>
            </a:r>
            <a:r>
              <a:rPr lang="ko-KR" altLang="en-US" dirty="0"/>
              <a:t> 버전 </a:t>
            </a:r>
            <a:r>
              <a:rPr lang="en-US" altLang="ko-KR" dirty="0"/>
              <a:t>5</a:t>
            </a:r>
            <a:r>
              <a:rPr lang="ko-KR" altLang="en-US" dirty="0"/>
              <a:t>이며 </a:t>
            </a:r>
            <a:r>
              <a:rPr lang="en-US" altLang="ko-KR" dirty="0"/>
              <a:t>10</a:t>
            </a:r>
            <a:r>
              <a:rPr lang="ko-KR" altLang="en-US" dirty="0"/>
              <a:t>여 년 전에 </a:t>
            </a:r>
            <a:r>
              <a:rPr lang="en-US" altLang="ko-KR" dirty="0"/>
              <a:t>MIT</a:t>
            </a:r>
            <a:r>
              <a:rPr lang="ko-KR" altLang="en-US" dirty="0"/>
              <a:t>의 </a:t>
            </a:r>
            <a:r>
              <a:rPr lang="en-US" altLang="ko-KR" dirty="0"/>
              <a:t>Athena </a:t>
            </a:r>
            <a:r>
              <a:rPr lang="ko-KR" altLang="en-US" dirty="0"/>
              <a:t>프로젝트에서 </a:t>
            </a:r>
            <a:r>
              <a:rPr lang="ko-KR" altLang="en-US" dirty="0" smtClean="0"/>
              <a:t>개발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커베로스는</a:t>
            </a:r>
            <a:r>
              <a:rPr lang="ko-KR" altLang="en-US" dirty="0" smtClean="0"/>
              <a:t> </a:t>
            </a:r>
            <a:r>
              <a:rPr lang="ko-KR" altLang="en-US" dirty="0"/>
              <a:t>그리스 신화 속 </a:t>
            </a:r>
            <a:r>
              <a:rPr lang="ko-KR" altLang="en-US" dirty="0" err="1"/>
              <a:t>지옥문을</a:t>
            </a:r>
            <a:r>
              <a:rPr lang="ko-KR" altLang="en-US" dirty="0"/>
              <a:t> 지키는 머리 셋 </a:t>
            </a:r>
            <a:r>
              <a:rPr lang="ko-KR" altLang="en-US" dirty="0" smtClean="0"/>
              <a:t>달린 </a:t>
            </a:r>
            <a:r>
              <a:rPr lang="ko-KR" altLang="en-US" dirty="0"/>
              <a:t>개의 이름에서 따온 </a:t>
            </a:r>
            <a:r>
              <a:rPr lang="ko-KR" altLang="en-US" dirty="0" smtClean="0"/>
              <a:t>것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3</a:t>
            </a:r>
            <a:r>
              <a:rPr lang="ko-KR" altLang="en-US" dirty="0"/>
              <a:t>개의 머리는 각각 </a:t>
            </a:r>
            <a:r>
              <a:rPr lang="ko-KR" altLang="en-US" dirty="0" smtClean="0">
                <a:solidFill>
                  <a:srgbClr val="FF0000"/>
                </a:solidFill>
              </a:rPr>
              <a:t>클라이언트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서버</a:t>
            </a:r>
            <a:r>
              <a:rPr lang="en-US" altLang="ko-KR" dirty="0">
                <a:solidFill>
                  <a:srgbClr val="FF0000"/>
                </a:solidFill>
              </a:rPr>
              <a:t>, SSO</a:t>
            </a:r>
            <a:r>
              <a:rPr lang="ko-KR" altLang="en-US" dirty="0"/>
              <a:t>를 </a:t>
            </a:r>
            <a:r>
              <a:rPr lang="ko-KR" altLang="en-US" dirty="0" smtClean="0"/>
              <a:t>가리킴</a:t>
            </a:r>
            <a:endParaRPr lang="en-US" altLang="ko-KR" dirty="0" smtClean="0"/>
          </a:p>
          <a:p>
            <a:pPr lvl="3"/>
            <a:endParaRPr lang="en-US" altLang="ko-KR" dirty="0" smtClean="0"/>
          </a:p>
          <a:p>
            <a:pPr lvl="3"/>
            <a:endParaRPr lang="en-US" altLang="ko-KR" dirty="0"/>
          </a:p>
          <a:p>
            <a:pPr lvl="3"/>
            <a:endParaRPr lang="en-US" altLang="ko-KR" dirty="0" smtClean="0"/>
          </a:p>
          <a:p>
            <a:pPr lvl="3"/>
            <a:endParaRPr lang="en-US" altLang="ko-KR" dirty="0" smtClean="0"/>
          </a:p>
          <a:p>
            <a:pPr lvl="3"/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3573016"/>
            <a:ext cx="2520280" cy="212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89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/>
              <a:t>인증 시스템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SSO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서비스 </a:t>
            </a:r>
            <a:r>
              <a:rPr lang="ko-KR" altLang="en-US" dirty="0"/>
              <a:t>기반으로 </a:t>
            </a:r>
            <a:r>
              <a:rPr lang="en-US" altLang="ko-KR" dirty="0"/>
              <a:t>SSO</a:t>
            </a:r>
            <a:r>
              <a:rPr lang="ko-KR" altLang="en-US" dirty="0"/>
              <a:t>를 구현하는 경우</a:t>
            </a:r>
          </a:p>
          <a:p>
            <a:pPr lvl="2"/>
            <a:r>
              <a:rPr lang="ko-KR" altLang="en-US" dirty="0" smtClean="0"/>
              <a:t>사용자는 </a:t>
            </a:r>
            <a:r>
              <a:rPr lang="ko-KR" altLang="en-US" dirty="0"/>
              <a:t>마이크로소프트가 관리하는 </a:t>
            </a:r>
            <a:r>
              <a:rPr lang="ko-KR" altLang="en-US" dirty="0">
                <a:solidFill>
                  <a:srgbClr val="FF0000"/>
                </a:solidFill>
              </a:rPr>
              <a:t>중앙의 패스포트 서버로 서비스 가입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인증 </a:t>
            </a:r>
            <a:r>
              <a:rPr lang="ko-KR" altLang="en-US" dirty="0" smtClean="0"/>
              <a:t>받음</a:t>
            </a:r>
            <a:endParaRPr lang="en-US" altLang="ko-KR" dirty="0"/>
          </a:p>
          <a:p>
            <a:pPr lvl="2"/>
            <a:r>
              <a:rPr lang="ko-KR" altLang="en-US" dirty="0"/>
              <a:t>가맹 사이트는 패스포트 서버로 인증을 받으므로 </a:t>
            </a:r>
            <a:r>
              <a:rPr lang="ko-KR" altLang="en-US" dirty="0">
                <a:solidFill>
                  <a:srgbClr val="FF0000"/>
                </a:solidFill>
              </a:rPr>
              <a:t>인증 시스템을 따로 구축할 필요 </a:t>
            </a:r>
            <a:r>
              <a:rPr lang="ko-KR" altLang="en-US" dirty="0" smtClean="0">
                <a:solidFill>
                  <a:srgbClr val="FF0000"/>
                </a:solidFill>
              </a:rPr>
              <a:t>없음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ko-KR" altLang="en-US" dirty="0" smtClean="0"/>
              <a:t>패스포트가 </a:t>
            </a:r>
            <a:r>
              <a:rPr lang="ko-KR" altLang="en-US" dirty="0"/>
              <a:t>가진 정보를 자동으로 채워주는 템플릿 기능도 </a:t>
            </a:r>
            <a:r>
              <a:rPr lang="ko-KR" altLang="en-US" dirty="0" smtClean="0"/>
              <a:t>제공</a:t>
            </a:r>
            <a:endParaRPr lang="en-US" altLang="ko-KR" dirty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웹 기반 </a:t>
            </a:r>
            <a:r>
              <a:rPr lang="en-US" altLang="ko-KR" dirty="0">
                <a:solidFill>
                  <a:srgbClr val="FF0000"/>
                </a:solidFill>
              </a:rPr>
              <a:t>SSO</a:t>
            </a:r>
            <a:r>
              <a:rPr lang="ko-KR" altLang="en-US" dirty="0"/>
              <a:t>는 가입자의 인터넷 사용 정보를 효과적으로 얻을 수 있다는 이점으로 사용률이 매년 </a:t>
            </a:r>
            <a:r>
              <a:rPr lang="ko-KR" altLang="en-US" dirty="0" smtClean="0"/>
              <a:t>증가</a:t>
            </a:r>
            <a:endParaRPr lang="en-US" altLang="ko-KR" dirty="0"/>
          </a:p>
          <a:p>
            <a:pPr lvl="2"/>
            <a:r>
              <a:rPr lang="ko-KR" altLang="en-US" dirty="0"/>
              <a:t>동일한 인증 정보가 광범위한 서비스에서 사용되면 </a:t>
            </a:r>
            <a:r>
              <a:rPr lang="ko-KR" altLang="en-US" dirty="0">
                <a:solidFill>
                  <a:srgbClr val="FF0000"/>
                </a:solidFill>
              </a:rPr>
              <a:t>취약 포인트가 </a:t>
            </a:r>
            <a:r>
              <a:rPr lang="ko-KR" altLang="en-US" dirty="0" smtClean="0">
                <a:solidFill>
                  <a:srgbClr val="FF0000"/>
                </a:solidFill>
              </a:rPr>
              <a:t>많아져 </a:t>
            </a:r>
            <a:r>
              <a:rPr lang="ko-KR" altLang="en-US" dirty="0">
                <a:solidFill>
                  <a:srgbClr val="FF0000"/>
                </a:solidFill>
              </a:rPr>
              <a:t>보안 측면에서 </a:t>
            </a:r>
            <a:r>
              <a:rPr lang="ko-KR" altLang="en-US" dirty="0" smtClean="0">
                <a:solidFill>
                  <a:srgbClr val="FF0000"/>
                </a:solidFill>
              </a:rPr>
              <a:t>우려됨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/>
            <a:endParaRPr lang="en-US" altLang="ko-KR" dirty="0" smtClean="0"/>
          </a:p>
          <a:p>
            <a:pPr lvl="1"/>
            <a:r>
              <a:rPr lang="en-US" altLang="ko-KR" dirty="0" smtClean="0"/>
              <a:t>SSO</a:t>
            </a:r>
            <a:r>
              <a:rPr lang="ko-KR" altLang="en-US" dirty="0"/>
              <a:t>의 약점</a:t>
            </a:r>
          </a:p>
          <a:p>
            <a:pPr lvl="2"/>
            <a:r>
              <a:rPr lang="ko-KR" altLang="en-US" dirty="0"/>
              <a:t>최초 인증 과정을 통과하면 모든 서버나 사이트에 접속할 수 있는 </a:t>
            </a:r>
            <a:r>
              <a:rPr lang="ko-KR" altLang="en-US" dirty="0">
                <a:solidFill>
                  <a:srgbClr val="FF0000"/>
                </a:solidFill>
              </a:rPr>
              <a:t>단일 </a:t>
            </a:r>
            <a:r>
              <a:rPr lang="ko-KR" altLang="en-US" dirty="0" err="1" smtClean="0">
                <a:solidFill>
                  <a:srgbClr val="FF0000"/>
                </a:solidFill>
              </a:rPr>
              <a:t>장애점이</a:t>
            </a:r>
            <a:r>
              <a:rPr lang="ko-KR" altLang="en-US" dirty="0" smtClean="0">
                <a:solidFill>
                  <a:srgbClr val="FF0000"/>
                </a:solidFill>
              </a:rPr>
              <a:t> 약점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ko-KR" altLang="en-US" dirty="0"/>
              <a:t>약점을 보완하기 위해 중요 정보에 접근할 때는 </a:t>
            </a:r>
            <a:r>
              <a:rPr lang="ko-KR" altLang="en-US" dirty="0">
                <a:solidFill>
                  <a:srgbClr val="FF0000"/>
                </a:solidFill>
              </a:rPr>
              <a:t>지속적인 인증</a:t>
            </a:r>
            <a:r>
              <a:rPr lang="ko-KR" altLang="en-US" dirty="0"/>
              <a:t>을 하도록 되어 </a:t>
            </a:r>
            <a:r>
              <a:rPr lang="ko-KR" altLang="en-US" dirty="0" smtClean="0"/>
              <a:t>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43486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방화</a:t>
            </a:r>
            <a:r>
              <a:rPr lang="ko-KR" altLang="en-US" dirty="0"/>
              <a:t>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smtClean="0"/>
              <a:t>방화벽의 개요</a:t>
            </a:r>
            <a:endParaRPr lang="ko-KR" altLang="en-US" dirty="0"/>
          </a:p>
          <a:p>
            <a:pPr lvl="2"/>
            <a:r>
              <a:rPr lang="ko-KR" altLang="en-US" dirty="0"/>
              <a:t>보안을 높이기 위한 </a:t>
            </a:r>
            <a:r>
              <a:rPr lang="ko-KR" altLang="en-US" dirty="0">
                <a:solidFill>
                  <a:srgbClr val="FF0000"/>
                </a:solidFill>
              </a:rPr>
              <a:t>일차적인 </a:t>
            </a:r>
            <a:r>
              <a:rPr lang="ko-KR" altLang="en-US" dirty="0" smtClean="0">
                <a:solidFill>
                  <a:srgbClr val="FF0000"/>
                </a:solidFill>
              </a:rPr>
              <a:t>방법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ko-KR" altLang="en-US" dirty="0"/>
              <a:t>신뢰하지 않는 외부 네트워크와 신뢰하는 내부 네트워크 사이를 지나는 패킷을 미리 정한 규칙에 따라 </a:t>
            </a:r>
            <a:endParaRPr lang="en-US" altLang="ko-KR" dirty="0" smtClean="0"/>
          </a:p>
          <a:p>
            <a:pPr marL="447675" lvl="2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차단하거나 </a:t>
            </a:r>
            <a:r>
              <a:rPr lang="ko-KR" altLang="en-US" dirty="0"/>
              <a:t>보내주는 기능을 하는 하드웨어나 </a:t>
            </a:r>
            <a:r>
              <a:rPr lang="ko-KR" altLang="en-US" dirty="0" smtClean="0"/>
              <a:t>소프트웨어</a:t>
            </a:r>
            <a:endParaRPr lang="en-US" altLang="ko-KR" dirty="0" smtClean="0"/>
          </a:p>
          <a:p>
            <a:pPr lvl="2"/>
            <a:r>
              <a:rPr lang="ko-KR" altLang="en-US" dirty="0"/>
              <a:t>방화벽은 성문을 지키는 병사가 사람들의 통행증을 검사하고 출입을 허가하는 것으로도 빗댈 수 </a:t>
            </a:r>
            <a:r>
              <a:rPr lang="ko-KR" altLang="en-US" dirty="0" smtClean="0"/>
              <a:t>있음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324" y="3212976"/>
            <a:ext cx="5400675" cy="306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7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방화</a:t>
            </a:r>
            <a:r>
              <a:rPr lang="ko-KR" altLang="en-US" dirty="0"/>
              <a:t>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smtClean="0"/>
              <a:t>방화벽의 개요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접근 </a:t>
            </a:r>
            <a:r>
              <a:rPr lang="ko-KR" altLang="en-US" dirty="0">
                <a:solidFill>
                  <a:srgbClr val="FF0000"/>
                </a:solidFill>
              </a:rPr>
              <a:t>제어</a:t>
            </a:r>
          </a:p>
          <a:p>
            <a:pPr lvl="2">
              <a:defRPr/>
            </a:pPr>
            <a:r>
              <a:rPr lang="ko-KR" altLang="en-US" dirty="0"/>
              <a:t>방화벽의 </a:t>
            </a:r>
            <a:r>
              <a:rPr lang="ko-KR" altLang="en-US" dirty="0">
                <a:solidFill>
                  <a:srgbClr val="FF0000"/>
                </a:solidFill>
              </a:rPr>
              <a:t>가장 기본적이고 중요한 기능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dirty="0" smtClean="0"/>
              <a:t>관리자가 </a:t>
            </a:r>
            <a:r>
              <a:rPr lang="ko-KR" altLang="en-US" dirty="0">
                <a:solidFill>
                  <a:srgbClr val="FF0000"/>
                </a:solidFill>
              </a:rPr>
              <a:t>통과시킬 접근</a:t>
            </a:r>
            <a:r>
              <a:rPr lang="ko-KR" altLang="en-US" dirty="0"/>
              <a:t>과 </a:t>
            </a:r>
            <a:r>
              <a:rPr lang="ko-KR" altLang="en-US" dirty="0">
                <a:solidFill>
                  <a:srgbClr val="FF0000"/>
                </a:solidFill>
              </a:rPr>
              <a:t>거부할 접근</a:t>
            </a:r>
            <a:r>
              <a:rPr lang="ko-KR" altLang="en-US" dirty="0"/>
              <a:t>을 명시하면 방화벽이 그에 따라 </a:t>
            </a:r>
            <a:r>
              <a:rPr lang="ko-KR" altLang="en-US" dirty="0" smtClean="0"/>
              <a:t>수행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구현 방법에 따라 패킷 </a:t>
            </a:r>
            <a:r>
              <a:rPr lang="ko-KR" altLang="en-US" dirty="0" err="1" smtClean="0"/>
              <a:t>필터링</a:t>
            </a:r>
            <a:r>
              <a:rPr lang="ko-KR" altLang="en-US" dirty="0" smtClean="0"/>
              <a:t> 방식</a:t>
            </a:r>
            <a:r>
              <a:rPr lang="en-US" altLang="ko-KR" dirty="0"/>
              <a:t>, </a:t>
            </a:r>
            <a:r>
              <a:rPr lang="ko-KR" altLang="en-US" dirty="0" smtClean="0"/>
              <a:t>프록시 방식으로 나뉨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접근 제어를 수행하는 </a:t>
            </a:r>
            <a:r>
              <a:rPr lang="ko-KR" altLang="en-US" dirty="0" err="1" smtClean="0">
                <a:solidFill>
                  <a:srgbClr val="FF0000"/>
                </a:solidFill>
              </a:rPr>
              <a:t>룰셋</a:t>
            </a:r>
            <a:r>
              <a:rPr lang="ko-KR" altLang="en-US" dirty="0" err="1" smtClean="0"/>
              <a:t>은</a:t>
            </a:r>
            <a:r>
              <a:rPr lang="ko-KR" altLang="en-US" dirty="0" smtClean="0"/>
              <a:t> </a:t>
            </a:r>
            <a:r>
              <a:rPr lang="ko-KR" altLang="en-US" dirty="0"/>
              <a:t>방화벽을 기준으로 보호하려는 네트워크의 외부와 내부에 존재하는 </a:t>
            </a:r>
            <a:r>
              <a:rPr lang="ko-KR" altLang="en-US" dirty="0" smtClean="0"/>
              <a:t>시스템의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r>
              <a:rPr lang="en-US" altLang="ko-KR" sz="1100" dirty="0"/>
              <a:t> </a:t>
            </a:r>
            <a:r>
              <a:rPr lang="en-US" altLang="ko-KR" sz="1100" dirty="0" smtClean="0"/>
              <a:t>  </a:t>
            </a:r>
            <a:r>
              <a:rPr lang="ko-KR" altLang="en-US" sz="1100" dirty="0" smtClean="0"/>
              <a:t> </a:t>
            </a:r>
            <a:r>
              <a:rPr lang="en-US" altLang="ko-KR" dirty="0">
                <a:solidFill>
                  <a:srgbClr val="FF0000"/>
                </a:solidFill>
              </a:rPr>
              <a:t>IP </a:t>
            </a:r>
            <a:r>
              <a:rPr lang="ko-KR" altLang="en-US" dirty="0">
                <a:solidFill>
                  <a:srgbClr val="FF0000"/>
                </a:solidFill>
              </a:rPr>
              <a:t>주소와 포트로 </a:t>
            </a:r>
            <a:r>
              <a:rPr lang="ko-KR" altLang="en-US" dirty="0" smtClean="0">
                <a:solidFill>
                  <a:srgbClr val="FF0000"/>
                </a:solidFill>
              </a:rPr>
              <a:t>구성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marL="447675" lvl="2" indent="0">
              <a:buNone/>
              <a:defRPr/>
            </a:pPr>
            <a:endParaRPr lang="en-US" altLang="ko-KR" dirty="0"/>
          </a:p>
          <a:p>
            <a:pPr marL="447675" lvl="2" indent="0">
              <a:buNone/>
              <a:defRPr/>
            </a:pPr>
            <a:endParaRPr lang="en-US" altLang="ko-KR" dirty="0" smtClean="0"/>
          </a:p>
          <a:p>
            <a:pPr marL="447675" lvl="2" indent="0">
              <a:buNone/>
              <a:defRPr/>
            </a:pPr>
            <a:endParaRPr lang="en-US" altLang="ko-KR" dirty="0"/>
          </a:p>
          <a:p>
            <a:pPr marL="447675" lvl="2" indent="0">
              <a:buNone/>
              <a:defRPr/>
            </a:pPr>
            <a:endParaRPr lang="en-US" altLang="ko-KR" dirty="0" smtClean="0"/>
          </a:p>
          <a:p>
            <a:pPr marL="447675" lvl="2" indent="0">
              <a:buNone/>
              <a:defRPr/>
            </a:pPr>
            <a:endParaRPr lang="en-US" altLang="ko-KR" dirty="0"/>
          </a:p>
          <a:p>
            <a:pPr marL="447675" lvl="2" indent="0">
              <a:buNone/>
              <a:defRPr/>
            </a:pPr>
            <a:endParaRPr lang="en-US" altLang="ko-KR" dirty="0" smtClean="0"/>
          </a:p>
          <a:p>
            <a:pPr marL="447675" lvl="2" indent="0">
              <a:buNone/>
              <a:defRPr/>
            </a:pP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올바른 </a:t>
            </a:r>
            <a:r>
              <a:rPr lang="ko-KR" altLang="en-US" dirty="0" err="1" smtClean="0"/>
              <a:t>룰셋</a:t>
            </a:r>
            <a:r>
              <a:rPr lang="ko-KR" altLang="en-US" dirty="0" smtClean="0"/>
              <a:t> 적용</a:t>
            </a:r>
            <a:endParaRPr lang="en-US" altLang="ko-KR" dirty="0" smtClean="0"/>
          </a:p>
          <a:p>
            <a:pPr marL="857250" lvl="3" indent="-228600">
              <a:buFont typeface="+mj-ea"/>
              <a:buAutoNum type="circleNumDbPlain"/>
              <a:defRPr/>
            </a:pPr>
            <a:r>
              <a:rPr lang="ko-KR" altLang="en-US" dirty="0"/>
              <a:t>허용할 서비스를 </a:t>
            </a:r>
            <a:r>
              <a:rPr lang="ko-KR" altLang="en-US" dirty="0" smtClean="0"/>
              <a:t>확인</a:t>
            </a:r>
            <a:endParaRPr lang="en-US" altLang="ko-KR" dirty="0" smtClean="0"/>
          </a:p>
          <a:p>
            <a:pPr marL="857250" lvl="3" indent="-228600">
              <a:buFont typeface="+mj-ea"/>
              <a:buAutoNum type="circleNumDbPlain"/>
              <a:defRPr/>
            </a:pPr>
            <a:r>
              <a:rPr lang="ko-KR" altLang="en-US" dirty="0" smtClean="0"/>
              <a:t>제공하려는 </a:t>
            </a:r>
            <a:r>
              <a:rPr lang="ko-KR" altLang="en-US" dirty="0"/>
              <a:t>서비스가 보안상 문제가 없는지</a:t>
            </a:r>
            <a:r>
              <a:rPr lang="en-US" altLang="ko-KR" dirty="0"/>
              <a:t>, </a:t>
            </a:r>
            <a:r>
              <a:rPr lang="ko-KR" altLang="en-US" dirty="0"/>
              <a:t>허용하는 것이 타당한지 </a:t>
            </a:r>
            <a:r>
              <a:rPr lang="ko-KR" altLang="en-US" dirty="0" smtClean="0"/>
              <a:t>검토</a:t>
            </a:r>
            <a:endParaRPr lang="en-US" altLang="ko-KR" dirty="0" smtClean="0"/>
          </a:p>
          <a:p>
            <a:pPr marL="857250" lvl="3" indent="-228600">
              <a:buFont typeface="+mj-ea"/>
              <a:buAutoNum type="circleNumDbPlain"/>
              <a:defRPr/>
            </a:pPr>
            <a:r>
              <a:rPr lang="ko-KR" altLang="en-US" dirty="0" smtClean="0"/>
              <a:t>서비스가 </a:t>
            </a:r>
            <a:r>
              <a:rPr lang="ko-KR" altLang="en-US" dirty="0"/>
              <a:t>이루어지는 형태를 확인하고 어떤 룰을 적용할지 구체적으로 </a:t>
            </a:r>
            <a:r>
              <a:rPr lang="ko-KR" altLang="en-US" dirty="0" smtClean="0"/>
              <a:t>결정</a:t>
            </a:r>
            <a:endParaRPr lang="en-US" altLang="ko-KR" dirty="0" smtClean="0"/>
          </a:p>
          <a:p>
            <a:pPr marL="857250" lvl="3" indent="-228600">
              <a:buFont typeface="+mj-ea"/>
              <a:buAutoNum type="circleNumDbPlain"/>
              <a:defRPr/>
            </a:pPr>
            <a:r>
              <a:rPr lang="ko-KR" altLang="en-US" dirty="0" smtClean="0"/>
              <a:t>방화벽에 </a:t>
            </a:r>
            <a:r>
              <a:rPr lang="ko-KR" altLang="en-US" dirty="0"/>
              <a:t>실제로 룰을 적용하고 적용된 룰을 검사</a:t>
            </a:r>
            <a:endParaRPr lang="en-US" altLang="ko-KR" dirty="0"/>
          </a:p>
          <a:p>
            <a:pPr marL="676275" lvl="2" indent="-228600">
              <a:buFont typeface="+mj-ea"/>
              <a:buAutoNum type="circleNumDbPlain"/>
              <a:defRPr/>
            </a:pP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610" y="3284984"/>
            <a:ext cx="5508104" cy="131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2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방화</a:t>
            </a:r>
            <a:r>
              <a:rPr lang="ko-KR" altLang="en-US" dirty="0"/>
              <a:t>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smtClean="0"/>
              <a:t>방화벽의 개요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 err="1" smtClean="0">
                <a:solidFill>
                  <a:srgbClr val="FF0000"/>
                </a:solidFill>
              </a:rPr>
              <a:t>룰셋</a:t>
            </a:r>
            <a:r>
              <a:rPr lang="ko-KR" altLang="en-US" dirty="0" smtClean="0">
                <a:solidFill>
                  <a:srgbClr val="FF0000"/>
                </a:solidFill>
              </a:rPr>
              <a:t> 이상현상 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dirty="0" smtClean="0"/>
              <a:t>음영 이상</a:t>
            </a:r>
            <a:r>
              <a:rPr lang="en-US" altLang="ko-KR" dirty="0" smtClean="0"/>
              <a:t>(Shadowing) : </a:t>
            </a:r>
            <a:r>
              <a:rPr lang="ko-KR" altLang="en-US" dirty="0" smtClean="0">
                <a:solidFill>
                  <a:srgbClr val="FF0000"/>
                </a:solidFill>
              </a:rPr>
              <a:t>순위가 높은 정책이 순위가 낮은 정책을 포함</a:t>
            </a:r>
            <a:r>
              <a:rPr lang="ko-KR" altLang="en-US" dirty="0" smtClean="0"/>
              <a:t>하고 </a:t>
            </a:r>
            <a:r>
              <a:rPr lang="ko-KR" altLang="en-US" dirty="0" smtClean="0">
                <a:solidFill>
                  <a:srgbClr val="FF0000"/>
                </a:solidFill>
              </a:rPr>
              <a:t>처리 결과가 다른 경우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 smtClean="0"/>
          </a:p>
          <a:p>
            <a:pPr lvl="2">
              <a:defRPr/>
            </a:pP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연관 이상</a:t>
            </a:r>
            <a:r>
              <a:rPr lang="en-US" altLang="ko-KR" dirty="0" smtClean="0"/>
              <a:t>(Correlation) : </a:t>
            </a:r>
            <a:r>
              <a:rPr lang="ko-KR" altLang="en-US" dirty="0" smtClean="0">
                <a:solidFill>
                  <a:srgbClr val="FF0000"/>
                </a:solidFill>
              </a:rPr>
              <a:t>두 개의 정책이 각기 다른 조건에 대해 서로 포함</a:t>
            </a:r>
            <a:r>
              <a:rPr lang="ko-KR" altLang="en-US" dirty="0" smtClean="0"/>
              <a:t>하는 경우</a:t>
            </a: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 smtClean="0"/>
              <a:t>일반화 이상</a:t>
            </a:r>
            <a:r>
              <a:rPr lang="en-US" altLang="ko-KR" dirty="0" smtClean="0"/>
              <a:t>(Generalization) : </a:t>
            </a:r>
            <a:r>
              <a:rPr lang="ko-KR" altLang="en-US" dirty="0" smtClean="0">
                <a:solidFill>
                  <a:srgbClr val="FF0000"/>
                </a:solidFill>
              </a:rPr>
              <a:t>순위가 낮은 정책이 순위가 높은 정책을 포함</a:t>
            </a:r>
            <a:r>
              <a:rPr lang="ko-KR" altLang="en-US" dirty="0" smtClean="0"/>
              <a:t>하고 </a:t>
            </a:r>
            <a:r>
              <a:rPr lang="ko-KR" altLang="en-US" dirty="0" smtClean="0">
                <a:solidFill>
                  <a:srgbClr val="FF0000"/>
                </a:solidFill>
              </a:rPr>
              <a:t>처리 결과가 다른 경우</a:t>
            </a:r>
            <a:endParaRPr lang="en-US" altLang="ko-KR" dirty="0">
              <a:solidFill>
                <a:srgbClr val="FF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593" y="2184122"/>
            <a:ext cx="5514975" cy="10096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593" y="3762612"/>
            <a:ext cx="5505450" cy="98107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068" y="5312527"/>
            <a:ext cx="551497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5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방화</a:t>
            </a:r>
            <a:r>
              <a:rPr lang="ko-KR" altLang="en-US" dirty="0"/>
              <a:t>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smtClean="0"/>
              <a:t>방화벽의 개요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 err="1" smtClean="0">
                <a:solidFill>
                  <a:srgbClr val="FF0000"/>
                </a:solidFill>
              </a:rPr>
              <a:t>룰셋</a:t>
            </a:r>
            <a:r>
              <a:rPr lang="ko-KR" altLang="en-US" dirty="0" smtClean="0">
                <a:solidFill>
                  <a:srgbClr val="FF0000"/>
                </a:solidFill>
              </a:rPr>
              <a:t> 이상현상 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dirty="0" smtClean="0"/>
              <a:t>중복 이상</a:t>
            </a:r>
            <a:r>
              <a:rPr lang="en-US" altLang="ko-KR" dirty="0" smtClean="0"/>
              <a:t>(Redundancy) : </a:t>
            </a:r>
            <a:r>
              <a:rPr lang="ko-KR" altLang="en-US" dirty="0" smtClean="0"/>
              <a:t>순위에 관계없이 </a:t>
            </a:r>
            <a:r>
              <a:rPr lang="ko-KR" altLang="en-US" dirty="0" smtClean="0">
                <a:solidFill>
                  <a:srgbClr val="FF0000"/>
                </a:solidFill>
              </a:rPr>
              <a:t>두개의 정책 중 하나가 어느 다른 하나의 정책에 포함</a:t>
            </a:r>
            <a:r>
              <a:rPr lang="ko-KR" altLang="en-US" dirty="0" smtClean="0"/>
              <a:t>되고 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  </a:t>
            </a:r>
            <a:r>
              <a:rPr lang="ko-KR" altLang="en-US" dirty="0" smtClean="0">
                <a:solidFill>
                  <a:srgbClr val="FF0000"/>
                </a:solidFill>
              </a:rPr>
              <a:t>처리</a:t>
            </a:r>
            <a:r>
              <a:rPr lang="ko-KR" altLang="en-US" dirty="0" smtClean="0"/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결과가 같은 경우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 smtClean="0"/>
          </a:p>
          <a:p>
            <a:pPr lvl="2">
              <a:defRPr/>
            </a:pPr>
            <a:endParaRPr lang="en-US" altLang="ko-KR" dirty="0" smtClean="0"/>
          </a:p>
          <a:p>
            <a:pPr lvl="2">
              <a:defRPr/>
            </a:pPr>
            <a:endParaRPr lang="en-US" altLang="ko-KR" dirty="0" smtClean="0"/>
          </a:p>
          <a:p>
            <a:pPr lvl="2">
              <a:defRPr/>
            </a:pPr>
            <a:r>
              <a:rPr lang="ko-KR" altLang="en-US" dirty="0" err="1" smtClean="0"/>
              <a:t>미참조</a:t>
            </a:r>
            <a:r>
              <a:rPr lang="ko-KR" altLang="en-US" dirty="0" smtClean="0"/>
              <a:t> 이상</a:t>
            </a:r>
            <a:r>
              <a:rPr lang="en-US" altLang="ko-KR" dirty="0" smtClean="0"/>
              <a:t>(Irrelevance) : </a:t>
            </a:r>
            <a:r>
              <a:rPr lang="ko-KR" altLang="en-US" dirty="0" smtClean="0">
                <a:solidFill>
                  <a:srgbClr val="FF0000"/>
                </a:solidFill>
              </a:rPr>
              <a:t>어떠한 패킷도 방화벽 정책에 </a:t>
            </a:r>
            <a:r>
              <a:rPr lang="ko-KR" altLang="en-US" dirty="0" err="1" smtClean="0">
                <a:solidFill>
                  <a:srgbClr val="FF0000"/>
                </a:solidFill>
              </a:rPr>
              <a:t>필터링</a:t>
            </a:r>
            <a:r>
              <a:rPr lang="ko-KR" altLang="en-US" dirty="0" smtClean="0">
                <a:solidFill>
                  <a:srgbClr val="FF0000"/>
                </a:solidFill>
              </a:rPr>
              <a:t> 되지 않은 경우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492896"/>
            <a:ext cx="552450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3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방화</a:t>
            </a:r>
            <a:r>
              <a:rPr lang="ko-KR" altLang="en-US" dirty="0"/>
              <a:t>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smtClean="0"/>
              <a:t>방화벽의 개요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 smtClean="0"/>
              <a:t>로깅과 </a:t>
            </a:r>
            <a:r>
              <a:rPr lang="ko-KR" altLang="en-US" dirty="0"/>
              <a:t>감사 추적</a:t>
            </a:r>
          </a:p>
          <a:p>
            <a:pPr lvl="2">
              <a:defRPr/>
            </a:pPr>
            <a:r>
              <a:rPr lang="ko-KR" altLang="en-US" dirty="0"/>
              <a:t>방화벽은 </a:t>
            </a:r>
            <a:r>
              <a:rPr lang="ko-KR" altLang="en-US" dirty="0" err="1">
                <a:solidFill>
                  <a:srgbClr val="FF0000"/>
                </a:solidFill>
              </a:rPr>
              <a:t>룰셋</a:t>
            </a:r>
            <a:r>
              <a:rPr lang="ko-KR" altLang="en-US" dirty="0">
                <a:solidFill>
                  <a:srgbClr val="FF0000"/>
                </a:solidFill>
              </a:rPr>
              <a:t> 설정과 변경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관리자 접근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네트워크 트래픽의 허용 또는 차단</a:t>
            </a:r>
            <a:r>
              <a:rPr lang="ko-KR" altLang="en-US" dirty="0"/>
              <a:t>과 관련한 사항을 로그로 </a:t>
            </a:r>
            <a:r>
              <a:rPr lang="ko-KR" altLang="en-US" dirty="0" smtClean="0"/>
              <a:t>남김</a:t>
            </a:r>
            <a:endParaRPr lang="en-US" altLang="ko-KR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사고 발생시 출입자를 확인</a:t>
            </a:r>
            <a:r>
              <a:rPr lang="ko-KR" altLang="en-US" dirty="0"/>
              <a:t>하여 추적을 하기 </a:t>
            </a:r>
            <a:r>
              <a:rPr lang="ko-KR" altLang="en-US" dirty="0" smtClean="0"/>
              <a:t>위함</a:t>
            </a: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인증</a:t>
            </a:r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메시지 인증</a:t>
            </a:r>
            <a:r>
              <a:rPr lang="en-US" altLang="ko-KR" dirty="0" smtClean="0"/>
              <a:t>: </a:t>
            </a:r>
            <a:r>
              <a:rPr lang="en-US" altLang="ko-KR" dirty="0"/>
              <a:t>VPN</a:t>
            </a:r>
            <a:r>
              <a:rPr lang="ko-KR" altLang="en-US" dirty="0"/>
              <a:t>과 같은 신뢰할 수 있는 </a:t>
            </a:r>
            <a:r>
              <a:rPr lang="ko-KR" altLang="en-US" dirty="0" err="1"/>
              <a:t>통신선으로</a:t>
            </a:r>
            <a:r>
              <a:rPr lang="ko-KR" altLang="en-US" dirty="0"/>
              <a:t> 전송되는 </a:t>
            </a:r>
            <a:r>
              <a:rPr lang="ko-KR" altLang="en-US" dirty="0">
                <a:solidFill>
                  <a:srgbClr val="FF0000"/>
                </a:solidFill>
              </a:rPr>
              <a:t>메시지의 신뢰성을 </a:t>
            </a:r>
            <a:r>
              <a:rPr lang="ko-KR" altLang="en-US" dirty="0" smtClean="0">
                <a:solidFill>
                  <a:srgbClr val="FF0000"/>
                </a:solidFill>
              </a:rPr>
              <a:t>보장</a:t>
            </a:r>
            <a:endParaRPr lang="ko-KR" altLang="en-US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사용자 인증</a:t>
            </a:r>
            <a:r>
              <a:rPr lang="en-US" altLang="ko-KR" dirty="0" smtClean="0"/>
              <a:t>: </a:t>
            </a:r>
            <a:r>
              <a:rPr lang="ko-KR" altLang="en-US" dirty="0">
                <a:solidFill>
                  <a:srgbClr val="FF0000"/>
                </a:solidFill>
              </a:rPr>
              <a:t>패스워드</a:t>
            </a:r>
            <a:r>
              <a:rPr lang="ko-KR" altLang="en-US" dirty="0"/>
              <a:t>를 이용한 단순한 인증부터 </a:t>
            </a:r>
            <a:r>
              <a:rPr lang="en-US" altLang="ko-KR" dirty="0">
                <a:solidFill>
                  <a:srgbClr val="FF0000"/>
                </a:solidFill>
              </a:rPr>
              <a:t>OTP, </a:t>
            </a:r>
            <a:r>
              <a:rPr lang="ko-KR" altLang="en-US" dirty="0">
                <a:solidFill>
                  <a:srgbClr val="FF0000"/>
                </a:solidFill>
              </a:rPr>
              <a:t>토큰 기반 인증 </a:t>
            </a:r>
            <a:r>
              <a:rPr lang="ko-KR" altLang="en-US" dirty="0"/>
              <a:t>등 높은 수준의 인증까지 </a:t>
            </a:r>
            <a:r>
              <a:rPr lang="ko-KR" altLang="en-US" dirty="0" smtClean="0"/>
              <a:t>가능</a:t>
            </a:r>
            <a:endParaRPr lang="ko-KR" altLang="en-US" dirty="0"/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클라이언트 인증</a:t>
            </a:r>
            <a:r>
              <a:rPr lang="en-US" altLang="ko-KR" dirty="0" smtClean="0"/>
              <a:t>: </a:t>
            </a:r>
            <a:r>
              <a:rPr lang="ko-KR" altLang="en-US" dirty="0"/>
              <a:t>모바일 사용자처럼 특수한 경우에 접속을 요구하는 </a:t>
            </a:r>
            <a:r>
              <a:rPr lang="ko-KR" altLang="en-US" dirty="0">
                <a:solidFill>
                  <a:srgbClr val="FF0000"/>
                </a:solidFill>
              </a:rPr>
              <a:t>호스트 자체가 정당한지 확인</a:t>
            </a:r>
            <a:r>
              <a:rPr lang="ko-KR" altLang="en-US" dirty="0"/>
              <a:t>하는 방법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 smtClean="0"/>
              <a:t>데이터 </a:t>
            </a:r>
            <a:r>
              <a:rPr lang="ko-KR" altLang="en-US" dirty="0"/>
              <a:t>암호화</a:t>
            </a:r>
          </a:p>
          <a:p>
            <a:pPr lvl="2">
              <a:defRPr/>
            </a:pPr>
            <a:r>
              <a:rPr lang="ko-KR" altLang="en-US" dirty="0"/>
              <a:t>한 방화벽에서 다른 방화벽으로 데이터를 암호화해서 보내는 </a:t>
            </a:r>
            <a:r>
              <a:rPr lang="ko-KR" altLang="en-US" dirty="0" smtClean="0"/>
              <a:t>것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일반적으로 </a:t>
            </a:r>
            <a:r>
              <a:rPr lang="en-US" altLang="ko-KR" dirty="0">
                <a:solidFill>
                  <a:srgbClr val="FF0000"/>
                </a:solidFill>
              </a:rPr>
              <a:t>VPN</a:t>
            </a:r>
            <a:r>
              <a:rPr lang="ko-KR" altLang="en-US" dirty="0">
                <a:solidFill>
                  <a:srgbClr val="FF0000"/>
                </a:solidFill>
              </a:rPr>
              <a:t>의 기능을 </a:t>
            </a:r>
            <a:r>
              <a:rPr lang="ko-KR" altLang="en-US" dirty="0" smtClean="0">
                <a:solidFill>
                  <a:srgbClr val="FF0000"/>
                </a:solidFill>
              </a:rPr>
              <a:t>이용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방화벽의 한계</a:t>
            </a:r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바이러스</a:t>
            </a:r>
            <a:r>
              <a:rPr lang="ko-KR" altLang="en-US" dirty="0"/>
              <a:t>는 파일 등을 통해 감염되므로 근본적으로 방화벽이 영향을 미치기 </a:t>
            </a:r>
            <a:r>
              <a:rPr lang="ko-KR" altLang="en-US" dirty="0" smtClean="0"/>
              <a:t>어려움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일부 웜은 막을 수 있지만 </a:t>
            </a:r>
            <a:r>
              <a:rPr lang="ko-KR" altLang="en-US" dirty="0">
                <a:solidFill>
                  <a:srgbClr val="FF0000"/>
                </a:solidFill>
              </a:rPr>
              <a:t>정상적인 서비스 포트에 대해 웜이 공격</a:t>
            </a:r>
            <a:r>
              <a:rPr lang="ko-KR" altLang="en-US" dirty="0"/>
              <a:t>을 시도할 때는 막을 수 </a:t>
            </a:r>
            <a:r>
              <a:rPr lang="ko-KR" altLang="en-US" dirty="0" smtClean="0"/>
              <a:t>없음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9193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침입 탐지 </a:t>
            </a:r>
            <a:r>
              <a:rPr lang="ko-KR" altLang="en-US" dirty="0" smtClean="0"/>
              <a:t>시스템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578298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침입 탐지 </a:t>
            </a:r>
            <a:r>
              <a:rPr lang="ko-KR" altLang="en-US" dirty="0" smtClean="0"/>
              <a:t>시스템의 개요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네트워크를 </a:t>
            </a:r>
            <a:r>
              <a:rPr lang="ko-KR" altLang="en-US" dirty="0">
                <a:solidFill>
                  <a:srgbClr val="FF0000"/>
                </a:solidFill>
              </a:rPr>
              <a:t>통한 공격을 탐지</a:t>
            </a:r>
            <a:r>
              <a:rPr lang="ko-KR" altLang="en-US" dirty="0"/>
              <a:t>하기 위한 </a:t>
            </a:r>
            <a:r>
              <a:rPr lang="ko-KR" altLang="en-US" dirty="0" smtClean="0"/>
              <a:t>장비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내부의 </a:t>
            </a:r>
            <a:r>
              <a:rPr lang="ko-KR" altLang="en-US" dirty="0">
                <a:solidFill>
                  <a:srgbClr val="FF0000"/>
                </a:solidFill>
              </a:rPr>
              <a:t>해킹이나 악성 코드 활동 탐지</a:t>
            </a:r>
            <a:r>
              <a:rPr lang="ko-KR" altLang="en-US" dirty="0"/>
              <a:t>와 같이 방화벽이 하지 못하는 일을 </a:t>
            </a:r>
            <a:r>
              <a:rPr lang="ko-KR" altLang="en-US" dirty="0" smtClean="0"/>
              <a:t>수행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성안에서 거리를 돌며 순찰하는 병사에 </a:t>
            </a:r>
            <a:r>
              <a:rPr lang="ko-KR" altLang="en-US" dirty="0" smtClean="0"/>
              <a:t>비유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sz="1150" dirty="0"/>
              <a:t>설치 위치와 목적에 따라 </a:t>
            </a:r>
            <a:r>
              <a:rPr lang="ko-KR" altLang="en-US" sz="1150" dirty="0">
                <a:solidFill>
                  <a:srgbClr val="FF0000"/>
                </a:solidFill>
              </a:rPr>
              <a:t>호스트</a:t>
            </a:r>
            <a:r>
              <a:rPr lang="ko-KR" altLang="en-US" sz="1150" dirty="0"/>
              <a:t> 기반의 침입 탐지 </a:t>
            </a:r>
            <a:r>
              <a:rPr lang="ko-KR" altLang="en-US" sz="1150" dirty="0" smtClean="0"/>
              <a:t>시스템</a:t>
            </a:r>
            <a:r>
              <a:rPr lang="en-US" altLang="ko-KR" sz="1150" dirty="0" smtClean="0"/>
              <a:t>(HIDS), </a:t>
            </a:r>
            <a:r>
              <a:rPr lang="ko-KR" altLang="en-US" sz="1150" dirty="0" smtClean="0">
                <a:solidFill>
                  <a:srgbClr val="FF0000"/>
                </a:solidFill>
              </a:rPr>
              <a:t>네트워크</a:t>
            </a:r>
            <a:r>
              <a:rPr lang="ko-KR" altLang="en-US" sz="1150" dirty="0" smtClean="0"/>
              <a:t> </a:t>
            </a:r>
            <a:r>
              <a:rPr lang="ko-KR" altLang="en-US" sz="1150" dirty="0"/>
              <a:t>기반의 침입 탐지 </a:t>
            </a:r>
            <a:r>
              <a:rPr lang="ko-KR" altLang="en-US" sz="1150" dirty="0" smtClean="0"/>
              <a:t>시스템</a:t>
            </a:r>
            <a:r>
              <a:rPr lang="en-US" altLang="ko-KR" sz="1150" dirty="0" smtClean="0"/>
              <a:t>(NIDS) </a:t>
            </a:r>
            <a:r>
              <a:rPr lang="ko-KR" altLang="en-US" sz="1150" dirty="0" smtClean="0"/>
              <a:t>구분</a:t>
            </a:r>
            <a:endParaRPr lang="en-US" altLang="ko-KR" sz="115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3140968"/>
            <a:ext cx="6407696" cy="30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12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침입 탐지 </a:t>
            </a:r>
            <a:r>
              <a:rPr lang="ko-KR" altLang="en-US" dirty="0" smtClean="0"/>
              <a:t>시스템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침입 탐지 </a:t>
            </a:r>
            <a:r>
              <a:rPr lang="ko-KR" altLang="en-US" dirty="0" smtClean="0"/>
              <a:t>시스템의 주요 기능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 smtClean="0"/>
              <a:t>데이터 수집</a:t>
            </a:r>
            <a:endParaRPr lang="en-US" altLang="ko-KR" dirty="0" smtClean="0"/>
          </a:p>
          <a:p>
            <a:pPr lvl="2">
              <a:defRPr/>
            </a:pPr>
            <a:r>
              <a:rPr lang="en-US" altLang="ko-KR" dirty="0"/>
              <a:t>HIDS</a:t>
            </a:r>
            <a:r>
              <a:rPr lang="ko-KR" altLang="en-US" dirty="0"/>
              <a:t>와 </a:t>
            </a:r>
            <a:r>
              <a:rPr lang="en-US" altLang="ko-KR" dirty="0"/>
              <a:t>NIDS</a:t>
            </a:r>
            <a:r>
              <a:rPr lang="ko-KR" altLang="en-US" dirty="0"/>
              <a:t>는 각각 장단점이 있어 </a:t>
            </a:r>
            <a:r>
              <a:rPr lang="ko-KR" altLang="en-US" dirty="0">
                <a:solidFill>
                  <a:srgbClr val="FF0000"/>
                </a:solidFill>
              </a:rPr>
              <a:t>상호 보완적으로 사용</a:t>
            </a:r>
            <a:r>
              <a:rPr lang="ko-KR" altLang="en-US" dirty="0"/>
              <a:t>함</a:t>
            </a:r>
            <a:endParaRPr lang="en-US" altLang="ko-KR" dirty="0"/>
          </a:p>
          <a:p>
            <a:pPr lvl="2">
              <a:defRPr/>
            </a:pPr>
            <a:endParaRPr lang="en-US" altLang="ko-KR" sz="100" dirty="0" smtClean="0"/>
          </a:p>
          <a:p>
            <a:pPr lvl="2">
              <a:defRPr/>
            </a:pPr>
            <a:r>
              <a:rPr lang="ko-KR" altLang="en-US" dirty="0"/>
              <a:t>호스트 기반의 침입 탐지 시스템</a:t>
            </a:r>
            <a:r>
              <a:rPr lang="en-US" altLang="ko-KR" dirty="0"/>
              <a:t>(HIDS)</a:t>
            </a:r>
          </a:p>
          <a:p>
            <a:pPr lvl="3">
              <a:defRPr/>
            </a:pPr>
            <a:r>
              <a:rPr lang="ko-KR" altLang="en-US" dirty="0"/>
              <a:t>윈도우나 유닉스 등의 </a:t>
            </a:r>
            <a:r>
              <a:rPr lang="ko-KR" altLang="en-US" dirty="0">
                <a:solidFill>
                  <a:srgbClr val="FF0000"/>
                </a:solidFill>
              </a:rPr>
              <a:t>운영체제에 부가적으로 설치</a:t>
            </a:r>
            <a:r>
              <a:rPr lang="en-US" altLang="ko-KR" dirty="0"/>
              <a:t>, </a:t>
            </a:r>
            <a:r>
              <a:rPr lang="ko-KR" altLang="en-US" dirty="0"/>
              <a:t>운용되거나 일반 클라이언트에 </a:t>
            </a:r>
            <a:r>
              <a:rPr lang="ko-KR" altLang="en-US" dirty="0" smtClean="0"/>
              <a:t>설치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운영체제에 설정된 사용자 계정에 따라 어떤 사용자가 어떤 접근을 시도하고 어떤 작업을 했는지 기록을 남기고 </a:t>
            </a:r>
            <a:r>
              <a:rPr lang="ko-KR" altLang="en-US" dirty="0" smtClean="0"/>
              <a:t>추적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네트워크 환경과의 연계성이 </a:t>
            </a:r>
            <a:r>
              <a:rPr lang="ko-KR" altLang="en-US" dirty="0" smtClean="0"/>
              <a:t>낮아 </a:t>
            </a:r>
            <a:r>
              <a:rPr lang="ko-KR" altLang="en-US" dirty="0"/>
              <a:t>전체 </a:t>
            </a:r>
            <a:r>
              <a:rPr lang="ko-KR" altLang="en-US" dirty="0">
                <a:solidFill>
                  <a:srgbClr val="FF0000"/>
                </a:solidFill>
              </a:rPr>
              <a:t>네트워크에 대한 침입 탐지가 </a:t>
            </a:r>
            <a:r>
              <a:rPr lang="ko-KR" altLang="en-US" dirty="0" smtClean="0">
                <a:solidFill>
                  <a:srgbClr val="FF0000"/>
                </a:solidFill>
              </a:rPr>
              <a:t>불가능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/>
              <a:t>자신이 공격 대상이 될 때만 침입 탐지 </a:t>
            </a:r>
            <a:r>
              <a:rPr lang="ko-KR" altLang="en-US" dirty="0" smtClean="0"/>
              <a:t>가능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운영체제의 취약점이 </a:t>
            </a:r>
            <a:r>
              <a:rPr lang="en-US" altLang="ko-KR" dirty="0"/>
              <a:t>HIDS</a:t>
            </a:r>
            <a:r>
              <a:rPr lang="ko-KR" altLang="en-US" dirty="0"/>
              <a:t>를 손상할 수 있으며 다른 침입 탐지 시스템보다 </a:t>
            </a:r>
            <a:r>
              <a:rPr lang="ko-KR" altLang="en-US" dirty="0">
                <a:solidFill>
                  <a:srgbClr val="FF0000"/>
                </a:solidFill>
              </a:rPr>
              <a:t>비용이 많이 드는 것</a:t>
            </a:r>
            <a:r>
              <a:rPr lang="ko-KR" altLang="en-US" dirty="0"/>
              <a:t>이 </a:t>
            </a:r>
            <a:r>
              <a:rPr lang="ko-KR" altLang="en-US" dirty="0" smtClean="0"/>
              <a:t>단점</a:t>
            </a:r>
            <a:endParaRPr lang="en-US" altLang="ko-KR" dirty="0" smtClean="0"/>
          </a:p>
          <a:p>
            <a:pPr lvl="3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네트워크 기반의 침입 탐지 시스템</a:t>
            </a:r>
            <a:r>
              <a:rPr lang="en-US" altLang="ko-KR" dirty="0"/>
              <a:t>(NIDS)</a:t>
            </a:r>
          </a:p>
          <a:p>
            <a:pPr lvl="3">
              <a:defRPr/>
            </a:pPr>
            <a:r>
              <a:rPr lang="ko-KR" altLang="en-US" dirty="0"/>
              <a:t>네트워크에서 </a:t>
            </a:r>
            <a:r>
              <a:rPr lang="ko-KR" altLang="en-US" dirty="0">
                <a:solidFill>
                  <a:srgbClr val="FF0000"/>
                </a:solidFill>
              </a:rPr>
              <a:t>하나의 독립된 시스템</a:t>
            </a:r>
            <a:r>
              <a:rPr lang="ko-KR" altLang="en-US" dirty="0"/>
              <a:t>으로 </a:t>
            </a:r>
            <a:r>
              <a:rPr lang="ko-KR" altLang="en-US" dirty="0" smtClean="0"/>
              <a:t>운용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감사와 로깅을 할 때 네트워크 자원이 손실되거나 데이터가 변조되지 </a:t>
            </a:r>
            <a:r>
              <a:rPr lang="ko-KR" altLang="en-US" dirty="0" smtClean="0"/>
              <a:t>않음</a:t>
            </a:r>
            <a:endParaRPr lang="en-US" altLang="ko-KR" dirty="0" smtClean="0"/>
          </a:p>
          <a:p>
            <a:pPr lvl="3">
              <a:defRPr/>
            </a:pPr>
            <a:r>
              <a:rPr lang="en-US" altLang="ko-KR" dirty="0" smtClean="0"/>
              <a:t>HIDS</a:t>
            </a:r>
            <a:r>
              <a:rPr lang="ko-KR" altLang="en-US" dirty="0"/>
              <a:t>로는 할 수 없는 네트워크 전반에 대한 감시를 할 수 있으며 감시 영역이 상대적으로 </a:t>
            </a:r>
            <a:r>
              <a:rPr lang="ko-KR" altLang="en-US" dirty="0" smtClean="0"/>
              <a:t>큼</a:t>
            </a:r>
            <a:endParaRPr lang="en-US" altLang="ko-KR" dirty="0"/>
          </a:p>
          <a:p>
            <a:pPr lvl="3">
              <a:defRPr/>
            </a:pPr>
            <a:r>
              <a:rPr lang="en-US" altLang="ko-KR" dirty="0"/>
              <a:t>IP </a:t>
            </a:r>
            <a:r>
              <a:rPr lang="ko-KR" altLang="en-US" dirty="0"/>
              <a:t>주소를 소유하지 않아 해커의 직접적인 공격을 거의 완벽하게 방어할 수 있고 존재 사실도 숨길 수 </a:t>
            </a:r>
            <a:r>
              <a:rPr lang="ko-KR" altLang="en-US" dirty="0" smtClean="0"/>
              <a:t>있음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공격에 대한 결과를 알 수 없으며 암호화된 내용을 검사할 수 </a:t>
            </a:r>
            <a:r>
              <a:rPr lang="ko-KR" altLang="en-US" dirty="0" smtClean="0"/>
              <a:t>없음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스위칭 환경에서 </a:t>
            </a:r>
            <a:r>
              <a:rPr lang="en-US" altLang="ko-KR" dirty="0"/>
              <a:t>NIDS</a:t>
            </a:r>
            <a:r>
              <a:rPr lang="ko-KR" altLang="en-US" dirty="0"/>
              <a:t>를 설치하려면 </a:t>
            </a:r>
            <a:r>
              <a:rPr lang="ko-KR" altLang="en-US" dirty="0">
                <a:solidFill>
                  <a:srgbClr val="FF0000"/>
                </a:solidFill>
              </a:rPr>
              <a:t>다른 부가 장비 </a:t>
            </a:r>
            <a:r>
              <a:rPr lang="ko-KR" altLang="en-US" dirty="0" smtClean="0">
                <a:solidFill>
                  <a:srgbClr val="FF0000"/>
                </a:solidFill>
              </a:rPr>
              <a:t>필요</a:t>
            </a:r>
            <a:endParaRPr lang="en-US" altLang="ko-KR" dirty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en-US" altLang="ko-KR" dirty="0" smtClean="0"/>
              <a:t>10Gbps </a:t>
            </a:r>
            <a:r>
              <a:rPr lang="ko-KR" altLang="en-US" dirty="0" smtClean="0"/>
              <a:t>이상의 고속 네트워크에서는 </a:t>
            </a:r>
            <a:r>
              <a:rPr lang="ko-KR" altLang="en-US" dirty="0"/>
              <a:t>네트워크 카드 등의 </a:t>
            </a:r>
            <a:r>
              <a:rPr lang="ko-KR" altLang="en-US" dirty="0" smtClean="0"/>
              <a:t>하드웨어적인 한계로 </a:t>
            </a:r>
            <a:r>
              <a:rPr lang="ko-KR" altLang="en-US" dirty="0" smtClean="0">
                <a:solidFill>
                  <a:srgbClr val="FF0000"/>
                </a:solidFill>
              </a:rPr>
              <a:t>네트워크의 모든 패킷을 검사하기 어려움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>
              <a:defRPr/>
            </a:pPr>
            <a:endParaRPr lang="en-US" altLang="ko-KR" sz="100" dirty="0"/>
          </a:p>
        </p:txBody>
      </p:sp>
    </p:spTree>
    <p:extLst>
      <p:ext uri="{BB962C8B-B14F-4D97-AF65-F5344CB8AC3E}">
        <p14:creationId xmlns:p14="http://schemas.microsoft.com/office/powerpoint/2010/main" val="222211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침입 탐지 </a:t>
            </a:r>
            <a:r>
              <a:rPr lang="ko-KR" altLang="en-US" dirty="0" smtClean="0"/>
              <a:t>시스템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074242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침입 탐지 </a:t>
            </a:r>
            <a:r>
              <a:rPr lang="ko-KR" altLang="en-US" dirty="0" smtClean="0"/>
              <a:t>시스템의 </a:t>
            </a:r>
            <a:r>
              <a:rPr lang="ko-KR" altLang="en-US" dirty="0"/>
              <a:t>주요 </a:t>
            </a:r>
            <a:r>
              <a:rPr lang="ko-KR" altLang="en-US" dirty="0" smtClean="0"/>
              <a:t>기능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 smtClean="0"/>
              <a:t>데이터 </a:t>
            </a:r>
            <a:r>
              <a:rPr lang="ko-KR" altLang="en-US" dirty="0" err="1"/>
              <a:t>필터링과</a:t>
            </a:r>
            <a:r>
              <a:rPr lang="ko-KR" altLang="en-US" dirty="0"/>
              <a:t> 축약 </a:t>
            </a:r>
            <a:endParaRPr lang="en-US" altLang="ko-KR" dirty="0" smtClean="0"/>
          </a:p>
          <a:p>
            <a:pPr lvl="2">
              <a:defRPr/>
            </a:pPr>
            <a:r>
              <a:rPr lang="en-US" altLang="ko-KR" dirty="0" smtClean="0"/>
              <a:t>HIDS</a:t>
            </a:r>
            <a:r>
              <a:rPr lang="ko-KR" altLang="en-US" dirty="0"/>
              <a:t>와 </a:t>
            </a:r>
            <a:r>
              <a:rPr lang="en-US" altLang="ko-KR" dirty="0"/>
              <a:t>NIDS</a:t>
            </a:r>
            <a:r>
              <a:rPr lang="ko-KR" altLang="en-US" dirty="0"/>
              <a:t>에 의해 수집된 침입 관련 데이터를 한곳에 모아 관리하면 </a:t>
            </a:r>
            <a:r>
              <a:rPr lang="ko-KR" altLang="en-US" dirty="0">
                <a:solidFill>
                  <a:srgbClr val="FF0000"/>
                </a:solidFill>
              </a:rPr>
              <a:t>데이터를 상호 </a:t>
            </a:r>
            <a:r>
              <a:rPr lang="ko-KR" altLang="en-US" dirty="0" smtClean="0">
                <a:solidFill>
                  <a:srgbClr val="FF0000"/>
                </a:solidFill>
              </a:rPr>
              <a:t>연관시켜 </a:t>
            </a:r>
            <a:r>
              <a:rPr lang="ko-KR" altLang="en-US" dirty="0">
                <a:solidFill>
                  <a:srgbClr val="FF0000"/>
                </a:solidFill>
              </a:rPr>
              <a:t>좀 </a:t>
            </a:r>
            <a:r>
              <a:rPr lang="ko-KR" altLang="en-US" dirty="0" smtClean="0">
                <a:solidFill>
                  <a:srgbClr val="FF0000"/>
                </a:solidFill>
              </a:rPr>
              <a:t>더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marL="447675" lvl="2" indent="0">
              <a:buNone/>
              <a:defRPr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효과적으로 분석</a:t>
            </a:r>
            <a:r>
              <a:rPr lang="ko-KR" altLang="en-US" dirty="0"/>
              <a:t>함으로써 공격에 빠르게 대응할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보안이 </a:t>
            </a:r>
            <a:r>
              <a:rPr lang="ko-KR" altLang="en-US" dirty="0">
                <a:solidFill>
                  <a:srgbClr val="FF0000"/>
                </a:solidFill>
              </a:rPr>
              <a:t>강화된 </a:t>
            </a:r>
            <a:r>
              <a:rPr lang="ko-KR" altLang="en-US" dirty="0" smtClean="0">
                <a:solidFill>
                  <a:srgbClr val="FF0000"/>
                </a:solidFill>
              </a:rPr>
              <a:t>시스템에 </a:t>
            </a:r>
            <a:r>
              <a:rPr lang="ko-KR" altLang="en-US" dirty="0">
                <a:solidFill>
                  <a:srgbClr val="FF0000"/>
                </a:solidFill>
              </a:rPr>
              <a:t>데이터를 보관</a:t>
            </a:r>
            <a:r>
              <a:rPr lang="ko-KR" altLang="en-US" dirty="0"/>
              <a:t>하여 침입으로 인한 손실을 막을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보안 </a:t>
            </a:r>
            <a:r>
              <a:rPr lang="ko-KR" altLang="en-US" dirty="0">
                <a:solidFill>
                  <a:srgbClr val="FF0000"/>
                </a:solidFill>
              </a:rPr>
              <a:t>감사</a:t>
            </a:r>
            <a:r>
              <a:rPr lang="ko-KR" altLang="en-US" dirty="0"/>
              <a:t>에서는 세밀하고 자세한 데이터보다 빠르고 정확하게 파악할 수 있는 데이터가 더 유용하므로 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데이터의 </a:t>
            </a:r>
            <a:r>
              <a:rPr lang="ko-KR" altLang="en-US" dirty="0"/>
              <a:t>효과적인 </a:t>
            </a:r>
            <a:r>
              <a:rPr lang="ko-KR" altLang="en-US" dirty="0" err="1">
                <a:solidFill>
                  <a:srgbClr val="FF0000"/>
                </a:solidFill>
              </a:rPr>
              <a:t>필터링과</a:t>
            </a:r>
            <a:r>
              <a:rPr lang="ko-KR" altLang="en-US" dirty="0">
                <a:solidFill>
                  <a:srgbClr val="FF0000"/>
                </a:solidFill>
              </a:rPr>
              <a:t> 축약이 </a:t>
            </a:r>
            <a:r>
              <a:rPr lang="ko-KR" altLang="en-US" dirty="0" smtClean="0">
                <a:solidFill>
                  <a:srgbClr val="FF0000"/>
                </a:solidFill>
              </a:rPr>
              <a:t>필수</a:t>
            </a:r>
            <a:endParaRPr lang="en-US" altLang="ko-KR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dirty="0"/>
              <a:t>효과적인 </a:t>
            </a:r>
            <a:r>
              <a:rPr lang="ko-KR" altLang="en-US" dirty="0" err="1"/>
              <a:t>필터링에는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데이터 수집 규칙을 설정</a:t>
            </a:r>
            <a:r>
              <a:rPr lang="ko-KR" altLang="en-US" dirty="0"/>
              <a:t>하는 작업 </a:t>
            </a:r>
            <a:r>
              <a:rPr lang="ko-KR" altLang="en-US" dirty="0" smtClean="0"/>
              <a:t>필요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>
                <a:solidFill>
                  <a:srgbClr val="FF0000"/>
                </a:solidFill>
              </a:rPr>
              <a:t>클리핑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레벨을 </a:t>
            </a:r>
            <a:r>
              <a:rPr lang="ko-KR" altLang="en-US" dirty="0">
                <a:solidFill>
                  <a:srgbClr val="FF0000"/>
                </a:solidFill>
              </a:rPr>
              <a:t>설정</a:t>
            </a:r>
            <a:r>
              <a:rPr lang="ko-KR" altLang="en-US" dirty="0"/>
              <a:t>하여 잘못된 패스워드로 일정 횟수 이상 접속하면 로그를 남기도록 하여 조정 </a:t>
            </a:r>
            <a:r>
              <a:rPr lang="ko-KR" altLang="en-US" dirty="0" smtClean="0"/>
              <a:t>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7789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침입 탐지 </a:t>
            </a:r>
            <a:r>
              <a:rPr lang="ko-KR" altLang="en-US" dirty="0" smtClean="0"/>
              <a:t>시스템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074242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침입 탐지 </a:t>
            </a:r>
            <a:r>
              <a:rPr lang="ko-KR" altLang="en-US" dirty="0" smtClean="0"/>
              <a:t>시스템의 </a:t>
            </a:r>
            <a:r>
              <a:rPr lang="ko-KR" altLang="en-US" dirty="0"/>
              <a:t>주요 </a:t>
            </a:r>
            <a:r>
              <a:rPr lang="ko-KR" altLang="en-US" dirty="0" smtClean="0"/>
              <a:t>기능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 smtClean="0"/>
              <a:t>침입 </a:t>
            </a:r>
            <a:r>
              <a:rPr lang="ko-KR" altLang="en-US" dirty="0"/>
              <a:t>탐지</a:t>
            </a:r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오용 탐지 </a:t>
            </a:r>
            <a:r>
              <a:rPr lang="ko-KR" altLang="en-US" dirty="0"/>
              <a:t>기법</a:t>
            </a:r>
          </a:p>
          <a:p>
            <a:pPr lvl="3">
              <a:defRPr/>
            </a:pPr>
            <a:r>
              <a:rPr lang="ko-KR" altLang="en-US" dirty="0">
                <a:solidFill>
                  <a:srgbClr val="FF0000"/>
                </a:solidFill>
              </a:rPr>
              <a:t>이미 발견되고 정립된 공격 패턴을 미리 </a:t>
            </a:r>
            <a:r>
              <a:rPr lang="ko-KR" altLang="en-US" dirty="0" smtClean="0">
                <a:solidFill>
                  <a:srgbClr val="FF0000"/>
                </a:solidFill>
              </a:rPr>
              <a:t>입력</a:t>
            </a:r>
            <a:r>
              <a:rPr lang="ko-KR" altLang="en-US" dirty="0" smtClean="0"/>
              <a:t>해 두었다가 </a:t>
            </a:r>
            <a:r>
              <a:rPr lang="ko-KR" altLang="en-US" dirty="0"/>
              <a:t>해당하는 패턴이 탐지되면 알려주는 </a:t>
            </a:r>
            <a:r>
              <a:rPr lang="ko-KR" altLang="en-US" dirty="0" smtClean="0"/>
              <a:t>것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비교적 </a:t>
            </a:r>
            <a:r>
              <a:rPr lang="ko-KR" altLang="en-US" dirty="0" err="1">
                <a:solidFill>
                  <a:srgbClr val="FF0000"/>
                </a:solidFill>
              </a:rPr>
              <a:t>오탐률이</a:t>
            </a:r>
            <a:r>
              <a:rPr lang="ko-KR" altLang="en-US" dirty="0">
                <a:solidFill>
                  <a:srgbClr val="FF0000"/>
                </a:solidFill>
              </a:rPr>
              <a:t> 낮고 </a:t>
            </a:r>
            <a:r>
              <a:rPr lang="ko-KR" altLang="en-US" dirty="0" smtClean="0">
                <a:solidFill>
                  <a:srgbClr val="FF0000"/>
                </a:solidFill>
              </a:rPr>
              <a:t>효율적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 smtClean="0"/>
              <a:t>알려진 </a:t>
            </a:r>
            <a:r>
              <a:rPr lang="ko-KR" altLang="en-US" dirty="0"/>
              <a:t>공격 외에는 탐지할 수 없고 대량 데이터를 분석하는 데는 </a:t>
            </a:r>
            <a:r>
              <a:rPr lang="ko-KR" altLang="en-US" dirty="0" smtClean="0"/>
              <a:t>부적합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어떤 </a:t>
            </a:r>
            <a:r>
              <a:rPr lang="ko-KR" altLang="en-US" dirty="0"/>
              <a:t>순서로 공격을 </a:t>
            </a:r>
            <a:r>
              <a:rPr lang="ko-KR" altLang="en-US" dirty="0" err="1"/>
              <a:t>실시했는지에</a:t>
            </a:r>
            <a:r>
              <a:rPr lang="ko-KR" altLang="en-US" dirty="0"/>
              <a:t> 대한 정보를 얻기 </a:t>
            </a:r>
            <a:r>
              <a:rPr lang="ko-KR" altLang="en-US" dirty="0" smtClean="0"/>
              <a:t>어려움</a:t>
            </a:r>
            <a:endParaRPr lang="en-US" altLang="ko-KR" dirty="0"/>
          </a:p>
          <a:p>
            <a:pPr lvl="3">
              <a:defRPr/>
            </a:pPr>
            <a:endParaRPr lang="en-US" altLang="ko-KR" sz="100" dirty="0" smtClean="0"/>
          </a:p>
          <a:p>
            <a:pPr lvl="3">
              <a:defRPr/>
            </a:pPr>
            <a:r>
              <a:rPr lang="ko-KR" altLang="en-US" dirty="0" smtClean="0"/>
              <a:t>상태 전이</a:t>
            </a:r>
            <a:r>
              <a:rPr lang="en-US" altLang="ko-KR" dirty="0" smtClean="0"/>
              <a:t> </a:t>
            </a:r>
            <a:r>
              <a:rPr lang="ko-KR" altLang="en-US" dirty="0" smtClean="0"/>
              <a:t>방법</a:t>
            </a:r>
            <a:endParaRPr lang="en-US" altLang="ko-KR" dirty="0" smtClean="0"/>
          </a:p>
          <a:p>
            <a:pPr marL="900000" lvl="3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공격 </a:t>
            </a:r>
            <a:r>
              <a:rPr lang="ko-KR" altLang="en-US" dirty="0">
                <a:solidFill>
                  <a:srgbClr val="FF0000"/>
                </a:solidFill>
              </a:rPr>
              <a:t>상황에 대한 시나리오를 </a:t>
            </a:r>
            <a:r>
              <a:rPr lang="ko-KR" altLang="en-US" dirty="0" smtClean="0">
                <a:solidFill>
                  <a:srgbClr val="FF0000"/>
                </a:solidFill>
              </a:rPr>
              <a:t>작성</a:t>
            </a:r>
            <a:r>
              <a:rPr lang="ko-KR" altLang="en-US" dirty="0" smtClean="0"/>
              <a:t>해 두고 </a:t>
            </a:r>
            <a:r>
              <a:rPr lang="ko-KR" altLang="en-US" dirty="0"/>
              <a:t>각각의 상태에 따른 공격을 분석하는 </a:t>
            </a:r>
            <a:r>
              <a:rPr lang="ko-KR" altLang="en-US" dirty="0" smtClean="0"/>
              <a:t>것</a:t>
            </a:r>
            <a:endParaRPr lang="en-US" altLang="ko-KR" dirty="0" smtClean="0"/>
          </a:p>
          <a:p>
            <a:pPr marL="900000" lvl="3">
              <a:defRPr/>
            </a:pPr>
            <a:r>
              <a:rPr lang="ko-KR" altLang="en-US" dirty="0"/>
              <a:t>결과가 매우 직관적이지만 세밀한 시나리오를 만들기가 어렵고 </a:t>
            </a:r>
            <a:r>
              <a:rPr lang="ko-KR" altLang="en-US" dirty="0">
                <a:solidFill>
                  <a:srgbClr val="FF0000"/>
                </a:solidFill>
              </a:rPr>
              <a:t>추론 엔진이 포함되어 시스템에 부하 가능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>
              <a:defRPr/>
            </a:pP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이상 </a:t>
            </a:r>
            <a:r>
              <a:rPr lang="ko-KR" altLang="en-US" dirty="0">
                <a:solidFill>
                  <a:srgbClr val="FF0000"/>
                </a:solidFill>
              </a:rPr>
              <a:t>탐지 </a:t>
            </a:r>
            <a:r>
              <a:rPr lang="ko-KR" altLang="en-US" dirty="0"/>
              <a:t>기법</a:t>
            </a:r>
          </a:p>
          <a:p>
            <a:pPr lvl="3">
              <a:defRPr/>
            </a:pPr>
            <a:r>
              <a:rPr lang="ko-KR" altLang="en-US" dirty="0"/>
              <a:t>정상적이고 평균적인 상태를 기준으로 </a:t>
            </a:r>
            <a:r>
              <a:rPr lang="ko-KR" altLang="en-US" dirty="0">
                <a:solidFill>
                  <a:srgbClr val="FF0000"/>
                </a:solidFill>
              </a:rPr>
              <a:t>급격한 변화</a:t>
            </a:r>
            <a:r>
              <a:rPr lang="ko-KR" altLang="en-US" dirty="0"/>
              <a:t>를 일으키거나 </a:t>
            </a:r>
            <a:r>
              <a:rPr lang="ko-KR" altLang="en-US" dirty="0">
                <a:solidFill>
                  <a:srgbClr val="FF0000"/>
                </a:solidFill>
              </a:rPr>
              <a:t>확률이 낮은 일이 발생</a:t>
            </a:r>
            <a:r>
              <a:rPr lang="ko-KR" altLang="en-US" dirty="0"/>
              <a:t>하면 알려주는 </a:t>
            </a:r>
            <a:r>
              <a:rPr lang="ko-KR" altLang="en-US" dirty="0" smtClean="0"/>
              <a:t>것</a:t>
            </a:r>
            <a:endParaRPr lang="en-US" altLang="ko-KR" dirty="0"/>
          </a:p>
          <a:p>
            <a:pPr lvl="3">
              <a:defRPr/>
            </a:pPr>
            <a:r>
              <a:rPr lang="ko-KR" altLang="en-US" dirty="0">
                <a:solidFill>
                  <a:srgbClr val="FF0000"/>
                </a:solidFill>
              </a:rPr>
              <a:t>인공지능 침입 탐지 시스템</a:t>
            </a:r>
            <a:r>
              <a:rPr lang="ko-KR" altLang="en-US" dirty="0"/>
              <a:t>은 스스로 공격을 판단하고 결정을 내려 알려주지만</a:t>
            </a:r>
            <a:r>
              <a:rPr lang="en-US" altLang="ko-KR" dirty="0"/>
              <a:t>, </a:t>
            </a:r>
            <a:r>
              <a:rPr lang="ko-KR" altLang="en-US" dirty="0"/>
              <a:t>판단 근거가 확실치 않고 </a:t>
            </a:r>
            <a:r>
              <a:rPr lang="ko-KR" altLang="en-US" dirty="0" err="1">
                <a:solidFill>
                  <a:srgbClr val="FF0000"/>
                </a:solidFill>
              </a:rPr>
              <a:t>오탐률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높음</a:t>
            </a:r>
            <a:endParaRPr lang="en-US" altLang="ko-KR" dirty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>
                <a:solidFill>
                  <a:srgbClr val="FF0000"/>
                </a:solidFill>
              </a:rPr>
              <a:t>면역 시스템</a:t>
            </a:r>
            <a:r>
              <a:rPr lang="ko-KR" altLang="en-US" dirty="0"/>
              <a:t>은 새로운 공격을 당하면 스스로 학습하여 다시 그 공격이 발생하면 </a:t>
            </a:r>
            <a:r>
              <a:rPr lang="ko-KR" altLang="en-US" dirty="0" smtClean="0"/>
              <a:t>대응함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재설치를 </a:t>
            </a:r>
            <a:r>
              <a:rPr lang="ko-KR" altLang="en-US" dirty="0"/>
              <a:t>하면 처음 상태로 되돌아가는 것이 </a:t>
            </a:r>
            <a:r>
              <a:rPr lang="ko-KR" altLang="en-US" dirty="0" smtClean="0"/>
              <a:t>단점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인공지능과 면역 시스템은 아직 개발 단계로 다른 침입 탐지 시스템과 병행하는 형태로만 운용되고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0219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침입 탐지 </a:t>
            </a:r>
            <a:r>
              <a:rPr lang="ko-KR" altLang="en-US" dirty="0" smtClean="0"/>
              <a:t>시스템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침입 탐지 </a:t>
            </a:r>
            <a:r>
              <a:rPr lang="ko-KR" altLang="en-US" dirty="0" smtClean="0"/>
              <a:t>시스템의 </a:t>
            </a:r>
            <a:r>
              <a:rPr lang="ko-KR" altLang="en-US" dirty="0"/>
              <a:t>주요 </a:t>
            </a:r>
            <a:r>
              <a:rPr lang="ko-KR" altLang="en-US" dirty="0" smtClean="0"/>
              <a:t>기능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 smtClean="0"/>
              <a:t>책임 </a:t>
            </a:r>
            <a:r>
              <a:rPr lang="ko-KR" altLang="en-US" dirty="0"/>
              <a:t>추적 및 대응</a:t>
            </a:r>
          </a:p>
          <a:p>
            <a:pPr lvl="2">
              <a:defRPr/>
            </a:pPr>
            <a:r>
              <a:rPr lang="ko-KR" altLang="en-US" dirty="0"/>
              <a:t>침입 탐지 시스템은 기본적으로 침입을 알려주는 </a:t>
            </a:r>
            <a:r>
              <a:rPr lang="ko-KR" altLang="en-US" dirty="0" smtClean="0"/>
              <a:t>시스템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과거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ko-KR" altLang="en-US" dirty="0"/>
              <a:t>침입에 대한 </a:t>
            </a:r>
            <a:r>
              <a:rPr lang="ko-KR" altLang="en-US" dirty="0" smtClean="0">
                <a:solidFill>
                  <a:srgbClr val="FF0000"/>
                </a:solidFill>
              </a:rPr>
              <a:t>능동적인 </a:t>
            </a:r>
            <a:r>
              <a:rPr lang="ko-KR" altLang="en-US" dirty="0">
                <a:solidFill>
                  <a:srgbClr val="FF0000"/>
                </a:solidFill>
              </a:rPr>
              <a:t>기능이 별로 없고 </a:t>
            </a:r>
            <a:r>
              <a:rPr lang="ko-KR" altLang="en-US" dirty="0"/>
              <a:t>공격을 발견하면 관리자에게 </a:t>
            </a:r>
            <a:r>
              <a:rPr lang="ko-KR" altLang="en-US" dirty="0" err="1"/>
              <a:t>알람</a:t>
            </a:r>
            <a:r>
              <a:rPr lang="ko-KR" altLang="en-US" dirty="0"/>
              <a:t> 등의 방법으로 </a:t>
            </a:r>
            <a:r>
              <a:rPr lang="ko-KR" altLang="en-US" dirty="0" smtClean="0"/>
              <a:t>알림</a:t>
            </a:r>
            <a:endParaRPr lang="en-US" altLang="ko-KR" dirty="0"/>
          </a:p>
          <a:p>
            <a:pPr lvl="2">
              <a:defRPr/>
            </a:pPr>
            <a:r>
              <a:rPr lang="ko-KR" altLang="en-US" dirty="0" smtClean="0"/>
              <a:t>최근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ko-KR" altLang="en-US" dirty="0"/>
              <a:t>공격을 역추적하여 침입자의 시스템이나 네트워크를 사용하지 못하게 하는 </a:t>
            </a:r>
            <a:r>
              <a:rPr lang="ko-KR" altLang="en-US" dirty="0">
                <a:solidFill>
                  <a:srgbClr val="FF0000"/>
                </a:solidFill>
              </a:rPr>
              <a:t>능동적인 기능이 많이 </a:t>
            </a:r>
            <a:r>
              <a:rPr lang="ko-KR" altLang="en-US" dirty="0" smtClean="0">
                <a:solidFill>
                  <a:srgbClr val="FF0000"/>
                </a:solidFill>
              </a:rPr>
              <a:t>추가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침입 </a:t>
            </a:r>
            <a:r>
              <a:rPr lang="ko-KR" altLang="en-US" dirty="0">
                <a:solidFill>
                  <a:srgbClr val="FF0000"/>
                </a:solidFill>
              </a:rPr>
              <a:t>방지 시스템</a:t>
            </a:r>
            <a:r>
              <a:rPr lang="en-US" altLang="ko-KR" dirty="0">
                <a:solidFill>
                  <a:srgbClr val="FF0000"/>
                </a:solidFill>
              </a:rPr>
              <a:t>(IPS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r>
              <a:rPr lang="en-US" altLang="ko-KR" dirty="0" smtClean="0"/>
              <a:t>: </a:t>
            </a:r>
            <a:r>
              <a:rPr lang="ko-KR" altLang="en-US" dirty="0"/>
              <a:t>능동적인 기능을 많이 탑재한 침입 탐지 </a:t>
            </a:r>
            <a:r>
              <a:rPr lang="ko-KR" altLang="en-US" dirty="0" smtClean="0"/>
              <a:t>시스템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97896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침입 탐지 </a:t>
            </a:r>
            <a:r>
              <a:rPr lang="ko-KR" altLang="en-US" dirty="0" smtClean="0"/>
              <a:t>시스템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설치 </a:t>
            </a:r>
            <a:r>
              <a:rPr lang="ko-KR" altLang="en-US" dirty="0" smtClean="0"/>
              <a:t>위치</a:t>
            </a:r>
            <a:endParaRPr lang="en-US" altLang="ko-KR" dirty="0" smtClean="0"/>
          </a:p>
          <a:p>
            <a:pPr lvl="1">
              <a:lnSpc>
                <a:spcPct val="200000"/>
              </a:lnSpc>
              <a:defRPr/>
            </a:pP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860478"/>
            <a:ext cx="5328592" cy="466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8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침입 탐지 </a:t>
            </a:r>
            <a:r>
              <a:rPr lang="ko-KR" altLang="en-US" dirty="0" smtClean="0"/>
              <a:t>시스템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434282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침입 탐지 </a:t>
            </a:r>
            <a:r>
              <a:rPr lang="ko-KR" altLang="en-US" dirty="0" smtClean="0"/>
              <a:t>시스템의 </a:t>
            </a:r>
            <a:r>
              <a:rPr lang="ko-KR" altLang="en-US" dirty="0"/>
              <a:t>주요 </a:t>
            </a:r>
            <a:r>
              <a:rPr lang="ko-KR" altLang="en-US" dirty="0" smtClean="0"/>
              <a:t>기능</a:t>
            </a:r>
            <a:endParaRPr lang="en-US" altLang="ko-KR" dirty="0" smtClean="0"/>
          </a:p>
          <a:p>
            <a:pPr marL="609600" lvl="1" indent="-342900">
              <a:buFont typeface="+mj-ea"/>
              <a:buAutoNum type="circleNumDbPlain"/>
              <a:defRPr/>
            </a:pPr>
            <a:r>
              <a:rPr lang="ko-KR" altLang="en-US" dirty="0"/>
              <a:t>패킷이 라우터로 들어오기 전</a:t>
            </a:r>
          </a:p>
          <a:p>
            <a:pPr lvl="2">
              <a:defRPr/>
            </a:pPr>
            <a:r>
              <a:rPr lang="ko-KR" altLang="en-US" dirty="0"/>
              <a:t>네트워크에 실행되는 모든 공격 탐지 </a:t>
            </a:r>
            <a:r>
              <a:rPr lang="ko-KR" altLang="en-US" dirty="0" smtClean="0"/>
              <a:t>가능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공격 의도를 가진 패킷을 미리 파악할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공격이 </a:t>
            </a:r>
            <a:r>
              <a:rPr lang="ko-KR" altLang="en-US" dirty="0"/>
              <a:t>아닌 패킷을 너무 많이 </a:t>
            </a:r>
            <a:r>
              <a:rPr lang="ko-KR" altLang="en-US" dirty="0" smtClean="0"/>
              <a:t>수집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내부 </a:t>
            </a:r>
            <a:r>
              <a:rPr lang="ko-KR" altLang="en-US" dirty="0"/>
              <a:t>네트워크로 침입한 공격과 그렇지 않은 것이 구분되지 않아 </a:t>
            </a:r>
            <a:r>
              <a:rPr lang="ko-KR" altLang="en-US" dirty="0" smtClean="0"/>
              <a:t>효율적인 </a:t>
            </a:r>
            <a:r>
              <a:rPr lang="ko-KR" altLang="en-US" dirty="0"/>
              <a:t>대응이 </a:t>
            </a:r>
            <a:r>
              <a:rPr lang="ko-KR" altLang="en-US" dirty="0" smtClean="0"/>
              <a:t>어려움</a:t>
            </a: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marL="609600" lvl="1" indent="-342900">
              <a:buFont typeface="+mj-ea"/>
              <a:buAutoNum type="circleNumDbPlain"/>
              <a:defRPr/>
            </a:pPr>
            <a:r>
              <a:rPr lang="ko-KR" altLang="en-US" dirty="0" smtClean="0"/>
              <a:t>라우터 </a:t>
            </a:r>
            <a:r>
              <a:rPr lang="ko-KR" altLang="en-US" dirty="0"/>
              <a:t>뒤</a:t>
            </a:r>
          </a:p>
          <a:p>
            <a:pPr lvl="2">
              <a:defRPr/>
            </a:pPr>
            <a:r>
              <a:rPr lang="ko-KR" altLang="en-US" dirty="0"/>
              <a:t>라우터의 패킷 </a:t>
            </a:r>
            <a:r>
              <a:rPr lang="ko-KR" altLang="en-US" dirty="0" err="1"/>
              <a:t>필터링을</a:t>
            </a:r>
            <a:r>
              <a:rPr lang="ko-KR" altLang="en-US" dirty="0"/>
              <a:t> 거친 패킷 </a:t>
            </a:r>
            <a:r>
              <a:rPr lang="ko-KR" altLang="en-US" dirty="0" smtClean="0"/>
              <a:t>검사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패킷 </a:t>
            </a:r>
            <a:r>
              <a:rPr lang="ko-KR" altLang="en-US" dirty="0" err="1"/>
              <a:t>필터링</a:t>
            </a:r>
            <a:r>
              <a:rPr lang="ko-KR" altLang="en-US" dirty="0"/>
              <a:t> 과정에서 단순한 공격 패킷이 걸러지므로 더 강력한 의지를 가진 공격자 탐지 </a:t>
            </a:r>
            <a:r>
              <a:rPr lang="ko-KR" altLang="en-US" dirty="0" smtClean="0"/>
              <a:t>가능</a:t>
            </a: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marL="609600" lvl="1" indent="-342900">
              <a:buFont typeface="+mj-ea"/>
              <a:buAutoNum type="circleNumDbPlain"/>
              <a:defRPr/>
            </a:pPr>
            <a:r>
              <a:rPr lang="ko-KR" altLang="en-US" dirty="0" smtClean="0"/>
              <a:t>방화벽 </a:t>
            </a:r>
            <a:r>
              <a:rPr lang="ko-KR" altLang="en-US" dirty="0"/>
              <a:t>뒤</a:t>
            </a:r>
          </a:p>
          <a:p>
            <a:pPr lvl="2">
              <a:defRPr/>
            </a:pPr>
            <a:r>
              <a:rPr lang="ko-KR" altLang="en-US" dirty="0"/>
              <a:t>방화벽 뒤에서 탐지되는 공격은 네트워크에 직접 영향을 주므로 공격에 대한 정책과 방화벽 연동성이 가장 </a:t>
            </a:r>
            <a:r>
              <a:rPr lang="ko-KR" altLang="en-US" dirty="0" smtClean="0"/>
              <a:t>중요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내부에서 외부로 향하는 공격도 탐지할 수 있어 내부 공격자도 어느 정도 탐지 </a:t>
            </a:r>
            <a:r>
              <a:rPr lang="ko-KR" altLang="en-US" dirty="0" smtClean="0"/>
              <a:t>가능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침입 탐지 시스템을 </a:t>
            </a:r>
            <a:r>
              <a:rPr lang="ko-KR" altLang="en-US" dirty="0">
                <a:solidFill>
                  <a:srgbClr val="FF0000"/>
                </a:solidFill>
              </a:rPr>
              <a:t>한 대만 설치</a:t>
            </a:r>
            <a:r>
              <a:rPr lang="ko-KR" altLang="en-US" dirty="0"/>
              <a:t>할 수 있다면 이곳에 설치하는 것이 좋음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15508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침입 탐지 </a:t>
            </a:r>
            <a:r>
              <a:rPr lang="ko-KR" altLang="en-US" dirty="0" smtClean="0"/>
              <a:t>시스템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434282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침입 탐지 </a:t>
            </a:r>
            <a:r>
              <a:rPr lang="ko-KR" altLang="en-US" dirty="0" smtClean="0"/>
              <a:t>시스템의 </a:t>
            </a:r>
            <a:r>
              <a:rPr lang="ko-KR" altLang="en-US" dirty="0"/>
              <a:t>주요 </a:t>
            </a:r>
            <a:r>
              <a:rPr lang="ko-KR" altLang="en-US" dirty="0" smtClean="0"/>
              <a:t>기능</a:t>
            </a:r>
            <a:endParaRPr lang="en-US" altLang="ko-KR" dirty="0" smtClean="0"/>
          </a:p>
          <a:p>
            <a:pPr marL="609600" lvl="1" indent="-342900">
              <a:buFont typeface="+mj-ea"/>
              <a:buAutoNum type="circleNumDbPlain" startAt="4"/>
              <a:defRPr/>
            </a:pPr>
            <a:r>
              <a:rPr lang="ko-KR" altLang="en-US" dirty="0"/>
              <a:t>내부 네트워크</a:t>
            </a:r>
          </a:p>
          <a:p>
            <a:pPr lvl="2">
              <a:defRPr/>
            </a:pPr>
            <a:r>
              <a:rPr lang="ko-KR" altLang="en-US" dirty="0"/>
              <a:t>내부의 클라이언트를 신뢰할 수 없어 내부 네트워크 해킹을 감시하려 할 때 </a:t>
            </a:r>
            <a:r>
              <a:rPr lang="ko-KR" altLang="en-US" dirty="0" smtClean="0"/>
              <a:t>설치</a:t>
            </a: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marL="609600" lvl="1" indent="-342900">
              <a:buFont typeface="+mj-ea"/>
              <a:buAutoNum type="circleNumDbPlain" startAt="4"/>
              <a:defRPr/>
            </a:pPr>
            <a:r>
              <a:rPr lang="en-US" altLang="ko-KR" dirty="0" smtClean="0"/>
              <a:t>DMZ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DMZ</a:t>
            </a:r>
            <a:r>
              <a:rPr lang="ko-KR" altLang="en-US" dirty="0"/>
              <a:t>에 침입 탐지 시스템을 설치하는 이유는 능력이 매우 뛰어난 외부 및 내부 공격자에 의한 중요 </a:t>
            </a:r>
            <a:r>
              <a:rPr lang="ko-KR" altLang="en-US" dirty="0" smtClean="0"/>
              <a:t>데이터의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r>
              <a:rPr lang="ko-KR" altLang="en-US" dirty="0" smtClean="0"/>
              <a:t>   손실이나 </a:t>
            </a:r>
            <a:r>
              <a:rPr lang="ko-KR" altLang="en-US" dirty="0"/>
              <a:t>서비스 중단을 막기 </a:t>
            </a:r>
            <a:r>
              <a:rPr lang="ko-KR" altLang="en-US" dirty="0" smtClean="0"/>
              <a:t>위함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중요 데이터와 자원을 보호하기 위해 침입 탐지 시스템을 별도로 운영하기도 </a:t>
            </a:r>
            <a:r>
              <a:rPr lang="ko-KR" altLang="en-US" dirty="0" smtClean="0"/>
              <a:t>함</a:t>
            </a: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 smtClean="0"/>
              <a:t>그 외 설치 관련 정보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침입 탐지 시스템의 설치 우선순위</a:t>
            </a:r>
            <a:r>
              <a:rPr lang="ko-KR" altLang="en-US" dirty="0"/>
              <a:t>는 </a:t>
            </a:r>
            <a:r>
              <a:rPr lang="ko-KR" altLang="en-US" dirty="0">
                <a:solidFill>
                  <a:srgbClr val="009BA8"/>
                </a:solidFill>
              </a:rPr>
              <a:t>❸</a:t>
            </a:r>
            <a:r>
              <a:rPr lang="ko-KR" altLang="en-US" dirty="0"/>
              <a:t> → </a:t>
            </a:r>
            <a:r>
              <a:rPr lang="ko-KR" altLang="en-US" dirty="0">
                <a:solidFill>
                  <a:srgbClr val="009BA8"/>
                </a:solidFill>
              </a:rPr>
              <a:t>❺</a:t>
            </a:r>
            <a:r>
              <a:rPr lang="ko-KR" altLang="en-US" dirty="0"/>
              <a:t> → </a:t>
            </a:r>
            <a:r>
              <a:rPr lang="ko-KR" altLang="en-US" dirty="0">
                <a:solidFill>
                  <a:srgbClr val="009BA8"/>
                </a:solidFill>
              </a:rPr>
              <a:t>❹</a:t>
            </a:r>
            <a:r>
              <a:rPr lang="ko-KR" altLang="en-US" dirty="0"/>
              <a:t> → </a:t>
            </a:r>
            <a:r>
              <a:rPr lang="ko-KR" altLang="en-US" dirty="0">
                <a:solidFill>
                  <a:srgbClr val="009BA8"/>
                </a:solidFill>
              </a:rPr>
              <a:t>❷</a:t>
            </a:r>
            <a:r>
              <a:rPr lang="ko-KR" altLang="en-US" dirty="0"/>
              <a:t> →</a:t>
            </a:r>
            <a:r>
              <a:rPr lang="ko-KR" altLang="en-US" dirty="0">
                <a:solidFill>
                  <a:srgbClr val="009BA8"/>
                </a:solidFill>
              </a:rPr>
              <a:t> ❶</a:t>
            </a:r>
          </a:p>
          <a:p>
            <a:pPr lvl="2">
              <a:defRPr/>
            </a:pPr>
            <a:r>
              <a:rPr lang="ko-KR" altLang="en-US" dirty="0"/>
              <a:t>네트워크의 목적에 따라 중간에 </a:t>
            </a:r>
            <a:r>
              <a:rPr lang="en-US" altLang="ko-KR" dirty="0"/>
              <a:t>NIDS</a:t>
            </a:r>
            <a:r>
              <a:rPr lang="ko-KR" altLang="en-US" dirty="0"/>
              <a:t>를 선택적으로 설치 </a:t>
            </a:r>
            <a:r>
              <a:rPr lang="ko-KR" altLang="en-US" dirty="0" smtClean="0"/>
              <a:t>가능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HIDS</a:t>
            </a:r>
            <a:r>
              <a:rPr lang="ko-KR" altLang="en-US" dirty="0"/>
              <a:t>는 유지</a:t>
            </a:r>
            <a:r>
              <a:rPr lang="en-US" altLang="ko-KR" dirty="0"/>
              <a:t>, </a:t>
            </a:r>
            <a:r>
              <a:rPr lang="ko-KR" altLang="en-US" dirty="0"/>
              <a:t>관리 비용이 너무 많이 들어서 웹 서버와 같이 사업을 유지하는 매우 중요한 시스템에만 설치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057132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침입 </a:t>
            </a:r>
            <a:r>
              <a:rPr lang="ko-KR" altLang="en-US" dirty="0"/>
              <a:t>방지 시스템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506290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 smtClean="0"/>
              <a:t>침입 </a:t>
            </a:r>
            <a:r>
              <a:rPr lang="ko-KR" altLang="en-US" dirty="0"/>
              <a:t>방지 시스템의 개발 </a:t>
            </a:r>
            <a:r>
              <a:rPr lang="ko-KR" altLang="en-US" dirty="0" smtClean="0"/>
              <a:t>과정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방화벽은 </a:t>
            </a:r>
            <a:r>
              <a:rPr lang="en-US" altLang="ko-KR" dirty="0"/>
              <a:t>IP </a:t>
            </a:r>
            <a:r>
              <a:rPr lang="ko-KR" altLang="en-US" dirty="0"/>
              <a:t>주소나 포트에 의한 네트워크 공격을 차단할 수 있지만 응용 프로그램 수준의 공격과 새로운 패턴의 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r>
              <a:rPr lang="en-US" altLang="ko-KR" sz="1050" dirty="0"/>
              <a:t> </a:t>
            </a:r>
            <a:r>
              <a:rPr lang="en-US" altLang="ko-KR" sz="1050" dirty="0" smtClean="0"/>
              <a:t>   </a:t>
            </a:r>
            <a:r>
              <a:rPr lang="ko-KR" altLang="en-US" dirty="0" smtClean="0"/>
              <a:t>공격에 </a:t>
            </a:r>
            <a:r>
              <a:rPr lang="ko-KR" altLang="en-US" dirty="0"/>
              <a:t>대한 적응력이 무척 낮고 실시간 대응을 할 수도 </a:t>
            </a:r>
            <a:r>
              <a:rPr lang="ko-KR" altLang="en-US" dirty="0" smtClean="0"/>
              <a:t>없음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침입 탐지 시스템은 실시간 탐지는 가능하지만 대응책을 제시하지 못하기 때문에 대안 </a:t>
            </a:r>
            <a:r>
              <a:rPr lang="ko-KR" altLang="en-US" dirty="0" smtClean="0"/>
              <a:t>필요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방화벽과 침입 탐지 시스템만으로 해킹</a:t>
            </a:r>
            <a:r>
              <a:rPr lang="en-US" altLang="ko-KR" dirty="0"/>
              <a:t>, </a:t>
            </a:r>
            <a:r>
              <a:rPr lang="ko-KR" altLang="en-US" dirty="0"/>
              <a:t>바이러스</a:t>
            </a:r>
            <a:r>
              <a:rPr lang="en-US" altLang="ko-KR" dirty="0"/>
              <a:t>, </a:t>
            </a:r>
            <a:r>
              <a:rPr lang="ko-KR" altLang="en-US" dirty="0"/>
              <a:t>웜 공격을 막을 수 없는 것은 속도 </a:t>
            </a:r>
            <a:r>
              <a:rPr lang="ko-KR" altLang="en-US" dirty="0" smtClean="0"/>
              <a:t>때문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취약점 발표 후 실제 공격까지 하루가 채 걸리지 않는 </a:t>
            </a:r>
            <a:r>
              <a:rPr lang="ko-KR" altLang="en-US" dirty="0" err="1">
                <a:solidFill>
                  <a:srgbClr val="FF0000"/>
                </a:solidFill>
              </a:rPr>
              <a:t>제로데이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공격</a:t>
            </a:r>
            <a:r>
              <a:rPr lang="ko-KR" altLang="en-US" dirty="0" smtClean="0"/>
              <a:t>이 많음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6934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침입 </a:t>
            </a:r>
            <a:r>
              <a:rPr lang="ko-KR" altLang="en-US" dirty="0"/>
              <a:t>방지 시스템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506290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 smtClean="0"/>
              <a:t>침입 </a:t>
            </a:r>
            <a:r>
              <a:rPr lang="ko-KR" altLang="en-US" dirty="0"/>
              <a:t>방지 시스템의 동작 </a:t>
            </a:r>
            <a:r>
              <a:rPr lang="ko-KR" altLang="en-US" dirty="0" smtClean="0"/>
              <a:t>원리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침입 방지 시스템은 </a:t>
            </a:r>
            <a:r>
              <a:rPr lang="ko-KR" altLang="en-US" dirty="0">
                <a:solidFill>
                  <a:srgbClr val="FF0000"/>
                </a:solidFill>
              </a:rPr>
              <a:t>침입 탐지 시스템과 방화벽의 </a:t>
            </a:r>
            <a:r>
              <a:rPr lang="ko-KR" altLang="en-US" dirty="0" smtClean="0">
                <a:solidFill>
                  <a:srgbClr val="FF0000"/>
                </a:solidFill>
              </a:rPr>
              <a:t>조합</a:t>
            </a:r>
            <a:endParaRPr lang="en-US" altLang="ko-KR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dirty="0"/>
              <a:t>침입 탐지 기능을 수행하는 모듈이 패킷 하나하나를 </a:t>
            </a:r>
            <a:r>
              <a:rPr lang="ko-KR" altLang="en-US" dirty="0" smtClean="0"/>
              <a:t>검사하여 분석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정상적이지 </a:t>
            </a:r>
            <a:r>
              <a:rPr lang="ko-KR" altLang="en-US" dirty="0"/>
              <a:t>않으면 방화벽 기능의 모듈로 패킷 차단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3212976"/>
            <a:ext cx="4788024" cy="322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52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침입 </a:t>
            </a:r>
            <a:r>
              <a:rPr lang="ko-KR" altLang="en-US" dirty="0"/>
              <a:t>방지 시스템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 smtClean="0"/>
              <a:t>침입 </a:t>
            </a:r>
            <a:r>
              <a:rPr lang="ko-KR" altLang="en-US" dirty="0"/>
              <a:t>방지 시스템의 동작 </a:t>
            </a:r>
            <a:r>
              <a:rPr lang="ko-KR" altLang="en-US" dirty="0" smtClean="0"/>
              <a:t>원리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웜이나 악성 코드의 종류와 공격 기술이 다양해지면서 코드나 패킷 분석으로 </a:t>
            </a:r>
            <a:r>
              <a:rPr lang="ko-KR" altLang="en-US" dirty="0" smtClean="0"/>
              <a:t>탐지해서 공격을 막기 </a:t>
            </a:r>
            <a:r>
              <a:rPr lang="ko-KR" altLang="en-US" dirty="0" err="1" smtClean="0"/>
              <a:t>어려워짐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침입 방지 시스템에 </a:t>
            </a:r>
            <a:r>
              <a:rPr lang="ko-KR" altLang="en-US" dirty="0">
                <a:solidFill>
                  <a:srgbClr val="FF0000"/>
                </a:solidFill>
              </a:rPr>
              <a:t>가상 </a:t>
            </a:r>
            <a:r>
              <a:rPr lang="ko-KR" altLang="en-US" dirty="0" err="1" smtClean="0">
                <a:solidFill>
                  <a:srgbClr val="FF0000"/>
                </a:solidFill>
              </a:rPr>
              <a:t>머신을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이용한 악성 코드 탐지 개념을 </a:t>
            </a:r>
            <a:r>
              <a:rPr lang="ko-KR" altLang="en-US" dirty="0" smtClean="0">
                <a:solidFill>
                  <a:srgbClr val="FF0000"/>
                </a:solidFill>
              </a:rPr>
              <a:t>도입</a:t>
            </a:r>
            <a:r>
              <a:rPr lang="ko-KR" altLang="en-US" dirty="0" smtClean="0"/>
              <a:t>하여 적용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가상 </a:t>
            </a:r>
            <a:r>
              <a:rPr lang="ko-KR" altLang="en-US" dirty="0" err="1"/>
              <a:t>머신에서</a:t>
            </a:r>
            <a:r>
              <a:rPr lang="ko-KR" altLang="en-US" dirty="0"/>
              <a:t> 실행된 코드나 패킷이 키보드 해킹이나 무차별 </a:t>
            </a:r>
            <a:r>
              <a:rPr lang="ko-KR" altLang="en-US" dirty="0" smtClean="0"/>
              <a:t>네트 </a:t>
            </a:r>
            <a:r>
              <a:rPr lang="ko-KR" altLang="en-US" dirty="0"/>
              <a:t>크 트래픽 생성 등 악성 코드와 유사한 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동작을 </a:t>
            </a:r>
            <a:r>
              <a:rPr lang="ko-KR" altLang="en-US" dirty="0"/>
              <a:t>보이면 해당 패킷을 차단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3478455"/>
            <a:ext cx="4788024" cy="269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0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침입 </a:t>
            </a:r>
            <a:r>
              <a:rPr lang="ko-KR" altLang="en-US" dirty="0"/>
              <a:t>방지 시스템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침입 방지 시스템의 </a:t>
            </a:r>
            <a:r>
              <a:rPr lang="ko-KR" altLang="en-US" dirty="0" smtClean="0"/>
              <a:t>설치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침입 방지 시스템은 일반적으로 </a:t>
            </a:r>
            <a:r>
              <a:rPr lang="ko-KR" altLang="en-US" dirty="0">
                <a:solidFill>
                  <a:srgbClr val="FF0000"/>
                </a:solidFill>
              </a:rPr>
              <a:t>방화벽 다음에 </a:t>
            </a:r>
            <a:r>
              <a:rPr lang="ko-KR" altLang="en-US" dirty="0" smtClean="0">
                <a:solidFill>
                  <a:srgbClr val="FF0000"/>
                </a:solidFill>
              </a:rPr>
              <a:t>설치</a:t>
            </a:r>
            <a:endParaRPr lang="en-US" altLang="ko-KR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dirty="0"/>
              <a:t>방화벽이 네트워크 앞부분에서 불필요한 외부 패킷을 한 번 걸러주어 더 효율적으로 패킷 검사 </a:t>
            </a:r>
            <a:r>
              <a:rPr lang="ko-KR" altLang="en-US" dirty="0" smtClean="0"/>
              <a:t>가능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방화벽 없이 침입 방지 시스템만 설치하기도 </a:t>
            </a:r>
            <a:r>
              <a:rPr lang="ko-KR" altLang="en-US" dirty="0" smtClean="0"/>
              <a:t>함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하드웨어 칩으로 만든 </a:t>
            </a:r>
            <a:r>
              <a:rPr lang="en-US" altLang="ko-KR" dirty="0" smtClean="0"/>
              <a:t>ASIC</a:t>
            </a:r>
            <a:r>
              <a:rPr lang="ko-KR" altLang="en-US" dirty="0" smtClean="0"/>
              <a:t>를 </a:t>
            </a:r>
            <a:r>
              <a:rPr lang="ko-KR" altLang="en-US" dirty="0"/>
              <a:t>소프트웨어로 많이 </a:t>
            </a:r>
            <a:r>
              <a:rPr lang="ko-KR" altLang="en-US" dirty="0" smtClean="0"/>
              <a:t>이용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침입 방지 시스템은 </a:t>
            </a:r>
            <a:r>
              <a:rPr lang="ko-KR" altLang="en-US" dirty="0" smtClean="0"/>
              <a:t>특화된 </a:t>
            </a:r>
            <a:r>
              <a:rPr lang="ko-KR" altLang="en-US" dirty="0"/>
              <a:t>목적에 따라 방화벽과 함께 변형된 솔루션 형태를 </a:t>
            </a:r>
            <a:r>
              <a:rPr lang="ko-KR" altLang="en-US" dirty="0" smtClean="0"/>
              <a:t>띠기도 함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3895849"/>
            <a:ext cx="4788024" cy="185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67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</a:t>
            </a:r>
            <a:r>
              <a:rPr lang="ko-KR" altLang="en-US" dirty="0"/>
              <a:t>통제 및 감시 장비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 smtClean="0"/>
              <a:t>통제 및 감시 장비의 종류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 smtClean="0"/>
              <a:t>감시 </a:t>
            </a:r>
            <a:r>
              <a:rPr lang="ko-KR" altLang="en-US" dirty="0"/>
              <a:t>카메라</a:t>
            </a:r>
          </a:p>
          <a:p>
            <a:pPr lvl="2">
              <a:defRPr/>
            </a:pPr>
            <a:r>
              <a:rPr lang="ko-KR" altLang="en-US" dirty="0"/>
              <a:t>물리적인 보안을 위해 사용하는 장비 중 가장 널리 쓰이는 </a:t>
            </a:r>
            <a:r>
              <a:rPr lang="ko-KR" altLang="en-US" dirty="0" smtClean="0"/>
              <a:t>것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감시 카메라가 포착하지 못하는 사각지대를 확인해야 </a:t>
            </a:r>
            <a:r>
              <a:rPr lang="ko-KR" altLang="en-US" dirty="0" smtClean="0"/>
              <a:t>함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건물의 </a:t>
            </a:r>
            <a:r>
              <a:rPr lang="ko-KR" altLang="en-US" dirty="0"/>
              <a:t>단면도에 감시 카메라 위치와 방향을 그려서 사각지대를 확인한 뒤 그 영역의 위험성을 </a:t>
            </a:r>
            <a:r>
              <a:rPr lang="ko-KR" altLang="en-US" dirty="0" smtClean="0"/>
              <a:t>판단함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영상 자료는 과거엔 비디오테이프에 </a:t>
            </a:r>
            <a:r>
              <a:rPr lang="ko-KR" altLang="en-US" dirty="0" smtClean="0"/>
              <a:t>보관했지만 최근에는 고화질 </a:t>
            </a:r>
            <a:r>
              <a:rPr lang="ko-KR" altLang="en-US" dirty="0"/>
              <a:t>동영상으로 하드디스크 장비에 </a:t>
            </a:r>
            <a:r>
              <a:rPr lang="ko-KR" altLang="en-US" dirty="0" smtClean="0"/>
              <a:t>저장함</a:t>
            </a: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엑스레이 검사기 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반도체나 </a:t>
            </a:r>
            <a:r>
              <a:rPr lang="en-US" altLang="ko-KR" dirty="0"/>
              <a:t>LCD</a:t>
            </a:r>
            <a:r>
              <a:rPr lang="ko-KR" altLang="en-US" dirty="0"/>
              <a:t>와 같은 첨단 산업 기업의 출입구에는 흔히 엑스레이 검사기가 설치되어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큰 </a:t>
            </a:r>
            <a:r>
              <a:rPr lang="ko-KR" altLang="en-US" dirty="0"/>
              <a:t>트럭이나 화물 컨테이너를 검사하는 엑스레이 검사기도 </a:t>
            </a:r>
            <a:r>
              <a:rPr lang="ko-KR" altLang="en-US" dirty="0" smtClean="0"/>
              <a:t>있음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4480669"/>
            <a:ext cx="2057587" cy="172819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4365104"/>
            <a:ext cx="5070072" cy="180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156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</a:t>
            </a:r>
            <a:r>
              <a:rPr lang="ko-KR" altLang="en-US" dirty="0"/>
              <a:t>통제 및 감시 장비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 smtClean="0"/>
              <a:t>통제 및 감시 장비의 종류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/>
              <a:t>금속 탐지기</a:t>
            </a:r>
          </a:p>
          <a:p>
            <a:pPr lvl="2">
              <a:defRPr/>
            </a:pPr>
            <a:r>
              <a:rPr lang="ko-KR" altLang="en-US" dirty="0"/>
              <a:t>전기와 자기의 관계를 이용한 탐지기로 공항에서 쉽게 볼 수 있음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화물에 숨긴 무기 탐지</a:t>
            </a:r>
            <a:r>
              <a:rPr lang="en-US" altLang="ko-KR" dirty="0"/>
              <a:t>, </a:t>
            </a:r>
            <a:r>
              <a:rPr lang="ko-KR" altLang="en-US" dirty="0"/>
              <a:t>전장의 지뢰 감지</a:t>
            </a:r>
            <a:r>
              <a:rPr lang="en-US" altLang="ko-KR" dirty="0"/>
              <a:t>, </a:t>
            </a:r>
            <a:r>
              <a:rPr lang="ko-KR" altLang="en-US" dirty="0"/>
              <a:t>음식물에 들어간 금속 파편 검사 등에 사용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전자 장비를 지니고 출입하는 것을 통제할 때도 </a:t>
            </a:r>
            <a:r>
              <a:rPr lang="ko-KR" altLang="en-US" dirty="0" smtClean="0"/>
              <a:t>사용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 smtClean="0"/>
              <a:t>보안 </a:t>
            </a:r>
            <a:r>
              <a:rPr lang="ko-KR" altLang="en-US" dirty="0"/>
              <a:t>스티커</a:t>
            </a:r>
          </a:p>
          <a:p>
            <a:pPr lvl="2">
              <a:defRPr/>
            </a:pPr>
            <a:r>
              <a:rPr lang="ko-KR" altLang="en-US" dirty="0"/>
              <a:t>방문자의 휴대전화 카메라에 붙여서 건물 내부의 사진을 찍지 않았음을 </a:t>
            </a:r>
            <a:r>
              <a:rPr lang="ko-KR" altLang="en-US" dirty="0" smtClean="0"/>
              <a:t>확인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노트북의 </a:t>
            </a:r>
            <a:r>
              <a:rPr lang="ko-KR" altLang="en-US" dirty="0"/>
              <a:t>모니터와 본체 사이에 붙여서 내부로 들여간 노트북으로 작업했는지 여부를 </a:t>
            </a:r>
            <a:r>
              <a:rPr lang="ko-KR" altLang="en-US" dirty="0" smtClean="0"/>
              <a:t>확인 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4365104"/>
            <a:ext cx="1626261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434282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VPN</a:t>
            </a:r>
            <a:r>
              <a:rPr lang="ko-KR" altLang="en-US" dirty="0" smtClean="0"/>
              <a:t>의 개요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방화벽</a:t>
            </a:r>
            <a:r>
              <a:rPr lang="en-US" altLang="ko-KR" dirty="0"/>
              <a:t>, </a:t>
            </a:r>
            <a:r>
              <a:rPr lang="ko-KR" altLang="en-US" dirty="0"/>
              <a:t>침입 탐지 시스템과 함께 사용되는 가장 일반적인 보안 </a:t>
            </a:r>
            <a:r>
              <a:rPr lang="ko-KR" altLang="en-US" dirty="0" smtClean="0"/>
              <a:t>솔루션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기업 내부의 네트워크에서 주고받는 데이터는 외부로 유출되면 안 되는 경우가 많아 기업 내의 데이터 </a:t>
            </a:r>
            <a:r>
              <a:rPr lang="ko-KR" altLang="en-US" dirty="0" smtClean="0"/>
              <a:t>통신에는 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인터넷과 </a:t>
            </a:r>
            <a:r>
              <a:rPr lang="ko-KR" altLang="en-US" dirty="0"/>
              <a:t>구분된 별도의 임대 </a:t>
            </a:r>
            <a:r>
              <a:rPr lang="ko-KR" altLang="en-US" dirty="0" smtClean="0"/>
              <a:t>회선을 사용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VPN</a:t>
            </a:r>
            <a:r>
              <a:rPr lang="ko-KR" altLang="en-US" dirty="0"/>
              <a:t>은 고가의 임대 회선 대신에 </a:t>
            </a:r>
            <a:r>
              <a:rPr lang="ko-KR" altLang="en-US" dirty="0">
                <a:solidFill>
                  <a:srgbClr val="FF0000"/>
                </a:solidFill>
              </a:rPr>
              <a:t>인터넷 회선을 임대 회선처럼 사용</a:t>
            </a:r>
            <a:r>
              <a:rPr lang="ko-KR" altLang="en-US" dirty="0"/>
              <a:t>할 수 있게 해주는 </a:t>
            </a:r>
            <a:r>
              <a:rPr lang="ko-KR" altLang="en-US" dirty="0" smtClean="0"/>
              <a:t>솔루션</a:t>
            </a:r>
            <a:endParaRPr lang="en-US" altLang="ko-KR" dirty="0" smtClean="0"/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VPN</a:t>
            </a:r>
            <a:r>
              <a:rPr lang="ko-KR" altLang="en-US" dirty="0"/>
              <a:t>의 용도</a:t>
            </a:r>
          </a:p>
          <a:p>
            <a:pPr lvl="2">
              <a:defRPr/>
            </a:pPr>
            <a:r>
              <a:rPr lang="ko-KR" altLang="en-US" dirty="0"/>
              <a:t>해외여행 중 </a:t>
            </a:r>
            <a:r>
              <a:rPr lang="ko-KR" altLang="en-US" dirty="0">
                <a:solidFill>
                  <a:srgbClr val="FF0000"/>
                </a:solidFill>
              </a:rPr>
              <a:t>국내 온라인 게임에 접속</a:t>
            </a:r>
            <a:r>
              <a:rPr lang="ko-KR" altLang="en-US" dirty="0"/>
              <a:t>하는 경우</a:t>
            </a:r>
          </a:p>
          <a:p>
            <a:pPr lvl="2">
              <a:defRPr/>
            </a:pPr>
            <a:r>
              <a:rPr lang="ko-KR" altLang="en-US" dirty="0"/>
              <a:t>집에서도 </a:t>
            </a:r>
            <a:r>
              <a:rPr lang="ko-KR" altLang="en-US" dirty="0">
                <a:solidFill>
                  <a:srgbClr val="FF0000"/>
                </a:solidFill>
              </a:rPr>
              <a:t>회사 내의 서버에 보안 상태로 접근</a:t>
            </a:r>
            <a:r>
              <a:rPr lang="ko-KR" altLang="en-US" dirty="0"/>
              <a:t>하는 </a:t>
            </a:r>
            <a:r>
              <a:rPr lang="ko-KR" altLang="en-US" dirty="0" smtClean="0"/>
              <a:t>경우</a:t>
            </a:r>
            <a:endParaRPr lang="ko-KR" altLang="en-US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원격의 두 지점을 내부 네트워크처럼 이용</a:t>
            </a:r>
            <a:r>
              <a:rPr lang="ko-KR" altLang="en-US" dirty="0"/>
              <a:t>하는 경우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292970"/>
            <a:ext cx="3335474" cy="173553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292970"/>
            <a:ext cx="4147883" cy="171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10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VLAN</a:t>
            </a:r>
          </a:p>
          <a:p>
            <a:pPr lvl="1">
              <a:defRPr/>
            </a:pPr>
            <a:r>
              <a:rPr lang="en-US" altLang="ko-KR" dirty="0" smtClean="0"/>
              <a:t>VLAN</a:t>
            </a:r>
            <a:r>
              <a:rPr lang="ko-KR" altLang="en-US" dirty="0" smtClean="0"/>
              <a:t>의 사용</a:t>
            </a:r>
            <a:endParaRPr lang="en-US" altLang="ko-KR" dirty="0" smtClean="0"/>
          </a:p>
          <a:p>
            <a:pPr lvl="2">
              <a:defRPr/>
            </a:pPr>
            <a:r>
              <a:rPr lang="en-US" altLang="ko-KR" dirty="0"/>
              <a:t>VLAN</a:t>
            </a:r>
            <a:r>
              <a:rPr lang="ko-KR" altLang="en-US" dirty="0"/>
              <a:t>을 이용할 때 네트워크 관리자는 네트워크를 </a:t>
            </a:r>
            <a:r>
              <a:rPr lang="ko-KR" altLang="en-US" dirty="0">
                <a:solidFill>
                  <a:srgbClr val="FF0000"/>
                </a:solidFill>
              </a:rPr>
              <a:t>작은 네트워크로 </a:t>
            </a:r>
            <a:r>
              <a:rPr lang="ko-KR" altLang="en-US" dirty="0" smtClean="0">
                <a:solidFill>
                  <a:srgbClr val="FF0000"/>
                </a:solidFill>
              </a:rPr>
              <a:t>임의로 나눔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dirty="0"/>
              <a:t>나뉜 네트워크는 </a:t>
            </a:r>
            <a:r>
              <a:rPr lang="ko-KR" altLang="en-US" dirty="0" err="1"/>
              <a:t>브로드캐스트</a:t>
            </a:r>
            <a:r>
              <a:rPr lang="ko-KR" altLang="en-US" dirty="0"/>
              <a:t> 패킷 제한 </a:t>
            </a:r>
            <a:r>
              <a:rPr lang="ko-KR" altLang="en-US" dirty="0" smtClean="0"/>
              <a:t>기능을 </a:t>
            </a:r>
            <a:r>
              <a:rPr lang="ko-KR" altLang="en-US" dirty="0" err="1" smtClean="0"/>
              <a:t>부여받음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이렇게 나뉜 </a:t>
            </a:r>
            <a:r>
              <a:rPr lang="en-US" altLang="ko-KR" dirty="0"/>
              <a:t>VLAN</a:t>
            </a:r>
            <a:r>
              <a:rPr lang="ko-KR" altLang="en-US" dirty="0"/>
              <a:t>은 </a:t>
            </a:r>
            <a:r>
              <a:rPr lang="en-US" altLang="ko-KR" dirty="0" smtClean="0"/>
              <a:t>ACL</a:t>
            </a:r>
            <a:r>
              <a:rPr lang="ko-KR" altLang="en-US" dirty="0" smtClean="0"/>
              <a:t>을 </a:t>
            </a:r>
            <a:r>
              <a:rPr lang="ko-KR" altLang="en-US" dirty="0"/>
              <a:t>통해 접근 통제 가능</a:t>
            </a:r>
            <a:r>
              <a:rPr lang="en-US" altLang="ko-KR" dirty="0"/>
              <a:t>, </a:t>
            </a:r>
            <a:r>
              <a:rPr lang="ko-KR" altLang="en-US" dirty="0"/>
              <a:t>악성 코드 발생시 범위 제한 </a:t>
            </a:r>
            <a:r>
              <a:rPr lang="ko-KR" altLang="en-US" dirty="0" smtClean="0"/>
              <a:t>가능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VLAN</a:t>
            </a:r>
            <a:r>
              <a:rPr lang="ko-KR" altLang="en-US" dirty="0"/>
              <a:t>은 </a:t>
            </a:r>
            <a:r>
              <a:rPr lang="ko-KR" altLang="en-US" dirty="0">
                <a:solidFill>
                  <a:srgbClr val="FF0000"/>
                </a:solidFill>
              </a:rPr>
              <a:t>스위치에서 설정</a:t>
            </a:r>
            <a:r>
              <a:rPr lang="ko-KR" altLang="en-US" dirty="0"/>
              <a:t>하며 </a:t>
            </a:r>
            <a:r>
              <a:rPr lang="ko-KR" altLang="en-US" dirty="0" err="1">
                <a:solidFill>
                  <a:srgbClr val="FF0000"/>
                </a:solidFill>
              </a:rPr>
              <a:t>포트별로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구분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>
              <a:defRPr/>
            </a:pPr>
            <a:endParaRPr lang="en-US" altLang="ko-KR" dirty="0"/>
          </a:p>
          <a:p>
            <a:pPr marL="609600" lvl="1" indent="-342900">
              <a:buFont typeface="+mj-ea"/>
              <a:buAutoNum type="circleNumDbPlain"/>
              <a:defRPr/>
            </a:pPr>
            <a:r>
              <a:rPr lang="ko-KR" altLang="en-US" dirty="0"/>
              <a:t>패킷 </a:t>
            </a:r>
            <a:r>
              <a:rPr lang="ko-KR" altLang="en-US" dirty="0" smtClean="0"/>
              <a:t>전송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클라이언트가 </a:t>
            </a:r>
            <a:r>
              <a:rPr lang="ko-KR" altLang="en-US" dirty="0"/>
              <a:t>스위치에 프레임을 전달하면 스위치는 클라이언트가 속한 </a:t>
            </a:r>
            <a:r>
              <a:rPr lang="en-US" altLang="ko-KR" dirty="0"/>
              <a:t>VLAN</a:t>
            </a:r>
            <a:r>
              <a:rPr lang="ko-KR" altLang="en-US" dirty="0"/>
              <a:t>을 표시하기 위해 </a:t>
            </a:r>
            <a:r>
              <a:rPr lang="ko-KR" altLang="en-US" dirty="0" err="1">
                <a:solidFill>
                  <a:srgbClr val="FF0000"/>
                </a:solidFill>
              </a:rPr>
              <a:t>전송받은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marL="447675" lvl="2" indent="0">
              <a:buNone/>
              <a:defRPr/>
            </a:pPr>
            <a:r>
              <a:rPr lang="en-US" altLang="ko-KR" sz="1100" dirty="0">
                <a:solidFill>
                  <a:srgbClr val="FF0000"/>
                </a:solidFill>
              </a:rPr>
              <a:t> </a:t>
            </a:r>
            <a:r>
              <a:rPr lang="en-US" altLang="ko-KR" sz="1100" dirty="0" smtClean="0">
                <a:solidFill>
                  <a:srgbClr val="FF0000"/>
                </a:solidFill>
              </a:rPr>
              <a:t>   </a:t>
            </a:r>
            <a:r>
              <a:rPr lang="ko-KR" altLang="en-US" dirty="0" smtClean="0">
                <a:solidFill>
                  <a:srgbClr val="FF0000"/>
                </a:solidFill>
              </a:rPr>
              <a:t>프레임에 </a:t>
            </a:r>
            <a:r>
              <a:rPr lang="en-US" altLang="ko-KR" dirty="0">
                <a:solidFill>
                  <a:srgbClr val="FF0000"/>
                </a:solidFill>
              </a:rPr>
              <a:t>VLAN </a:t>
            </a:r>
            <a:r>
              <a:rPr lang="ko-KR" altLang="en-US" dirty="0">
                <a:solidFill>
                  <a:srgbClr val="FF0000"/>
                </a:solidFill>
              </a:rPr>
              <a:t>정보를 </a:t>
            </a:r>
            <a:r>
              <a:rPr lang="ko-KR" altLang="en-US" dirty="0" smtClean="0">
                <a:solidFill>
                  <a:srgbClr val="FF0000"/>
                </a:solidFill>
              </a:rPr>
              <a:t>붙임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946379"/>
            <a:ext cx="3718942" cy="257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13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VLAN</a:t>
            </a:r>
          </a:p>
          <a:p>
            <a:pPr marL="609600" lvl="1" indent="-342900">
              <a:buFont typeface="+mj-ea"/>
              <a:buAutoNum type="circleNumDbPlain" startAt="2"/>
              <a:defRPr/>
            </a:pPr>
            <a:r>
              <a:rPr lang="ko-KR" altLang="en-US" dirty="0"/>
              <a:t>패킷 </a:t>
            </a:r>
            <a:r>
              <a:rPr lang="ko-KR" altLang="en-US" dirty="0" smtClean="0"/>
              <a:t>수신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프레임을 </a:t>
            </a:r>
            <a:r>
              <a:rPr lang="ko-KR" altLang="en-US" dirty="0"/>
              <a:t>스위치 밖으로 보내기 전에 </a:t>
            </a:r>
            <a:r>
              <a:rPr lang="ko-KR" altLang="en-US" dirty="0">
                <a:solidFill>
                  <a:srgbClr val="FF0000"/>
                </a:solidFill>
              </a:rPr>
              <a:t>프레임의 </a:t>
            </a:r>
            <a:r>
              <a:rPr lang="en-US" altLang="ko-KR" dirty="0">
                <a:solidFill>
                  <a:srgbClr val="FF0000"/>
                </a:solidFill>
              </a:rPr>
              <a:t>VLAN </a:t>
            </a:r>
            <a:r>
              <a:rPr lang="ko-KR" altLang="en-US" dirty="0">
                <a:solidFill>
                  <a:srgbClr val="FF0000"/>
                </a:solidFill>
              </a:rPr>
              <a:t>정보와 스위치 포트의 </a:t>
            </a:r>
            <a:r>
              <a:rPr lang="en-US" altLang="ko-KR" dirty="0">
                <a:solidFill>
                  <a:srgbClr val="FF0000"/>
                </a:solidFill>
              </a:rPr>
              <a:t>VLAN </a:t>
            </a:r>
            <a:r>
              <a:rPr lang="ko-KR" altLang="en-US" dirty="0">
                <a:solidFill>
                  <a:srgbClr val="FF0000"/>
                </a:solidFill>
              </a:rPr>
              <a:t>정보를 </a:t>
            </a:r>
            <a:r>
              <a:rPr lang="ko-KR" altLang="en-US" dirty="0" smtClean="0">
                <a:solidFill>
                  <a:srgbClr val="FF0000"/>
                </a:solidFill>
              </a:rPr>
              <a:t>비교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dirty="0" smtClean="0"/>
              <a:t>두 </a:t>
            </a:r>
            <a:r>
              <a:rPr lang="ko-KR" altLang="en-US" dirty="0"/>
              <a:t>정보가 같으면 프레임에 붙어 있는 </a:t>
            </a:r>
            <a:r>
              <a:rPr lang="en-US" altLang="ko-KR" dirty="0">
                <a:solidFill>
                  <a:srgbClr val="FF0000"/>
                </a:solidFill>
              </a:rPr>
              <a:t>VLAN </a:t>
            </a:r>
            <a:r>
              <a:rPr lang="ko-KR" altLang="en-US" dirty="0">
                <a:solidFill>
                  <a:srgbClr val="FF0000"/>
                </a:solidFill>
              </a:rPr>
              <a:t>정보를 떼어내고 </a:t>
            </a:r>
            <a:r>
              <a:rPr lang="ko-KR" altLang="en-US" dirty="0" smtClean="0">
                <a:solidFill>
                  <a:srgbClr val="FF0000"/>
                </a:solidFill>
              </a:rPr>
              <a:t>프레임만 전송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다른 </a:t>
            </a:r>
            <a:r>
              <a:rPr lang="en-US" altLang="ko-KR" dirty="0">
                <a:solidFill>
                  <a:srgbClr val="FF0000"/>
                </a:solidFill>
              </a:rPr>
              <a:t>VLAN</a:t>
            </a:r>
            <a:r>
              <a:rPr lang="ko-KR" altLang="en-US" dirty="0">
                <a:solidFill>
                  <a:srgbClr val="FF0000"/>
                </a:solidFill>
              </a:rPr>
              <a:t>으로 프레임을 보내면 </a:t>
            </a:r>
            <a:r>
              <a:rPr lang="ko-KR" altLang="en-US" dirty="0"/>
              <a:t>해당 포트의 </a:t>
            </a:r>
            <a:r>
              <a:rPr lang="en-US" altLang="ko-KR" dirty="0"/>
              <a:t>VLAN</a:t>
            </a:r>
            <a:r>
              <a:rPr lang="ko-KR" altLang="en-US" dirty="0"/>
              <a:t>과 프레임에 추가된 </a:t>
            </a:r>
            <a:r>
              <a:rPr lang="en-US" altLang="ko-KR" dirty="0"/>
              <a:t>VLAN</a:t>
            </a:r>
            <a:r>
              <a:rPr lang="ko-KR" altLang="en-US" dirty="0"/>
              <a:t>이 다르므로 프레임을 </a:t>
            </a:r>
            <a:r>
              <a:rPr lang="ko-KR" altLang="en-US" dirty="0">
                <a:solidFill>
                  <a:srgbClr val="FF0000"/>
                </a:solidFill>
              </a:rPr>
              <a:t>차단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3212976"/>
            <a:ext cx="3780000" cy="277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3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VLAN</a:t>
            </a:r>
          </a:p>
          <a:p>
            <a:pPr marL="609600" lvl="1" indent="-342900">
              <a:buFont typeface="+mj-ea"/>
              <a:buAutoNum type="circleNumDbPlain" startAt="3"/>
              <a:defRPr/>
            </a:pPr>
            <a:r>
              <a:rPr lang="ko-KR" altLang="en-US" dirty="0"/>
              <a:t>스위치 간의 </a:t>
            </a:r>
            <a:r>
              <a:rPr lang="en-US" altLang="ko-KR" dirty="0"/>
              <a:t>VLAN </a:t>
            </a:r>
            <a:r>
              <a:rPr lang="ko-KR" altLang="en-US" dirty="0" smtClean="0"/>
              <a:t>통신</a:t>
            </a:r>
            <a:endParaRPr lang="en-US" altLang="ko-KR" dirty="0" smtClean="0"/>
          </a:p>
          <a:p>
            <a:pPr lvl="2">
              <a:defRPr/>
            </a:pPr>
            <a:r>
              <a:rPr lang="en-US" altLang="ko-KR" dirty="0" smtClean="0"/>
              <a:t>2</a:t>
            </a:r>
            <a:r>
              <a:rPr lang="ko-KR" altLang="en-US" sz="1150" dirty="0"/>
              <a:t>개 이상의 스위치에서 </a:t>
            </a:r>
            <a:r>
              <a:rPr lang="en-US" altLang="ko-KR" sz="1150" dirty="0"/>
              <a:t>VLAN </a:t>
            </a:r>
            <a:r>
              <a:rPr lang="ko-KR" altLang="en-US" sz="1150" dirty="0"/>
              <a:t>간 통신을 하려면 </a:t>
            </a:r>
            <a:r>
              <a:rPr lang="ko-KR" altLang="en-US" sz="1150" dirty="0" smtClean="0"/>
              <a:t>여러 </a:t>
            </a:r>
            <a:r>
              <a:rPr lang="ko-KR" altLang="en-US" sz="1150" dirty="0"/>
              <a:t>개의 </a:t>
            </a:r>
            <a:r>
              <a:rPr lang="en-US" altLang="ko-KR" sz="1150" dirty="0"/>
              <a:t>VLAN </a:t>
            </a:r>
            <a:r>
              <a:rPr lang="ko-KR" altLang="en-US" sz="1150" dirty="0"/>
              <a:t>프레임을 전송할 수 있는 </a:t>
            </a:r>
            <a:r>
              <a:rPr lang="ko-KR" altLang="en-US" sz="1150" dirty="0" smtClean="0"/>
              <a:t>트렁크</a:t>
            </a:r>
            <a:r>
              <a:rPr lang="en-US" altLang="ko-KR" sz="1150" dirty="0" smtClean="0"/>
              <a:t> </a:t>
            </a:r>
            <a:r>
              <a:rPr lang="ko-KR" altLang="en-US" sz="1150" dirty="0"/>
              <a:t>포트를 </a:t>
            </a:r>
            <a:r>
              <a:rPr lang="ko-KR" altLang="en-US" sz="1150" dirty="0" smtClean="0"/>
              <a:t>이용</a:t>
            </a:r>
            <a:endParaRPr lang="en-US" altLang="ko-KR" sz="1150" dirty="0" smtClean="0"/>
          </a:p>
          <a:p>
            <a:pPr lvl="2">
              <a:defRPr/>
            </a:pPr>
            <a:r>
              <a:rPr lang="ko-KR" altLang="en-US" sz="1150" dirty="0" smtClean="0"/>
              <a:t>트렁크 </a:t>
            </a:r>
            <a:r>
              <a:rPr lang="ko-KR" altLang="en-US" sz="1150" dirty="0"/>
              <a:t>포트는 </a:t>
            </a:r>
            <a:r>
              <a:rPr lang="en-US" altLang="ko-KR" sz="1150" dirty="0"/>
              <a:t>VLAN </a:t>
            </a:r>
            <a:r>
              <a:rPr lang="ko-KR" altLang="en-US" sz="1150" dirty="0"/>
              <a:t>의 종류에 관계없이 프레임을 전송하는데</a:t>
            </a:r>
            <a:r>
              <a:rPr lang="en-US" altLang="ko-KR" sz="1150" dirty="0"/>
              <a:t>, </a:t>
            </a:r>
            <a:r>
              <a:rPr lang="ko-KR" altLang="en-US" sz="1150" dirty="0">
                <a:solidFill>
                  <a:srgbClr val="FF0000"/>
                </a:solidFill>
              </a:rPr>
              <a:t>트렁크 포트로 전송할 때</a:t>
            </a:r>
            <a:r>
              <a:rPr lang="ko-KR" altLang="en-US" sz="1150" dirty="0"/>
              <a:t>는 프레임의 </a:t>
            </a:r>
            <a:r>
              <a:rPr lang="en-US" altLang="ko-KR" sz="1150" dirty="0">
                <a:solidFill>
                  <a:srgbClr val="FF0000"/>
                </a:solidFill>
              </a:rPr>
              <a:t>VLAN </a:t>
            </a:r>
            <a:r>
              <a:rPr lang="ko-KR" altLang="en-US" sz="1150" dirty="0" smtClean="0">
                <a:solidFill>
                  <a:srgbClr val="FF0000"/>
                </a:solidFill>
              </a:rPr>
              <a:t>정보를</a:t>
            </a:r>
            <a:endParaRPr lang="en-US" altLang="ko-KR" sz="1150" dirty="0" smtClean="0">
              <a:solidFill>
                <a:srgbClr val="FF0000"/>
              </a:solidFill>
            </a:endParaRPr>
          </a:p>
          <a:p>
            <a:pPr marL="447675" lvl="2" indent="0">
              <a:buNone/>
              <a:defRPr/>
            </a:pPr>
            <a:r>
              <a:rPr lang="ko-KR" altLang="en-US" sz="1150" dirty="0">
                <a:solidFill>
                  <a:srgbClr val="FF0000"/>
                </a:solidFill>
              </a:rPr>
              <a:t> </a:t>
            </a:r>
            <a:r>
              <a:rPr lang="ko-KR" altLang="en-US" sz="1150" dirty="0" smtClean="0">
                <a:solidFill>
                  <a:srgbClr val="FF0000"/>
                </a:solidFill>
              </a:rPr>
              <a:t>  떼어내지 않음</a:t>
            </a:r>
            <a:endParaRPr lang="en-US" altLang="ko-KR" sz="1150" dirty="0" smtClean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sz="1150" dirty="0" smtClean="0"/>
              <a:t>대신 </a:t>
            </a:r>
            <a:r>
              <a:rPr lang="ko-KR" altLang="en-US" sz="1150" dirty="0"/>
              <a:t>트렁크 포트로 전송된 프레임을 다시 </a:t>
            </a:r>
            <a:r>
              <a:rPr lang="ko-KR" altLang="en-US" sz="1150" dirty="0">
                <a:solidFill>
                  <a:srgbClr val="FF0000"/>
                </a:solidFill>
              </a:rPr>
              <a:t>각각의 </a:t>
            </a:r>
            <a:r>
              <a:rPr lang="en-US" altLang="ko-KR" sz="1150" dirty="0">
                <a:solidFill>
                  <a:srgbClr val="FF0000"/>
                </a:solidFill>
              </a:rPr>
              <a:t>VLAN</a:t>
            </a:r>
            <a:r>
              <a:rPr lang="ko-KR" altLang="en-US" sz="1150" dirty="0">
                <a:solidFill>
                  <a:srgbClr val="FF0000"/>
                </a:solidFill>
              </a:rPr>
              <a:t>으로 전송할 때</a:t>
            </a:r>
            <a:r>
              <a:rPr lang="ko-KR" altLang="en-US" sz="1150" dirty="0"/>
              <a:t> </a:t>
            </a:r>
            <a:r>
              <a:rPr lang="en-US" altLang="ko-KR" sz="1150" dirty="0">
                <a:solidFill>
                  <a:srgbClr val="FF0000"/>
                </a:solidFill>
              </a:rPr>
              <a:t>VLAN </a:t>
            </a:r>
            <a:r>
              <a:rPr lang="ko-KR" altLang="en-US" sz="1150" dirty="0">
                <a:solidFill>
                  <a:srgbClr val="FF0000"/>
                </a:solidFill>
              </a:rPr>
              <a:t>정보를 </a:t>
            </a:r>
            <a:r>
              <a:rPr lang="ko-KR" altLang="en-US" sz="1150" dirty="0" smtClean="0">
                <a:solidFill>
                  <a:srgbClr val="FF0000"/>
                </a:solidFill>
              </a:rPr>
              <a:t>떼어 냄</a:t>
            </a:r>
            <a:endParaRPr lang="ko-KR" altLang="en-US" sz="1150" dirty="0">
              <a:solidFill>
                <a:srgbClr val="FF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212976"/>
            <a:ext cx="6192688" cy="335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81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NAC</a:t>
            </a:r>
          </a:p>
          <a:p>
            <a:pPr lvl="1">
              <a:defRPr/>
            </a:pPr>
            <a:r>
              <a:rPr lang="ko-KR" altLang="en-US" dirty="0" smtClean="0"/>
              <a:t>주요 기능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과거 </a:t>
            </a:r>
            <a:r>
              <a:rPr lang="en-US" altLang="ko-KR" dirty="0"/>
              <a:t>IP </a:t>
            </a:r>
            <a:r>
              <a:rPr lang="ko-KR" altLang="en-US" dirty="0"/>
              <a:t>관리 시스템에서 발전한 솔루션으로 </a:t>
            </a:r>
            <a:r>
              <a:rPr lang="ko-KR" altLang="en-US" dirty="0" smtClean="0"/>
              <a:t>기본적인 </a:t>
            </a:r>
            <a:r>
              <a:rPr lang="ko-KR" altLang="en-US" dirty="0"/>
              <a:t>개념은 </a:t>
            </a:r>
            <a:r>
              <a:rPr lang="en-US" altLang="ko-KR" dirty="0">
                <a:solidFill>
                  <a:srgbClr val="FF0000"/>
                </a:solidFill>
              </a:rPr>
              <a:t>IP </a:t>
            </a:r>
            <a:r>
              <a:rPr lang="ko-KR" altLang="en-US" dirty="0">
                <a:solidFill>
                  <a:srgbClr val="FF0000"/>
                </a:solidFill>
              </a:rPr>
              <a:t>관리 시스템과 거의 </a:t>
            </a:r>
            <a:r>
              <a:rPr lang="ko-KR" altLang="en-US" dirty="0" smtClean="0">
                <a:solidFill>
                  <a:srgbClr val="FF0000"/>
                </a:solidFill>
              </a:rPr>
              <a:t>같음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>
              <a:defRPr/>
            </a:pP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420888"/>
            <a:ext cx="5720951" cy="322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93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NAC </a:t>
            </a:r>
          </a:p>
          <a:p>
            <a:pPr lvl="1">
              <a:defRPr/>
            </a:pPr>
            <a:r>
              <a:rPr lang="ko-KR" altLang="en-US" dirty="0" smtClean="0"/>
              <a:t>주요 기능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접근 제어 및 인증 기능은 </a:t>
            </a:r>
            <a:r>
              <a:rPr lang="en-US" altLang="ko-KR" dirty="0">
                <a:solidFill>
                  <a:srgbClr val="FF0000"/>
                </a:solidFill>
              </a:rPr>
              <a:t>MAC </a:t>
            </a:r>
            <a:r>
              <a:rPr lang="ko-KR" altLang="en-US" dirty="0">
                <a:solidFill>
                  <a:srgbClr val="FF0000"/>
                </a:solidFill>
              </a:rPr>
              <a:t>주소를 기반으로 </a:t>
            </a:r>
            <a:r>
              <a:rPr lang="ko-KR" altLang="en-US" dirty="0" smtClean="0">
                <a:solidFill>
                  <a:srgbClr val="FF0000"/>
                </a:solidFill>
              </a:rPr>
              <a:t>수행</a:t>
            </a:r>
            <a:endParaRPr lang="en-US" altLang="ko-KR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en-US" altLang="ko-KR" dirty="0"/>
              <a:t>NAC</a:t>
            </a:r>
            <a:r>
              <a:rPr lang="ko-KR" altLang="en-US" dirty="0"/>
              <a:t>는 등록된 </a:t>
            </a:r>
            <a:r>
              <a:rPr lang="en-US" altLang="ko-KR" dirty="0"/>
              <a:t>MAC </a:t>
            </a:r>
            <a:r>
              <a:rPr lang="ko-KR" altLang="en-US" dirty="0"/>
              <a:t>주소만 네트워크에 접속할 수 있게 허용하므로 </a:t>
            </a:r>
            <a:r>
              <a:rPr lang="ko-KR" altLang="en-US" dirty="0">
                <a:solidFill>
                  <a:srgbClr val="FF0000"/>
                </a:solidFill>
              </a:rPr>
              <a:t>라우터로 구분된 서브 네트워크마다 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marL="447675" lvl="2" indent="0">
              <a:buNone/>
              <a:defRPr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  </a:t>
            </a:r>
            <a:r>
              <a:rPr lang="ko-KR" altLang="en-US" dirty="0" smtClean="0">
                <a:solidFill>
                  <a:srgbClr val="FF0000"/>
                </a:solidFill>
              </a:rPr>
              <a:t>에이전트 </a:t>
            </a:r>
            <a:r>
              <a:rPr lang="ko-KR" altLang="en-US" dirty="0">
                <a:solidFill>
                  <a:srgbClr val="FF0000"/>
                </a:solidFill>
              </a:rPr>
              <a:t>시스템이 설치</a:t>
            </a:r>
            <a:r>
              <a:rPr lang="ko-KR" altLang="en-US" dirty="0"/>
              <a:t>되어야 함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319" y="3082480"/>
            <a:ext cx="4932040" cy="344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914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NAC </a:t>
            </a:r>
          </a:p>
          <a:p>
            <a:pPr lvl="1">
              <a:defRPr/>
            </a:pPr>
            <a:r>
              <a:rPr lang="en-US" altLang="ko-KR" dirty="0"/>
              <a:t>NAC</a:t>
            </a:r>
            <a:r>
              <a:rPr lang="ko-KR" altLang="en-US" dirty="0"/>
              <a:t>를 통한 </a:t>
            </a:r>
            <a:r>
              <a:rPr lang="ko-KR" altLang="en-US" dirty="0">
                <a:solidFill>
                  <a:srgbClr val="FF0000"/>
                </a:solidFill>
              </a:rPr>
              <a:t>사용자 </a:t>
            </a:r>
            <a:r>
              <a:rPr lang="ko-KR" altLang="en-US" dirty="0" smtClean="0">
                <a:solidFill>
                  <a:srgbClr val="FF0000"/>
                </a:solidFill>
              </a:rPr>
              <a:t>인증 절차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marL="676275" lvl="2" indent="-228600">
              <a:buFont typeface="+mj-ea"/>
              <a:buAutoNum type="circleNumDbPlain"/>
              <a:defRPr/>
            </a:pPr>
            <a:r>
              <a:rPr lang="ko-KR" altLang="en-US" dirty="0" smtClean="0"/>
              <a:t>네트워크 </a:t>
            </a:r>
            <a:r>
              <a:rPr lang="ko-KR" altLang="en-US" dirty="0"/>
              <a:t>접근 </a:t>
            </a:r>
            <a:r>
              <a:rPr lang="ko-KR" altLang="en-US" dirty="0" smtClean="0"/>
              <a:t>요청</a:t>
            </a:r>
            <a:endParaRPr lang="en-US" altLang="ko-KR" dirty="0" smtClean="0"/>
          </a:p>
          <a:p>
            <a:pPr marL="676275" lvl="2" indent="-228600">
              <a:buFont typeface="+mj-ea"/>
              <a:buAutoNum type="circleNumDbPlain"/>
              <a:defRPr/>
            </a:pPr>
            <a:r>
              <a:rPr lang="ko-KR" altLang="en-US" dirty="0" smtClean="0"/>
              <a:t>사용자 </a:t>
            </a:r>
            <a:r>
              <a:rPr lang="ko-KR" altLang="en-US" dirty="0"/>
              <a:t>및 </a:t>
            </a:r>
            <a:r>
              <a:rPr lang="en-US" altLang="ko-KR" dirty="0"/>
              <a:t>PC </a:t>
            </a:r>
            <a:r>
              <a:rPr lang="ko-KR" altLang="en-US" dirty="0" smtClean="0"/>
              <a:t>인증</a:t>
            </a:r>
            <a:endParaRPr lang="en-US" altLang="ko-KR" dirty="0" smtClean="0"/>
          </a:p>
          <a:p>
            <a:pPr marL="676275" lvl="2" indent="-228600">
              <a:buFont typeface="+mj-ea"/>
              <a:buAutoNum type="circleNumDbPlain"/>
              <a:defRPr/>
            </a:pPr>
            <a:r>
              <a:rPr lang="ko-KR" altLang="en-US" dirty="0" smtClean="0"/>
              <a:t>인증 </a:t>
            </a:r>
            <a:r>
              <a:rPr lang="ko-KR" altLang="en-US" dirty="0"/>
              <a:t>과정 중 백신</a:t>
            </a:r>
            <a:r>
              <a:rPr lang="en-US" altLang="ko-KR" dirty="0"/>
              <a:t>, </a:t>
            </a:r>
            <a:r>
              <a:rPr lang="ko-KR" altLang="en-US" dirty="0"/>
              <a:t>보안 패치의 적절성 여부 </a:t>
            </a:r>
            <a:r>
              <a:rPr lang="ko-KR" altLang="en-US" dirty="0" smtClean="0"/>
              <a:t>검토</a:t>
            </a:r>
            <a:endParaRPr lang="en-US" altLang="ko-KR" dirty="0"/>
          </a:p>
          <a:p>
            <a:pPr marL="676275" lvl="2" indent="-228600">
              <a:buFont typeface="+mj-ea"/>
              <a:buAutoNum type="circleNumDbPlain"/>
              <a:defRPr/>
            </a:pPr>
            <a:r>
              <a:rPr lang="ko-KR" altLang="en-US" dirty="0" smtClean="0"/>
              <a:t>네트워크 </a:t>
            </a:r>
            <a:r>
              <a:rPr lang="ko-KR" altLang="en-US" dirty="0"/>
              <a:t>접근 </a:t>
            </a:r>
            <a:r>
              <a:rPr lang="ko-KR" altLang="en-US" dirty="0" smtClean="0"/>
              <a:t>거부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700" y="3356992"/>
            <a:ext cx="4896544" cy="287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0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NAC </a:t>
            </a:r>
          </a:p>
          <a:p>
            <a:pPr lvl="1">
              <a:defRPr/>
            </a:pPr>
            <a:r>
              <a:rPr lang="en-US" altLang="ko-KR" dirty="0"/>
              <a:t>NAC</a:t>
            </a:r>
            <a:r>
              <a:rPr lang="ko-KR" altLang="en-US" dirty="0"/>
              <a:t>를 통한 사용자 </a:t>
            </a:r>
            <a:r>
              <a:rPr lang="ko-KR" altLang="en-US" dirty="0" smtClean="0"/>
              <a:t>인증 절차 </a:t>
            </a:r>
            <a:r>
              <a:rPr lang="en-US" altLang="ko-KR" dirty="0" smtClean="0"/>
              <a:t>(</a:t>
            </a:r>
            <a:r>
              <a:rPr lang="ko-KR" altLang="en-US" dirty="0" smtClean="0"/>
              <a:t>상세 내용</a:t>
            </a:r>
            <a:r>
              <a:rPr lang="en-US" altLang="ko-KR" dirty="0" smtClean="0"/>
              <a:t>)</a:t>
            </a:r>
          </a:p>
          <a:p>
            <a:pPr marL="676275" lvl="2" indent="-228600">
              <a:buFont typeface="+mj-ea"/>
              <a:buAutoNum type="circleNumDbPlain"/>
              <a:defRPr/>
            </a:pPr>
            <a:r>
              <a:rPr lang="ko-KR" altLang="en-US" dirty="0" smtClean="0"/>
              <a:t>네트워크 </a:t>
            </a:r>
            <a:r>
              <a:rPr lang="ko-KR" altLang="en-US" dirty="0"/>
              <a:t>접근 </a:t>
            </a:r>
            <a:r>
              <a:rPr lang="ko-KR" altLang="en-US" dirty="0" smtClean="0"/>
              <a:t>요청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접속하려는 </a:t>
            </a:r>
            <a:r>
              <a:rPr lang="en-US" altLang="ko-KR" dirty="0"/>
              <a:t>PC </a:t>
            </a:r>
            <a:r>
              <a:rPr lang="ko-KR" altLang="en-US" dirty="0"/>
              <a:t>사용자가 </a:t>
            </a:r>
            <a:r>
              <a:rPr lang="ko-KR" altLang="en-US" dirty="0">
                <a:solidFill>
                  <a:srgbClr val="FF0000"/>
                </a:solidFill>
              </a:rPr>
              <a:t>네트워크에 대한 접근을 처음 </a:t>
            </a:r>
            <a:r>
              <a:rPr lang="ko-KR" altLang="en-US" dirty="0" smtClean="0">
                <a:solidFill>
                  <a:srgbClr val="FF0000"/>
                </a:solidFill>
              </a:rPr>
              <a:t>시도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>
              <a:defRPr/>
            </a:pPr>
            <a:endParaRPr lang="en-US" altLang="ko-KR" dirty="0"/>
          </a:p>
          <a:p>
            <a:pPr marL="676275" lvl="2" indent="-228600">
              <a:buFont typeface="+mj-ea"/>
              <a:buAutoNum type="circleNumDbPlain"/>
              <a:defRPr/>
            </a:pPr>
            <a:r>
              <a:rPr lang="ko-KR" altLang="en-US" dirty="0" smtClean="0"/>
              <a:t>사용자 </a:t>
            </a:r>
            <a:r>
              <a:rPr lang="ko-KR" altLang="en-US" dirty="0"/>
              <a:t>및 </a:t>
            </a:r>
            <a:r>
              <a:rPr lang="en-US" altLang="ko-KR" dirty="0"/>
              <a:t>PC </a:t>
            </a:r>
            <a:r>
              <a:rPr lang="ko-KR" altLang="en-US" dirty="0" smtClean="0"/>
              <a:t>인증</a:t>
            </a:r>
            <a:endParaRPr lang="en-US" altLang="ko-KR" dirty="0" smtClean="0"/>
          </a:p>
          <a:p>
            <a:pPr lvl="3">
              <a:defRPr/>
            </a:pPr>
            <a:r>
              <a:rPr lang="en-US" altLang="ko-KR" dirty="0" smtClean="0"/>
              <a:t>NAC</a:t>
            </a:r>
            <a:r>
              <a:rPr lang="ko-KR" altLang="en-US" dirty="0"/>
              <a:t>에 등록되어 있는 </a:t>
            </a:r>
            <a:r>
              <a:rPr lang="en-US" altLang="ko-KR" dirty="0">
                <a:solidFill>
                  <a:srgbClr val="FF0000"/>
                </a:solidFill>
              </a:rPr>
              <a:t>MAC </a:t>
            </a:r>
            <a:r>
              <a:rPr lang="ko-KR" altLang="en-US" dirty="0">
                <a:solidFill>
                  <a:srgbClr val="FF0000"/>
                </a:solidFill>
              </a:rPr>
              <a:t>주소로 사용자 </a:t>
            </a:r>
            <a:r>
              <a:rPr lang="en-US" altLang="ko-KR" dirty="0">
                <a:solidFill>
                  <a:srgbClr val="FF0000"/>
                </a:solidFill>
              </a:rPr>
              <a:t>PC </a:t>
            </a:r>
            <a:r>
              <a:rPr lang="ko-KR" altLang="en-US" dirty="0" smtClean="0">
                <a:solidFill>
                  <a:srgbClr val="FF0000"/>
                </a:solidFill>
              </a:rPr>
              <a:t>인증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en-US" altLang="ko-KR" dirty="0" smtClean="0">
                <a:solidFill>
                  <a:srgbClr val="FF0000"/>
                </a:solidFill>
              </a:rPr>
              <a:t>SSO</a:t>
            </a:r>
            <a:r>
              <a:rPr lang="ko-KR" altLang="en-US" dirty="0">
                <a:solidFill>
                  <a:srgbClr val="FF0000"/>
                </a:solidFill>
              </a:rPr>
              <a:t>와 연계</a:t>
            </a:r>
            <a:r>
              <a:rPr lang="ko-KR" altLang="en-US" dirty="0"/>
              <a:t>하여 네트워크에 접근하는 </a:t>
            </a:r>
            <a:r>
              <a:rPr lang="ko-KR" altLang="en-US" dirty="0">
                <a:solidFill>
                  <a:srgbClr val="FF0000"/>
                </a:solidFill>
              </a:rPr>
              <a:t>사용자의 아이디와 패스워드</a:t>
            </a:r>
            <a:r>
              <a:rPr lang="ko-KR" altLang="en-US" dirty="0"/>
              <a:t>를 추가로 요청하여 인증 </a:t>
            </a:r>
            <a:r>
              <a:rPr lang="ko-KR" altLang="en-US" dirty="0" smtClean="0"/>
              <a:t>수행</a:t>
            </a:r>
            <a:endParaRPr lang="en-US" altLang="ko-KR" dirty="0" smtClean="0"/>
          </a:p>
          <a:p>
            <a:pPr lvl="3">
              <a:defRPr/>
            </a:pPr>
            <a:endParaRPr lang="en-US" altLang="ko-KR" dirty="0" smtClean="0"/>
          </a:p>
          <a:p>
            <a:pPr marL="676275" lvl="2" indent="-228600">
              <a:buFont typeface="+mj-ea"/>
              <a:buAutoNum type="circleNumDbPlain"/>
              <a:defRPr/>
            </a:pPr>
            <a:r>
              <a:rPr lang="ko-KR" altLang="en-US" dirty="0" smtClean="0"/>
              <a:t>인증 </a:t>
            </a:r>
            <a:r>
              <a:rPr lang="ko-KR" altLang="en-US" dirty="0"/>
              <a:t>과정 중 </a:t>
            </a:r>
            <a:r>
              <a:rPr lang="ko-KR" altLang="en-US" dirty="0">
                <a:solidFill>
                  <a:srgbClr val="FF0000"/>
                </a:solidFill>
              </a:rPr>
              <a:t>백신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보안 패치의 적절성 여부 </a:t>
            </a:r>
            <a:r>
              <a:rPr lang="ko-KR" altLang="en-US" dirty="0" smtClean="0"/>
              <a:t>검토</a:t>
            </a:r>
            <a:endParaRPr lang="en-US" altLang="ko-KR" dirty="0"/>
          </a:p>
          <a:p>
            <a:pPr lvl="3">
              <a:defRPr/>
            </a:pPr>
            <a:r>
              <a:rPr lang="ko-KR" altLang="en-US" dirty="0" smtClean="0"/>
              <a:t>네트워크 </a:t>
            </a:r>
            <a:r>
              <a:rPr lang="ko-KR" altLang="en-US" dirty="0"/>
              <a:t>접근 </a:t>
            </a:r>
            <a:r>
              <a:rPr lang="ko-KR" altLang="en-US" dirty="0" smtClean="0"/>
              <a:t>허용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인증이 </a:t>
            </a:r>
            <a:r>
              <a:rPr lang="ko-KR" altLang="en-US" dirty="0"/>
              <a:t>완료되면 네트워크 접근 </a:t>
            </a:r>
            <a:r>
              <a:rPr lang="ko-KR" altLang="en-US" dirty="0" smtClean="0"/>
              <a:t>허용</a:t>
            </a:r>
            <a:endParaRPr lang="en-US" altLang="ko-KR" dirty="0" smtClean="0"/>
          </a:p>
          <a:p>
            <a:pPr lvl="3">
              <a:defRPr/>
            </a:pPr>
            <a:endParaRPr lang="en-US" altLang="ko-KR" dirty="0"/>
          </a:p>
          <a:p>
            <a:pPr marL="676275" lvl="2" indent="-228600">
              <a:buFont typeface="+mj-ea"/>
              <a:buAutoNum type="circleNumDbPlain"/>
              <a:defRPr/>
            </a:pPr>
            <a:r>
              <a:rPr lang="ko-KR" altLang="en-US" dirty="0" smtClean="0"/>
              <a:t>네트워크 </a:t>
            </a:r>
            <a:r>
              <a:rPr lang="ko-KR" altLang="en-US" dirty="0"/>
              <a:t>접근 </a:t>
            </a:r>
            <a:r>
              <a:rPr lang="ko-KR" altLang="en-US" dirty="0" smtClean="0"/>
              <a:t>거부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보안 </a:t>
            </a:r>
            <a:r>
              <a:rPr lang="ko-KR" altLang="en-US" dirty="0">
                <a:solidFill>
                  <a:srgbClr val="FF0000"/>
                </a:solidFill>
              </a:rPr>
              <a:t>정책을 제대로 준수하지 않거나 바이러스에 감염</a:t>
            </a:r>
            <a:r>
              <a:rPr lang="ko-KR" altLang="en-US" dirty="0"/>
              <a:t>되었을 때는 네트워크 접근이 거부되고 네트워크에서 </a:t>
            </a:r>
            <a:r>
              <a:rPr lang="ko-KR" altLang="en-US" dirty="0" smtClean="0"/>
              <a:t>격리됨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격리된 </a:t>
            </a:r>
            <a:r>
              <a:rPr lang="en-US" altLang="ko-KR" dirty="0"/>
              <a:t>PC</a:t>
            </a:r>
            <a:r>
              <a:rPr lang="ko-KR" altLang="en-US" dirty="0"/>
              <a:t>는 </a:t>
            </a:r>
            <a:r>
              <a:rPr lang="ko-KR" altLang="en-US" dirty="0">
                <a:solidFill>
                  <a:srgbClr val="FF0000"/>
                </a:solidFill>
              </a:rPr>
              <a:t>필요한 정책 적용이나 치료 과정을 거친 후 다시 점검</a:t>
            </a:r>
            <a:endParaRPr lang="en-US" altLang="ko-KR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78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NAC</a:t>
            </a:r>
          </a:p>
          <a:p>
            <a:pPr lvl="1">
              <a:defRPr/>
            </a:pPr>
            <a:r>
              <a:rPr lang="en-US" altLang="ko-KR" dirty="0"/>
              <a:t>NAC </a:t>
            </a:r>
            <a:r>
              <a:rPr lang="ko-KR" altLang="en-US" dirty="0"/>
              <a:t>구현 </a:t>
            </a:r>
            <a:r>
              <a:rPr lang="ko-KR" altLang="en-US" dirty="0" smtClean="0"/>
              <a:t>방식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인라인</a:t>
            </a:r>
            <a:r>
              <a:rPr lang="ko-KR" altLang="en-US" dirty="0"/>
              <a:t> 방식</a:t>
            </a:r>
          </a:p>
          <a:p>
            <a:pPr lvl="3">
              <a:defRPr/>
            </a:pPr>
            <a:r>
              <a:rPr lang="en-US" altLang="ko-KR" dirty="0"/>
              <a:t>NAC</a:t>
            </a:r>
            <a:r>
              <a:rPr lang="ko-KR" altLang="en-US" dirty="0"/>
              <a:t>를 이용하여 </a:t>
            </a:r>
            <a:r>
              <a:rPr lang="ko-KR" altLang="en-US" dirty="0">
                <a:solidFill>
                  <a:srgbClr val="FF0000"/>
                </a:solidFill>
              </a:rPr>
              <a:t>방화벽과 같은 방식</a:t>
            </a:r>
            <a:r>
              <a:rPr lang="ko-KR" altLang="en-US" dirty="0"/>
              <a:t>으로 접근 </a:t>
            </a:r>
            <a:r>
              <a:rPr lang="ko-KR" altLang="en-US" dirty="0" smtClean="0"/>
              <a:t>차단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게이트웨이 형태로 일부 물리적 네트워크에 </a:t>
            </a:r>
            <a:r>
              <a:rPr lang="en-US" altLang="ko-KR" dirty="0"/>
              <a:t>NAC</a:t>
            </a:r>
            <a:r>
              <a:rPr lang="ko-KR" altLang="en-US" dirty="0"/>
              <a:t>를 추가하는 것으로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FF0000"/>
                </a:solidFill>
              </a:rPr>
              <a:t>기존 네트워크 변경을 최소화</a:t>
            </a:r>
            <a:r>
              <a:rPr lang="ko-KR" altLang="en-US" dirty="0"/>
              <a:t>하여 적용 가능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279" y="3933056"/>
            <a:ext cx="5652120" cy="137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59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NAC</a:t>
            </a:r>
          </a:p>
          <a:p>
            <a:pPr lvl="1">
              <a:defRPr/>
            </a:pPr>
            <a:r>
              <a:rPr lang="en-US" altLang="ko-KR" dirty="0"/>
              <a:t>NAC </a:t>
            </a:r>
            <a:r>
              <a:rPr lang="ko-KR" altLang="en-US" dirty="0"/>
              <a:t>구현 </a:t>
            </a:r>
            <a:r>
              <a:rPr lang="ko-KR" altLang="en-US" dirty="0" smtClean="0"/>
              <a:t>방식</a:t>
            </a:r>
            <a:endParaRPr lang="en-US" altLang="ko-KR" dirty="0" smtClean="0"/>
          </a:p>
          <a:p>
            <a:pPr lvl="2">
              <a:defRPr/>
            </a:pPr>
            <a:r>
              <a:rPr lang="en-US" altLang="ko-KR" dirty="0">
                <a:solidFill>
                  <a:srgbClr val="FF0000"/>
                </a:solidFill>
              </a:rPr>
              <a:t>802.1x </a:t>
            </a:r>
            <a:r>
              <a:rPr lang="ko-KR" altLang="en-US" dirty="0"/>
              <a:t>방식</a:t>
            </a:r>
          </a:p>
          <a:p>
            <a:pPr lvl="3">
              <a:defRPr/>
            </a:pPr>
            <a:r>
              <a:rPr lang="en-US" altLang="ko-KR" dirty="0"/>
              <a:t>802.1x </a:t>
            </a:r>
            <a:r>
              <a:rPr lang="ko-KR" altLang="en-US" dirty="0"/>
              <a:t>프로토콜과 </a:t>
            </a:r>
            <a:r>
              <a:rPr lang="en-US" altLang="ko-KR" dirty="0"/>
              <a:t>RADIUS </a:t>
            </a:r>
            <a:r>
              <a:rPr lang="ko-KR" altLang="en-US" dirty="0"/>
              <a:t>서버를 이용하는 </a:t>
            </a:r>
            <a:r>
              <a:rPr lang="ko-KR" altLang="en-US" dirty="0" smtClean="0"/>
              <a:t>것</a:t>
            </a:r>
            <a:endParaRPr lang="en-US" altLang="ko-KR" dirty="0"/>
          </a:p>
          <a:p>
            <a:pPr lvl="3">
              <a:defRPr/>
            </a:pPr>
            <a:r>
              <a:rPr lang="ko-KR" altLang="en-US" dirty="0">
                <a:solidFill>
                  <a:srgbClr val="FF0000"/>
                </a:solidFill>
              </a:rPr>
              <a:t>실질적인 접근 허용이나 차단은 스위치에서 </a:t>
            </a:r>
            <a:r>
              <a:rPr lang="ko-KR" altLang="en-US" dirty="0" smtClean="0">
                <a:solidFill>
                  <a:srgbClr val="FF0000"/>
                </a:solidFill>
              </a:rPr>
              <a:t>수행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>
              <a:defRPr/>
            </a:pPr>
            <a:r>
              <a:rPr lang="ko-KR" altLang="en-US" dirty="0" smtClean="0"/>
              <a:t>신규 </a:t>
            </a:r>
            <a:r>
              <a:rPr lang="ko-KR" altLang="en-US" dirty="0"/>
              <a:t>클라이언트에 대한 인증 요청은 </a:t>
            </a:r>
            <a:r>
              <a:rPr lang="ko-KR" altLang="en-US" dirty="0">
                <a:solidFill>
                  <a:srgbClr val="FF0000"/>
                </a:solidFill>
              </a:rPr>
              <a:t>실제로 인증을 </a:t>
            </a:r>
            <a:r>
              <a:rPr lang="ko-KR" altLang="en-US" dirty="0" smtClean="0">
                <a:solidFill>
                  <a:srgbClr val="FF0000"/>
                </a:solidFill>
              </a:rPr>
              <a:t>수행하는 </a:t>
            </a:r>
            <a:r>
              <a:rPr lang="en-US" altLang="ko-KR" dirty="0">
                <a:solidFill>
                  <a:srgbClr val="FF0000"/>
                </a:solidFill>
              </a:rPr>
              <a:t>RADIUS </a:t>
            </a:r>
            <a:r>
              <a:rPr lang="ko-KR" altLang="en-US" dirty="0">
                <a:solidFill>
                  <a:srgbClr val="FF0000"/>
                </a:solidFill>
              </a:rPr>
              <a:t>서버</a:t>
            </a:r>
            <a:r>
              <a:rPr lang="ko-KR" altLang="en-US" dirty="0"/>
              <a:t>로 </a:t>
            </a:r>
            <a:r>
              <a:rPr lang="ko-KR" altLang="en-US" dirty="0" smtClean="0"/>
              <a:t>전달</a:t>
            </a:r>
            <a:endParaRPr lang="en-US" altLang="ko-KR" dirty="0"/>
          </a:p>
          <a:p>
            <a:pPr lvl="3">
              <a:defRPr/>
            </a:pPr>
            <a:r>
              <a:rPr lang="en-US" altLang="ko-KR" dirty="0"/>
              <a:t>RADIUS </a:t>
            </a:r>
            <a:r>
              <a:rPr lang="ko-KR" altLang="en-US" dirty="0"/>
              <a:t>서버에서 스위치로 반환되는 결과에 따라 스위치는 네트워크에 대한 클라이언트 접근을 허용하거나 거부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3429000"/>
            <a:ext cx="3616375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2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NAC </a:t>
            </a:r>
          </a:p>
          <a:p>
            <a:pPr lvl="1">
              <a:defRPr/>
            </a:pPr>
            <a:r>
              <a:rPr lang="en-US" altLang="ko-KR" dirty="0"/>
              <a:t>NAC </a:t>
            </a:r>
            <a:r>
              <a:rPr lang="ko-KR" altLang="en-US" dirty="0"/>
              <a:t>구현 </a:t>
            </a:r>
            <a:r>
              <a:rPr lang="ko-KR" altLang="en-US" dirty="0" smtClean="0"/>
              <a:t>방식</a:t>
            </a:r>
            <a:endParaRPr lang="en-US" altLang="ko-KR" dirty="0" smtClean="0"/>
          </a:p>
          <a:p>
            <a:pPr lvl="2">
              <a:defRPr/>
            </a:pPr>
            <a:r>
              <a:rPr lang="en-US" altLang="ko-KR" dirty="0">
                <a:solidFill>
                  <a:srgbClr val="FF0000"/>
                </a:solidFill>
              </a:rPr>
              <a:t>VLAN</a:t>
            </a:r>
            <a:r>
              <a:rPr lang="en-US" altLang="ko-KR" dirty="0"/>
              <a:t> </a:t>
            </a:r>
            <a:r>
              <a:rPr lang="ko-KR" altLang="en-US" dirty="0" smtClean="0"/>
              <a:t>방식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err="1" smtClean="0"/>
              <a:t>인가받지</a:t>
            </a:r>
            <a:r>
              <a:rPr lang="ko-KR" altLang="en-US" dirty="0" smtClean="0"/>
              <a:t> </a:t>
            </a:r>
            <a:r>
              <a:rPr lang="ko-KR" altLang="en-US" dirty="0"/>
              <a:t>않은 사용자라면 </a:t>
            </a:r>
            <a:r>
              <a:rPr lang="en-US" altLang="ko-KR" dirty="0"/>
              <a:t>VLAN</a:t>
            </a:r>
            <a:r>
              <a:rPr lang="ko-KR" altLang="en-US" dirty="0"/>
              <a:t>으로 미리 분리된 망 중에서 </a:t>
            </a:r>
            <a:r>
              <a:rPr lang="ko-KR" altLang="en-US" dirty="0">
                <a:solidFill>
                  <a:srgbClr val="FF0000"/>
                </a:solidFill>
              </a:rPr>
              <a:t>통신이 되지 않는 </a:t>
            </a:r>
            <a:r>
              <a:rPr lang="en-US" altLang="ko-KR" dirty="0">
                <a:solidFill>
                  <a:srgbClr val="FF0000"/>
                </a:solidFill>
              </a:rPr>
              <a:t>VLAN </a:t>
            </a:r>
            <a:r>
              <a:rPr lang="ko-KR" altLang="en-US" dirty="0" smtClean="0">
                <a:solidFill>
                  <a:srgbClr val="FF0000"/>
                </a:solidFill>
              </a:rPr>
              <a:t>망</a:t>
            </a:r>
            <a:r>
              <a:rPr lang="ko-KR" altLang="en-US" dirty="0" smtClean="0"/>
              <a:t>에 </a:t>
            </a:r>
            <a:r>
              <a:rPr lang="ko-KR" altLang="en-US" dirty="0"/>
              <a:t>신규 클라이언트를 </a:t>
            </a:r>
            <a:r>
              <a:rPr lang="ko-KR" altLang="en-US" dirty="0" smtClean="0"/>
              <a:t>할당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err="1" smtClean="0"/>
              <a:t>인가받은</a:t>
            </a:r>
            <a:r>
              <a:rPr lang="ko-KR" altLang="en-US" dirty="0" smtClean="0"/>
              <a:t> </a:t>
            </a:r>
            <a:r>
              <a:rPr lang="ko-KR" altLang="en-US" dirty="0"/>
              <a:t>사용자라면 </a:t>
            </a:r>
            <a:r>
              <a:rPr lang="ko-KR" altLang="en-US" dirty="0">
                <a:solidFill>
                  <a:srgbClr val="FF0000"/>
                </a:solidFill>
              </a:rPr>
              <a:t>통신이 가능한 </a:t>
            </a:r>
            <a:r>
              <a:rPr lang="en-US" altLang="ko-KR" dirty="0">
                <a:solidFill>
                  <a:srgbClr val="FF0000"/>
                </a:solidFill>
              </a:rPr>
              <a:t>VLAN </a:t>
            </a:r>
            <a:r>
              <a:rPr lang="ko-KR" altLang="en-US" dirty="0">
                <a:solidFill>
                  <a:srgbClr val="FF0000"/>
                </a:solidFill>
              </a:rPr>
              <a:t>망</a:t>
            </a:r>
            <a:r>
              <a:rPr lang="ko-KR" altLang="en-US" dirty="0"/>
              <a:t>에 할당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103" y="2924944"/>
            <a:ext cx="4248472" cy="342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8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NAC </a:t>
            </a:r>
          </a:p>
          <a:p>
            <a:pPr lvl="1">
              <a:defRPr/>
            </a:pPr>
            <a:r>
              <a:rPr lang="en-US" altLang="ko-KR" dirty="0"/>
              <a:t>NAC </a:t>
            </a:r>
            <a:r>
              <a:rPr lang="ko-KR" altLang="en-US" dirty="0"/>
              <a:t>구현 </a:t>
            </a:r>
            <a:r>
              <a:rPr lang="ko-KR" altLang="en-US" dirty="0" smtClean="0"/>
              <a:t>방식</a:t>
            </a:r>
            <a:endParaRPr lang="en-US" altLang="ko-KR" dirty="0" smtClean="0"/>
          </a:p>
          <a:p>
            <a:pPr lvl="2">
              <a:defRPr/>
            </a:pPr>
            <a:r>
              <a:rPr lang="en-US" altLang="ko-KR" dirty="0">
                <a:solidFill>
                  <a:srgbClr val="FF0000"/>
                </a:solidFill>
              </a:rPr>
              <a:t>ARP</a:t>
            </a:r>
            <a:r>
              <a:rPr lang="en-US" altLang="ko-KR" dirty="0"/>
              <a:t> </a:t>
            </a:r>
            <a:r>
              <a:rPr lang="ko-KR" altLang="en-US" dirty="0" smtClean="0"/>
              <a:t>방식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신규 </a:t>
            </a:r>
            <a:r>
              <a:rPr lang="ko-KR" altLang="en-US" dirty="0"/>
              <a:t>클라이언트가 </a:t>
            </a:r>
            <a:r>
              <a:rPr lang="ko-KR" altLang="en-US" dirty="0">
                <a:solidFill>
                  <a:srgbClr val="FF0000"/>
                </a:solidFill>
              </a:rPr>
              <a:t>적법한 사용자</a:t>
            </a:r>
            <a:r>
              <a:rPr lang="ko-KR" altLang="en-US" dirty="0"/>
              <a:t>라면 </a:t>
            </a:r>
            <a:r>
              <a:rPr lang="en-US" altLang="ko-KR" dirty="0"/>
              <a:t>NAC</a:t>
            </a:r>
            <a:r>
              <a:rPr lang="ko-KR" altLang="en-US" dirty="0"/>
              <a:t>가 게이트웨이의 </a:t>
            </a:r>
            <a:r>
              <a:rPr lang="ko-KR" altLang="en-US" dirty="0">
                <a:solidFill>
                  <a:srgbClr val="FF0000"/>
                </a:solidFill>
              </a:rPr>
              <a:t>정상적인 </a:t>
            </a:r>
            <a:r>
              <a:rPr lang="en-US" altLang="ko-KR" dirty="0">
                <a:solidFill>
                  <a:srgbClr val="FF0000"/>
                </a:solidFill>
              </a:rPr>
              <a:t>MAC </a:t>
            </a:r>
            <a:r>
              <a:rPr lang="ko-KR" altLang="en-US" dirty="0">
                <a:solidFill>
                  <a:srgbClr val="FF0000"/>
                </a:solidFill>
              </a:rPr>
              <a:t>주소</a:t>
            </a:r>
            <a:r>
              <a:rPr lang="ko-KR" altLang="en-US" dirty="0"/>
              <a:t>를 </a:t>
            </a:r>
            <a:r>
              <a:rPr lang="ko-KR" altLang="en-US" dirty="0" smtClean="0"/>
              <a:t>알림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그렇지 </a:t>
            </a:r>
            <a:r>
              <a:rPr lang="ko-KR" altLang="en-US" dirty="0">
                <a:solidFill>
                  <a:srgbClr val="FF0000"/>
                </a:solidFill>
              </a:rPr>
              <a:t>않은 사용자</a:t>
            </a:r>
            <a:r>
              <a:rPr lang="ko-KR" altLang="en-US" dirty="0"/>
              <a:t>라면 </a:t>
            </a:r>
            <a:r>
              <a:rPr lang="ko-KR" altLang="en-US" dirty="0">
                <a:solidFill>
                  <a:srgbClr val="FF0000"/>
                </a:solidFill>
              </a:rPr>
              <a:t>비정상적인 </a:t>
            </a:r>
            <a:r>
              <a:rPr lang="en-US" altLang="ko-KR" dirty="0">
                <a:solidFill>
                  <a:srgbClr val="FF0000"/>
                </a:solidFill>
              </a:rPr>
              <a:t>MAC </a:t>
            </a:r>
            <a:r>
              <a:rPr lang="ko-KR" altLang="en-US" dirty="0">
                <a:solidFill>
                  <a:srgbClr val="FF0000"/>
                </a:solidFill>
              </a:rPr>
              <a:t>주소</a:t>
            </a:r>
            <a:r>
              <a:rPr lang="ko-KR" altLang="en-US" dirty="0"/>
              <a:t>를 전송하여 네트워크에 대한 접근을 </a:t>
            </a:r>
            <a:r>
              <a:rPr lang="ko-KR" altLang="en-US" dirty="0" smtClean="0"/>
              <a:t>막음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898" y="2996952"/>
            <a:ext cx="4028882" cy="342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34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NAC </a:t>
            </a:r>
          </a:p>
          <a:p>
            <a:pPr lvl="1">
              <a:defRPr/>
            </a:pPr>
            <a:r>
              <a:rPr lang="en-US" altLang="ko-KR" dirty="0"/>
              <a:t>NAC </a:t>
            </a:r>
            <a:r>
              <a:rPr lang="ko-KR" altLang="en-US" dirty="0"/>
              <a:t>구현 </a:t>
            </a:r>
            <a:r>
              <a:rPr lang="ko-KR" altLang="en-US" dirty="0" smtClean="0"/>
              <a:t>방식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소프트웨어 에이전트 설치 </a:t>
            </a:r>
            <a:r>
              <a:rPr lang="ko-KR" altLang="en-US" dirty="0"/>
              <a:t>방식 </a:t>
            </a:r>
            <a:endParaRPr lang="en-US" altLang="ko-KR" dirty="0" smtClean="0"/>
          </a:p>
          <a:p>
            <a:pPr lvl="3">
              <a:defRPr/>
            </a:pPr>
            <a:r>
              <a:rPr lang="ko-KR" altLang="en-US" dirty="0" smtClean="0"/>
              <a:t>네트워크에 </a:t>
            </a:r>
            <a:r>
              <a:rPr lang="ko-KR" altLang="en-US" dirty="0"/>
              <a:t>접속하려는 </a:t>
            </a:r>
            <a:r>
              <a:rPr lang="ko-KR" altLang="en-US" dirty="0">
                <a:solidFill>
                  <a:srgbClr val="FF0000"/>
                </a:solidFill>
              </a:rPr>
              <a:t>모든 클라이언트에 에이전트를 설치</a:t>
            </a:r>
            <a:r>
              <a:rPr lang="ko-KR" altLang="en-US" dirty="0"/>
              <a:t>하는 </a:t>
            </a:r>
            <a:r>
              <a:rPr lang="ko-KR" altLang="en-US" dirty="0" smtClean="0"/>
              <a:t>것</a:t>
            </a:r>
            <a:r>
              <a:rPr lang="en-US" altLang="ko-KR" dirty="0" smtClean="0"/>
              <a:t> </a:t>
            </a:r>
          </a:p>
          <a:p>
            <a:pPr lvl="3">
              <a:defRPr/>
            </a:pPr>
            <a:r>
              <a:rPr lang="ko-KR" altLang="en-US" dirty="0" smtClean="0"/>
              <a:t>서버에서 </a:t>
            </a:r>
            <a:r>
              <a:rPr lang="ko-KR" altLang="en-US" dirty="0">
                <a:solidFill>
                  <a:srgbClr val="FF0000"/>
                </a:solidFill>
              </a:rPr>
              <a:t>차단 </a:t>
            </a:r>
            <a:r>
              <a:rPr lang="ko-KR" altLang="en-US" dirty="0" smtClean="0">
                <a:solidFill>
                  <a:srgbClr val="FF0000"/>
                </a:solidFill>
              </a:rPr>
              <a:t>정책을 </a:t>
            </a:r>
            <a:r>
              <a:rPr lang="ko-KR" altLang="en-US" dirty="0">
                <a:solidFill>
                  <a:srgbClr val="FF0000"/>
                </a:solidFill>
              </a:rPr>
              <a:t>설정</a:t>
            </a:r>
            <a:r>
              <a:rPr lang="ko-KR" altLang="en-US" dirty="0"/>
              <a:t>하여 설치된 에이전트로 네트워크를 </a:t>
            </a:r>
            <a:r>
              <a:rPr lang="ko-KR" altLang="en-US" dirty="0" smtClean="0"/>
              <a:t>차단 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352" y="3098367"/>
            <a:ext cx="4001973" cy="342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5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434282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보안 </a:t>
            </a:r>
            <a:r>
              <a:rPr lang="ko-KR" altLang="en-US" dirty="0" smtClean="0"/>
              <a:t>운영체제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운영체제에 내재된 결함으로 발생할 수 있는 각종 해킹으로부터 시스템을 보호하기 위해 보안 기능이 </a:t>
            </a:r>
            <a:r>
              <a:rPr lang="ko-KR" altLang="en-US" dirty="0" smtClean="0"/>
              <a:t>통합된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r>
              <a:rPr lang="ko-KR" altLang="en-US" dirty="0"/>
              <a:t> </a:t>
            </a:r>
            <a:r>
              <a:rPr lang="ko-KR" altLang="en-US" dirty="0" smtClean="0"/>
              <a:t>  </a:t>
            </a:r>
            <a:r>
              <a:rPr lang="ko-KR" altLang="en-US" dirty="0" smtClean="0">
                <a:solidFill>
                  <a:srgbClr val="FF0000"/>
                </a:solidFill>
              </a:rPr>
              <a:t>보안 </a:t>
            </a:r>
            <a:r>
              <a:rPr lang="ko-KR" altLang="en-US" dirty="0">
                <a:solidFill>
                  <a:srgbClr val="FF0000"/>
                </a:solidFill>
              </a:rPr>
              <a:t>커널을 추가로 이식</a:t>
            </a:r>
            <a:r>
              <a:rPr lang="ko-KR" altLang="en-US" dirty="0"/>
              <a:t>한 </a:t>
            </a:r>
            <a:r>
              <a:rPr lang="ko-KR" altLang="en-US" dirty="0" smtClean="0"/>
              <a:t>운영체제</a:t>
            </a:r>
            <a:endParaRPr lang="en-US" altLang="ko-KR" dirty="0"/>
          </a:p>
          <a:p>
            <a:pPr lvl="2">
              <a:defRPr/>
            </a:pPr>
            <a:r>
              <a:rPr lang="ko-KR" altLang="en-US" dirty="0" smtClean="0"/>
              <a:t>기본으로 </a:t>
            </a:r>
            <a:r>
              <a:rPr lang="ko-KR" altLang="en-US" dirty="0"/>
              <a:t>열려 있는 취약 </a:t>
            </a:r>
            <a:r>
              <a:rPr lang="ko-KR" altLang="en-US" dirty="0" smtClean="0"/>
              <a:t>서비스를 </a:t>
            </a:r>
            <a:r>
              <a:rPr lang="ko-KR" altLang="en-US" dirty="0"/>
              <a:t>모두 차단하여 더 나은 보안 체계로 운영되도록 </a:t>
            </a:r>
            <a:r>
              <a:rPr lang="ko-KR" altLang="en-US" dirty="0" smtClean="0"/>
              <a:t>함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시스템에서 일어나는 프로세스 활동이 보안 정책에 위반되지 않는지를 </a:t>
            </a:r>
            <a:r>
              <a:rPr lang="ko-KR" altLang="en-US" dirty="0" smtClean="0"/>
              <a:t>검사 하기 </a:t>
            </a:r>
            <a:r>
              <a:rPr lang="ko-KR" altLang="en-US" dirty="0"/>
              <a:t>위해 </a:t>
            </a:r>
            <a:r>
              <a:rPr lang="en-US" altLang="ko-KR" dirty="0"/>
              <a:t>CPU</a:t>
            </a:r>
            <a:r>
              <a:rPr lang="ko-KR" altLang="en-US" dirty="0"/>
              <a:t>의 일정 부분을 점유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801" y="2708920"/>
            <a:ext cx="3237092" cy="40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13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434282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백신</a:t>
            </a:r>
          </a:p>
          <a:p>
            <a:pPr lvl="2">
              <a:defRPr/>
            </a:pPr>
            <a:r>
              <a:rPr lang="ko-KR" altLang="en-US" dirty="0"/>
              <a:t>시스템의 바이러스를 잡기 위해 만들어진 것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우리나라의 대표적인 백신 프로그램은 </a:t>
            </a:r>
            <a:r>
              <a:rPr lang="en-US" altLang="ko-KR" dirty="0" smtClean="0"/>
              <a:t>V3, </a:t>
            </a:r>
            <a:r>
              <a:rPr lang="ko-KR" altLang="en-US" dirty="0" smtClean="0"/>
              <a:t>알약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백신 프로그램이 시스템에 상주하면서 바이러스나 웜이 구동하면 실시간 탐지 및 제거하는 형태로 </a:t>
            </a:r>
            <a:r>
              <a:rPr lang="ko-KR" altLang="en-US" dirty="0" smtClean="0"/>
              <a:t>운영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바이러스</a:t>
            </a:r>
            <a:r>
              <a:rPr lang="en-US" altLang="ko-KR" dirty="0"/>
              <a:t>, </a:t>
            </a:r>
            <a:r>
              <a:rPr lang="ko-KR" altLang="en-US" dirty="0"/>
              <a:t>웜</a:t>
            </a:r>
            <a:r>
              <a:rPr lang="en-US" altLang="ko-KR" dirty="0"/>
              <a:t>, </a:t>
            </a:r>
            <a:r>
              <a:rPr lang="ko-KR" altLang="en-US" dirty="0"/>
              <a:t>인터넷으로 유포되는 악성 코드까지 탐지 및 제거 </a:t>
            </a:r>
            <a:r>
              <a:rPr lang="ko-KR" altLang="en-US" dirty="0" smtClean="0"/>
              <a:t>가능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59152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506290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PC </a:t>
            </a:r>
            <a:r>
              <a:rPr lang="ko-KR" altLang="en-US" dirty="0"/>
              <a:t>방화벽</a:t>
            </a:r>
          </a:p>
          <a:p>
            <a:pPr lvl="2">
              <a:defRPr/>
            </a:pPr>
            <a:r>
              <a:rPr lang="ko-KR" altLang="en-US" dirty="0"/>
              <a:t>네트워크상의 웜이나 공격자로부터 </a:t>
            </a:r>
            <a:r>
              <a:rPr lang="en-US" altLang="ko-KR" dirty="0"/>
              <a:t>PC</a:t>
            </a:r>
            <a:r>
              <a:rPr lang="ko-KR" altLang="en-US" dirty="0"/>
              <a:t>를 보호하기 위해 </a:t>
            </a:r>
            <a:r>
              <a:rPr lang="ko-KR" altLang="en-US" dirty="0" smtClean="0"/>
              <a:t>사용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PC </a:t>
            </a:r>
            <a:r>
              <a:rPr lang="ko-KR" altLang="en-US" dirty="0"/>
              <a:t>내부로 유입되는 </a:t>
            </a:r>
            <a:r>
              <a:rPr lang="ko-KR" altLang="en-US" dirty="0" smtClean="0"/>
              <a:t>패킷 뿐만 </a:t>
            </a:r>
            <a:r>
              <a:rPr lang="ko-KR" altLang="en-US" dirty="0"/>
              <a:t>아니라 나가는 패킷도 모두 </a:t>
            </a:r>
            <a:r>
              <a:rPr lang="ko-KR" altLang="en-US" dirty="0" smtClean="0"/>
              <a:t>차단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사용자에게 </a:t>
            </a:r>
            <a:r>
              <a:rPr lang="ko-KR" altLang="en-US" dirty="0"/>
              <a:t>네트워크 패킷의 적절성 여부를 </a:t>
            </a:r>
            <a:r>
              <a:rPr lang="ko-KR" altLang="en-US" dirty="0" smtClean="0"/>
              <a:t>확인 받음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최근의 윈도우 운영체제는 운영체제 수준에서 방화벽을 </a:t>
            </a:r>
            <a:r>
              <a:rPr lang="ko-KR" altLang="en-US" dirty="0" smtClean="0"/>
              <a:t>제공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484" y="2852936"/>
            <a:ext cx="5447733" cy="369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83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506290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PC </a:t>
            </a:r>
            <a:r>
              <a:rPr lang="ko-KR" altLang="en-US" dirty="0"/>
              <a:t>방화벽</a:t>
            </a:r>
          </a:p>
          <a:p>
            <a:pPr lvl="2">
              <a:defRPr/>
            </a:pPr>
            <a:r>
              <a:rPr lang="ko-KR" altLang="en-US" dirty="0"/>
              <a:t>윈도우 방화벽에서는 일반적인 방화벽 솔루션과 같은 방식으로 </a:t>
            </a:r>
            <a:r>
              <a:rPr lang="en-US" altLang="ko-KR" dirty="0"/>
              <a:t>'</a:t>
            </a:r>
            <a:r>
              <a:rPr lang="ko-KR" altLang="en-US" dirty="0" err="1"/>
              <a:t>인바운드</a:t>
            </a:r>
            <a:r>
              <a:rPr lang="ko-KR" altLang="en-US" dirty="0"/>
              <a:t> 규칙</a:t>
            </a:r>
            <a:r>
              <a:rPr lang="en-US" altLang="ko-KR" dirty="0"/>
              <a:t>'</a:t>
            </a:r>
            <a:r>
              <a:rPr lang="ko-KR" altLang="en-US" dirty="0"/>
              <a:t>과 </a:t>
            </a:r>
            <a:r>
              <a:rPr lang="en-US" altLang="ko-KR" dirty="0"/>
              <a:t>'</a:t>
            </a:r>
            <a:r>
              <a:rPr lang="ko-KR" altLang="en-US" dirty="0"/>
              <a:t>아웃바운드 규칙</a:t>
            </a:r>
            <a:r>
              <a:rPr lang="en-US" altLang="ko-KR" dirty="0"/>
              <a:t>'</a:t>
            </a:r>
            <a:r>
              <a:rPr lang="ko-KR" altLang="en-US" dirty="0"/>
              <a:t>을 통제 가능</a:t>
            </a:r>
            <a:endParaRPr lang="en-US" altLang="ko-KR" dirty="0"/>
          </a:p>
          <a:p>
            <a:pPr lvl="3">
              <a:defRPr/>
            </a:pPr>
            <a:r>
              <a:rPr lang="ko-KR" altLang="en-US" dirty="0" err="1">
                <a:solidFill>
                  <a:srgbClr val="FF0000"/>
                </a:solidFill>
              </a:rPr>
              <a:t>인바운드</a:t>
            </a:r>
            <a:r>
              <a:rPr lang="ko-KR" altLang="en-US" dirty="0"/>
              <a:t> 규칙</a:t>
            </a:r>
            <a:r>
              <a:rPr lang="en-US" altLang="ko-KR" dirty="0"/>
              <a:t>: </a:t>
            </a:r>
            <a:r>
              <a:rPr lang="ko-KR" altLang="en-US" dirty="0"/>
              <a:t>외부에서 내부로 들어오는 패킷에 대한 규칙</a:t>
            </a:r>
            <a:endParaRPr lang="en-US" altLang="ko-KR" dirty="0"/>
          </a:p>
          <a:p>
            <a:pPr lvl="3">
              <a:defRPr/>
            </a:pPr>
            <a:r>
              <a:rPr lang="ko-KR" altLang="en-US" dirty="0">
                <a:solidFill>
                  <a:srgbClr val="FF0000"/>
                </a:solidFill>
              </a:rPr>
              <a:t>아웃바운드</a:t>
            </a:r>
            <a:r>
              <a:rPr lang="ko-KR" altLang="en-US" dirty="0"/>
              <a:t> 규칙</a:t>
            </a:r>
            <a:r>
              <a:rPr lang="en-US" altLang="ko-KR" dirty="0"/>
              <a:t>: </a:t>
            </a:r>
            <a:r>
              <a:rPr lang="ko-KR" altLang="en-US" dirty="0"/>
              <a:t>내부에서 외부로 나가는 패킷에 대한 규칙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708920"/>
            <a:ext cx="5580112" cy="357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49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스팸 필터 </a:t>
            </a:r>
            <a:r>
              <a:rPr lang="ko-KR" altLang="en-US" dirty="0" smtClean="0"/>
              <a:t>솔루션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/>
              <a:t>메일 헤더 </a:t>
            </a:r>
            <a:r>
              <a:rPr lang="ko-KR" altLang="en-US" dirty="0" err="1"/>
              <a:t>필터링</a:t>
            </a:r>
            <a:endParaRPr lang="ko-KR" altLang="en-US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메일 헤더의 내용 중</a:t>
            </a:r>
            <a:r>
              <a:rPr lang="ko-KR" altLang="en-US" dirty="0"/>
              <a:t>에서 </a:t>
            </a:r>
            <a:r>
              <a:rPr lang="en-US" altLang="ko-KR" dirty="0"/>
              <a:t>ID/</a:t>
            </a:r>
            <a:r>
              <a:rPr lang="ko-KR" altLang="en-US" dirty="0"/>
              <a:t>보내는 사람 이름</a:t>
            </a:r>
            <a:r>
              <a:rPr lang="en-US" altLang="ko-KR" dirty="0"/>
              <a:t>/</a:t>
            </a:r>
            <a:r>
              <a:rPr lang="ko-KR" altLang="en-US" dirty="0"/>
              <a:t>도메인에 특정 내용이 포함되어 있는지 </a:t>
            </a:r>
            <a:r>
              <a:rPr lang="ko-KR" altLang="en-US" dirty="0" smtClean="0"/>
              <a:t>검사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보낸 </a:t>
            </a:r>
            <a:r>
              <a:rPr lang="ko-KR" altLang="en-US" dirty="0"/>
              <a:t>서버에서 </a:t>
            </a:r>
            <a:r>
              <a:rPr lang="en-US" altLang="ko-KR" dirty="0"/>
              <a:t>IP/</a:t>
            </a:r>
            <a:r>
              <a:rPr lang="ko-KR" altLang="en-US" dirty="0"/>
              <a:t>도메인</a:t>
            </a:r>
            <a:r>
              <a:rPr lang="en-US" altLang="ko-KR" dirty="0"/>
              <a:t>/</a:t>
            </a:r>
            <a:r>
              <a:rPr lang="ko-KR" altLang="en-US" dirty="0"/>
              <a:t>반송 </a:t>
            </a:r>
            <a:r>
              <a:rPr lang="ko-KR" altLang="en-US" dirty="0" smtClean="0"/>
              <a:t>주소의 </a:t>
            </a:r>
            <a:r>
              <a:rPr lang="ko-KR" altLang="en-US" dirty="0"/>
              <a:t>유효성과 이상 유무 </a:t>
            </a:r>
            <a:r>
              <a:rPr lang="ko-KR" altLang="en-US" dirty="0" smtClean="0"/>
              <a:t>검사</a:t>
            </a:r>
            <a:endParaRPr lang="en-US" altLang="ko-KR" dirty="0"/>
          </a:p>
          <a:p>
            <a:pPr lvl="2">
              <a:defRPr/>
            </a:pPr>
            <a:r>
              <a:rPr lang="ko-KR" altLang="en-US" dirty="0" smtClean="0"/>
              <a:t>메일 </a:t>
            </a:r>
            <a:r>
              <a:rPr lang="ko-KR" altLang="en-US" dirty="0"/>
              <a:t>헤더의 받는 사람</a:t>
            </a:r>
            <a:r>
              <a:rPr lang="en-US" altLang="ko-KR" dirty="0"/>
              <a:t>, </a:t>
            </a:r>
            <a:r>
              <a:rPr lang="ko-KR" altLang="en-US" dirty="0" err="1"/>
              <a:t>참조자</a:t>
            </a:r>
            <a:r>
              <a:rPr lang="en-US" altLang="ko-KR" dirty="0"/>
              <a:t>, </a:t>
            </a:r>
            <a:r>
              <a:rPr lang="ko-KR" altLang="en-US" dirty="0"/>
              <a:t>숨은 </a:t>
            </a:r>
            <a:r>
              <a:rPr lang="ko-KR" altLang="en-US" dirty="0" err="1"/>
              <a:t>참조자</a:t>
            </a:r>
            <a:r>
              <a:rPr lang="ko-KR" altLang="en-US" dirty="0"/>
              <a:t> 필드에 너무 많은 수신자가 포함되어 있는지</a:t>
            </a:r>
            <a:r>
              <a:rPr lang="en-US" altLang="ko-KR" dirty="0"/>
              <a:t>, </a:t>
            </a:r>
            <a:r>
              <a:rPr lang="ko-KR" altLang="en-US" dirty="0"/>
              <a:t>존재하지 않은 </a:t>
            </a:r>
            <a:endParaRPr lang="en-US" altLang="ko-KR" dirty="0" smtClean="0"/>
          </a:p>
          <a:p>
            <a:pPr marL="447675" lvl="2" indent="0">
              <a:buNone/>
              <a:defRPr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수신자가 </a:t>
            </a:r>
            <a:r>
              <a:rPr lang="ko-KR" altLang="en-US" dirty="0"/>
              <a:t>포함되어 있는지 검사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763" y="3429000"/>
            <a:ext cx="5379160" cy="288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0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스팸 필터 </a:t>
            </a:r>
            <a:r>
              <a:rPr lang="ko-KR" altLang="en-US" dirty="0" smtClean="0"/>
              <a:t>솔루션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/>
              <a:t>제목 </a:t>
            </a:r>
            <a:r>
              <a:rPr lang="ko-KR" altLang="en-US" dirty="0" err="1"/>
              <a:t>필터링</a:t>
            </a:r>
            <a:endParaRPr lang="ko-KR" altLang="en-US" dirty="0"/>
          </a:p>
          <a:p>
            <a:pPr lvl="2">
              <a:defRPr/>
            </a:pPr>
            <a:r>
              <a:rPr lang="ko-KR" altLang="en-US" dirty="0"/>
              <a:t>메일을 이용한 웜 공격은 제목에 특정 문자열이 있거나 일정 수 이상의 공백 문자열이 있는 것이 </a:t>
            </a:r>
            <a:r>
              <a:rPr lang="ko-KR" altLang="en-US" dirty="0" smtClean="0"/>
              <a:t>특징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메일 </a:t>
            </a:r>
            <a:r>
              <a:rPr lang="ko-KR" altLang="en-US" dirty="0">
                <a:solidFill>
                  <a:srgbClr val="FF0000"/>
                </a:solidFill>
              </a:rPr>
              <a:t>제목에 </a:t>
            </a:r>
            <a:r>
              <a:rPr lang="en-US" altLang="ko-KR" dirty="0">
                <a:solidFill>
                  <a:srgbClr val="FF0000"/>
                </a:solidFill>
              </a:rPr>
              <a:t>'</a:t>
            </a:r>
            <a:r>
              <a:rPr lang="ko-KR" altLang="en-US" dirty="0">
                <a:solidFill>
                  <a:srgbClr val="FF0000"/>
                </a:solidFill>
              </a:rPr>
              <a:t>광고</a:t>
            </a:r>
            <a:r>
              <a:rPr lang="en-US" altLang="ko-KR" dirty="0">
                <a:solidFill>
                  <a:srgbClr val="FF0000"/>
                </a:solidFill>
              </a:rPr>
              <a:t>' </a:t>
            </a:r>
            <a:r>
              <a:rPr lang="ko-KR" altLang="en-US" dirty="0">
                <a:solidFill>
                  <a:srgbClr val="FF0000"/>
                </a:solidFill>
              </a:rPr>
              <a:t>등의 특정 문자열이 포함되어 있는지 검사</a:t>
            </a:r>
            <a:r>
              <a:rPr lang="ko-KR" altLang="en-US" dirty="0"/>
              <a:t>하여 웜 차단 </a:t>
            </a:r>
            <a:r>
              <a:rPr lang="ko-KR" altLang="en-US" dirty="0" smtClean="0"/>
              <a:t>가능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본문 </a:t>
            </a:r>
            <a:r>
              <a:rPr lang="ko-KR" altLang="en-US" dirty="0" err="1"/>
              <a:t>필터링</a:t>
            </a:r>
            <a:endParaRPr lang="ko-KR" altLang="en-US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메일 본문에 특정 단어나 문자가 포함되어 있는지 </a:t>
            </a:r>
            <a:r>
              <a:rPr lang="ko-KR" altLang="en-US" dirty="0" smtClean="0">
                <a:solidFill>
                  <a:srgbClr val="FF0000"/>
                </a:solidFill>
              </a:rPr>
              <a:t>검사</a:t>
            </a:r>
            <a:endParaRPr lang="en-US" altLang="ko-KR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dirty="0"/>
              <a:t>메일 본문과 메일 전체의 크기를 비교하여 유효성 </a:t>
            </a:r>
            <a:r>
              <a:rPr lang="ko-KR" altLang="en-US" dirty="0" smtClean="0"/>
              <a:t>확인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첨부 파일 </a:t>
            </a:r>
            <a:r>
              <a:rPr lang="ko-KR" altLang="en-US" dirty="0" err="1"/>
              <a:t>필터링</a:t>
            </a:r>
            <a:endParaRPr lang="ko-KR" altLang="en-US" dirty="0"/>
          </a:p>
          <a:p>
            <a:pPr lvl="2">
              <a:defRPr/>
            </a:pPr>
            <a:r>
              <a:rPr lang="ko-KR" altLang="en-US" dirty="0"/>
              <a:t>첨부된 파일의 </a:t>
            </a:r>
            <a:r>
              <a:rPr lang="ko-KR" altLang="en-US" dirty="0">
                <a:solidFill>
                  <a:srgbClr val="FF0000"/>
                </a:solidFill>
              </a:rPr>
              <a:t>이름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크기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개수</a:t>
            </a:r>
            <a:r>
              <a:rPr lang="ko-KR" altLang="en-US" dirty="0"/>
              <a:t> 및 첨부 파일 </a:t>
            </a:r>
            <a:r>
              <a:rPr lang="ko-KR" altLang="en-US" dirty="0">
                <a:solidFill>
                  <a:srgbClr val="FF0000"/>
                </a:solidFill>
              </a:rPr>
              <a:t>이름의 길이</a:t>
            </a:r>
            <a:r>
              <a:rPr lang="ko-KR" altLang="en-US" dirty="0"/>
              <a:t>를 기준으로 </a:t>
            </a:r>
            <a:r>
              <a:rPr lang="ko-KR" altLang="en-US" dirty="0" err="1"/>
              <a:t>필터링</a:t>
            </a:r>
            <a:r>
              <a:rPr lang="ko-KR" altLang="en-US" dirty="0"/>
              <a:t> </a:t>
            </a:r>
            <a:r>
              <a:rPr lang="ko-KR" altLang="en-US" dirty="0" smtClean="0"/>
              <a:t>수행</a:t>
            </a:r>
            <a:endParaRPr lang="en-US" altLang="ko-KR" dirty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특정 </a:t>
            </a:r>
            <a:r>
              <a:rPr lang="ko-KR" altLang="en-US" dirty="0" err="1">
                <a:solidFill>
                  <a:srgbClr val="FF0000"/>
                </a:solidFill>
              </a:rPr>
              <a:t>확장자를</a:t>
            </a:r>
            <a:r>
              <a:rPr lang="ko-KR" altLang="en-US" dirty="0">
                <a:solidFill>
                  <a:srgbClr val="FF0000"/>
                </a:solidFill>
              </a:rPr>
              <a:t> 가진 첨부 파일만 전송</a:t>
            </a:r>
            <a:r>
              <a:rPr lang="ko-KR" altLang="en-US" dirty="0"/>
              <a:t>되도록 </a:t>
            </a:r>
            <a:r>
              <a:rPr lang="ko-KR" altLang="en-US" dirty="0" smtClean="0"/>
              <a:t>설정</a:t>
            </a:r>
            <a:endParaRPr lang="en-US" altLang="ko-KR" dirty="0"/>
          </a:p>
          <a:p>
            <a:pPr lvl="3">
              <a:defRPr/>
            </a:pPr>
            <a:r>
              <a:rPr lang="en-US" altLang="ko-KR" dirty="0">
                <a:solidFill>
                  <a:srgbClr val="FF0000"/>
                </a:solidFill>
              </a:rPr>
              <a:t>exe, com, </a:t>
            </a:r>
            <a:r>
              <a:rPr lang="en-US" altLang="ko-KR" dirty="0" err="1">
                <a:solidFill>
                  <a:srgbClr val="FF0000"/>
                </a:solidFill>
              </a:rPr>
              <a:t>dll</a:t>
            </a:r>
            <a:r>
              <a:rPr lang="en-US" altLang="ko-KR" dirty="0">
                <a:solidFill>
                  <a:srgbClr val="FF0000"/>
                </a:solidFill>
              </a:rPr>
              <a:t>, bat</a:t>
            </a:r>
            <a:r>
              <a:rPr lang="ko-KR" altLang="en-US" dirty="0"/>
              <a:t>처럼 실행이 가능한 </a:t>
            </a:r>
            <a:r>
              <a:rPr lang="ko-KR" altLang="en-US" dirty="0" err="1"/>
              <a:t>확장자를</a:t>
            </a:r>
            <a:r>
              <a:rPr lang="ko-KR" altLang="en-US" dirty="0"/>
              <a:t> 가진 첨부 파일을 </a:t>
            </a:r>
            <a:r>
              <a:rPr lang="ko-KR" altLang="en-US" dirty="0" err="1">
                <a:solidFill>
                  <a:srgbClr val="FF0000"/>
                </a:solidFill>
              </a:rPr>
              <a:t>필터링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4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DRM</a:t>
            </a:r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문서 </a:t>
            </a:r>
            <a:r>
              <a:rPr lang="ko-KR" altLang="en-US" dirty="0">
                <a:solidFill>
                  <a:srgbClr val="FF0000"/>
                </a:solidFill>
              </a:rPr>
              <a:t>보안에 초점</a:t>
            </a:r>
            <a:r>
              <a:rPr lang="ko-KR" altLang="en-US" dirty="0"/>
              <a:t>을 둔 </a:t>
            </a:r>
            <a:r>
              <a:rPr lang="ko-KR" altLang="en-US" dirty="0" smtClean="0"/>
              <a:t>기술로</a:t>
            </a:r>
            <a:r>
              <a:rPr lang="en-US" altLang="ko-KR" dirty="0"/>
              <a:t> </a:t>
            </a:r>
            <a:r>
              <a:rPr lang="ko-KR" altLang="en-US" dirty="0"/>
              <a:t>문서의 열람</a:t>
            </a:r>
            <a:r>
              <a:rPr lang="en-US" altLang="ko-KR" dirty="0"/>
              <a:t>, </a:t>
            </a:r>
            <a:r>
              <a:rPr lang="ko-KR" altLang="en-US" dirty="0"/>
              <a:t>편집</a:t>
            </a:r>
            <a:r>
              <a:rPr lang="en-US" altLang="ko-KR" dirty="0"/>
              <a:t>, </a:t>
            </a:r>
            <a:r>
              <a:rPr lang="ko-KR" altLang="en-US" dirty="0"/>
              <a:t>인쇄에 접근 권한을 설정하여 </a:t>
            </a:r>
            <a:r>
              <a:rPr lang="ko-KR" altLang="en-US" dirty="0" smtClean="0"/>
              <a:t>통제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 smtClean="0"/>
              <a:t>특정한 </a:t>
            </a:r>
            <a:r>
              <a:rPr lang="ko-KR" altLang="en-US" dirty="0"/>
              <a:t>형태의 문서만 통제하는 것이 </a:t>
            </a:r>
            <a:r>
              <a:rPr lang="ko-KR" altLang="en-US" dirty="0" smtClean="0"/>
              <a:t>아니라 </a:t>
            </a:r>
            <a:r>
              <a:rPr lang="ko-KR" altLang="en-US" dirty="0"/>
              <a:t>사무에 사용하는 대부분의 파일을 통제할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운영체제 커널에 </a:t>
            </a:r>
            <a:r>
              <a:rPr lang="en-US" altLang="ko-KR" dirty="0"/>
              <a:t>DRM </a:t>
            </a:r>
            <a:r>
              <a:rPr lang="ko-KR" altLang="en-US" dirty="0"/>
              <a:t>모듈을 삽입하는 형태로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pPr lvl="2">
              <a:defRPr/>
            </a:pPr>
            <a:r>
              <a:rPr lang="en-US" altLang="ko-KR" dirty="0"/>
              <a:t>DRM </a:t>
            </a:r>
            <a:r>
              <a:rPr lang="ko-KR" altLang="en-US" dirty="0"/>
              <a:t>모듈로 운영되는 시스템의 하드디스크에는 </a:t>
            </a:r>
            <a:r>
              <a:rPr lang="ko-KR" altLang="en-US" dirty="0">
                <a:solidFill>
                  <a:srgbClr val="FF0000"/>
                </a:solidFill>
              </a:rPr>
              <a:t>암호화된 파일이 저장</a:t>
            </a:r>
            <a:r>
              <a:rPr lang="ko-KR" altLang="en-US" dirty="0"/>
              <a:t>되므로 </a:t>
            </a:r>
            <a:r>
              <a:rPr lang="ko-KR" altLang="en-US" dirty="0">
                <a:solidFill>
                  <a:srgbClr val="FF0000"/>
                </a:solidFill>
              </a:rPr>
              <a:t>하드디스크를 </a:t>
            </a:r>
            <a:r>
              <a:rPr lang="ko-KR" altLang="en-US" dirty="0" err="1">
                <a:solidFill>
                  <a:srgbClr val="FF0000"/>
                </a:solidFill>
              </a:rPr>
              <a:t>도난당해도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marL="447675" lvl="2" indent="0">
              <a:buNone/>
              <a:defRPr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  </a:t>
            </a:r>
            <a:r>
              <a:rPr lang="ko-KR" altLang="en-US" dirty="0" smtClean="0">
                <a:solidFill>
                  <a:srgbClr val="FF0000"/>
                </a:solidFill>
              </a:rPr>
              <a:t>보안상 </a:t>
            </a:r>
            <a:r>
              <a:rPr lang="ko-KR" altLang="en-US" dirty="0">
                <a:solidFill>
                  <a:srgbClr val="FF0000"/>
                </a:solidFill>
              </a:rPr>
              <a:t>위험이 </a:t>
            </a:r>
            <a:r>
              <a:rPr lang="ko-KR" altLang="en-US" dirty="0" smtClean="0">
                <a:solidFill>
                  <a:srgbClr val="FF0000"/>
                </a:solidFill>
              </a:rPr>
              <a:t>적음</a:t>
            </a:r>
            <a:endParaRPr lang="en-US" altLang="ko-KR" dirty="0" smtClean="0">
              <a:solidFill>
                <a:srgbClr val="FF000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924943"/>
            <a:ext cx="3116888" cy="366739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3068960"/>
            <a:ext cx="3603441" cy="280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0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DRM</a:t>
            </a:r>
          </a:p>
          <a:p>
            <a:pPr lvl="2">
              <a:defRPr/>
            </a:pPr>
            <a:r>
              <a:rPr lang="en-US" altLang="ko-KR" dirty="0"/>
              <a:t>DRM </a:t>
            </a:r>
            <a:r>
              <a:rPr lang="ko-KR" altLang="en-US" dirty="0"/>
              <a:t>인증 체제는 인증서를 이용하는 경우가 </a:t>
            </a:r>
            <a:r>
              <a:rPr lang="ko-KR" altLang="en-US" dirty="0" smtClean="0"/>
              <a:t>많음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관리자는 각각의 인증서에 권한을 설정하여 문서 접근 권한을 </a:t>
            </a:r>
            <a:r>
              <a:rPr lang="ko-KR" altLang="en-US" dirty="0" smtClean="0"/>
              <a:t>설정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DRM </a:t>
            </a:r>
            <a:r>
              <a:rPr lang="ko-KR" altLang="en-US" dirty="0"/>
              <a:t>기술은 </a:t>
            </a:r>
            <a:r>
              <a:rPr lang="ko-KR" altLang="en-US" dirty="0">
                <a:solidFill>
                  <a:srgbClr val="FF0000"/>
                </a:solidFill>
              </a:rPr>
              <a:t>첨단 지식 관련 산업이나 높은 </a:t>
            </a:r>
            <a:r>
              <a:rPr lang="ko-KR" altLang="en-US" dirty="0" err="1">
                <a:solidFill>
                  <a:srgbClr val="FF0000"/>
                </a:solidFill>
              </a:rPr>
              <a:t>보안성을</a:t>
            </a:r>
            <a:r>
              <a:rPr lang="ko-KR" altLang="en-US" dirty="0">
                <a:solidFill>
                  <a:srgbClr val="FF0000"/>
                </a:solidFill>
              </a:rPr>
              <a:t> 요하는 정부 기관에서 주로 사용</a:t>
            </a:r>
            <a:endParaRPr lang="en-US" altLang="ko-KR" dirty="0">
              <a:solidFill>
                <a:srgbClr val="FF000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636912"/>
            <a:ext cx="5148064" cy="38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2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/>
              <a:t>기타 보안 솔루션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DLP(Data Leak Prevention)</a:t>
            </a:r>
          </a:p>
          <a:p>
            <a:pPr lvl="1">
              <a:defRPr/>
            </a:pPr>
            <a:r>
              <a:rPr lang="en-US" altLang="ko-KR" dirty="0" smtClean="0"/>
              <a:t>DLP</a:t>
            </a:r>
            <a:r>
              <a:rPr lang="ko-KR" altLang="en-US" dirty="0" smtClean="0"/>
              <a:t>의 개요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>
                <a:solidFill>
                  <a:srgbClr val="FF0000"/>
                </a:solidFill>
              </a:rPr>
              <a:t>다양한 데이터 전송 인터페이스를 제어</a:t>
            </a:r>
            <a:r>
              <a:rPr lang="ko-KR" altLang="en-US" dirty="0"/>
              <a:t>하여 </a:t>
            </a:r>
            <a:r>
              <a:rPr lang="ko-KR" altLang="en-US" dirty="0">
                <a:solidFill>
                  <a:srgbClr val="FF0000"/>
                </a:solidFill>
              </a:rPr>
              <a:t>사용자 수준에서 정보가 유출되는 것을 막는 솔루션</a:t>
            </a:r>
            <a:r>
              <a:rPr lang="ko-KR" altLang="en-US" dirty="0"/>
              <a:t>을 </a:t>
            </a:r>
            <a:r>
              <a:rPr lang="ko-KR" altLang="en-US" dirty="0" smtClean="0"/>
              <a:t>통칭</a:t>
            </a:r>
            <a:endParaRPr lang="en-US" altLang="ko-KR" dirty="0" smtClean="0"/>
          </a:p>
          <a:p>
            <a:pPr lvl="2">
              <a:defRPr/>
            </a:pPr>
            <a:r>
              <a:rPr lang="ko-KR" altLang="en-US" dirty="0"/>
              <a:t>기술적으로 숙련되지 않은 일반인의 활동이라도 </a:t>
            </a:r>
            <a:r>
              <a:rPr lang="en-US" altLang="ko-KR" dirty="0"/>
              <a:t>DLP</a:t>
            </a:r>
            <a:r>
              <a:rPr lang="ko-KR" altLang="en-US" dirty="0"/>
              <a:t>로 완벽하게 차단하기는 쉽지 않음</a:t>
            </a:r>
            <a:endParaRPr lang="en-US" altLang="ko-KR" dirty="0"/>
          </a:p>
          <a:p>
            <a:pPr lvl="1">
              <a:defRPr/>
            </a:pPr>
            <a:endParaRPr lang="en-US" altLang="ko-KR" sz="100" dirty="0" smtClean="0"/>
          </a:p>
          <a:p>
            <a:pPr lvl="1">
              <a:defRPr/>
            </a:pPr>
            <a:r>
              <a:rPr lang="ko-KR" altLang="en-US" dirty="0" smtClean="0"/>
              <a:t>매체 </a:t>
            </a:r>
            <a:r>
              <a:rPr lang="ko-KR" altLang="en-US" dirty="0"/>
              <a:t>제어</a:t>
            </a:r>
          </a:p>
          <a:p>
            <a:pPr lvl="2">
              <a:defRPr/>
            </a:pPr>
            <a:r>
              <a:rPr lang="ko-KR" altLang="en-US" dirty="0"/>
              <a:t>다양한 매체를 제어하는 </a:t>
            </a:r>
            <a:r>
              <a:rPr lang="en-US" altLang="ko-KR" dirty="0"/>
              <a:t>DLP</a:t>
            </a:r>
            <a:r>
              <a:rPr lang="ko-KR" altLang="en-US" dirty="0"/>
              <a:t>가 있지만 </a:t>
            </a:r>
            <a:r>
              <a:rPr lang="en-US" altLang="ko-KR" dirty="0">
                <a:solidFill>
                  <a:srgbClr val="FF0000"/>
                </a:solidFill>
              </a:rPr>
              <a:t>SATA </a:t>
            </a:r>
            <a:r>
              <a:rPr lang="ko-KR" altLang="en-US" dirty="0">
                <a:solidFill>
                  <a:srgbClr val="FF0000"/>
                </a:solidFill>
              </a:rPr>
              <a:t>인터페이스로 하드디스크에 연결하는 경우는 제어 </a:t>
            </a:r>
            <a:r>
              <a:rPr lang="ko-KR" altLang="en-US" dirty="0" smtClean="0">
                <a:solidFill>
                  <a:srgbClr val="FF0000"/>
                </a:solidFill>
              </a:rPr>
              <a:t>불가능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endParaRPr lang="en-US" altLang="ko-KR" sz="100" dirty="0" smtClean="0"/>
          </a:p>
          <a:p>
            <a:pPr lvl="1">
              <a:defRPr/>
            </a:pPr>
            <a:r>
              <a:rPr lang="ko-KR" altLang="en-US" dirty="0" smtClean="0"/>
              <a:t>통신 </a:t>
            </a:r>
            <a:r>
              <a:rPr lang="ko-KR" altLang="en-US" dirty="0"/>
              <a:t>인터페이스 제어</a:t>
            </a:r>
          </a:p>
          <a:p>
            <a:pPr lvl="2">
              <a:defRPr/>
            </a:pPr>
            <a:r>
              <a:rPr lang="ko-KR" altLang="en-US" dirty="0"/>
              <a:t>방해 전파 발생기와 같은 원리로 </a:t>
            </a:r>
            <a:r>
              <a:rPr lang="ko-KR" altLang="en-US" dirty="0">
                <a:solidFill>
                  <a:srgbClr val="FF0000"/>
                </a:solidFill>
              </a:rPr>
              <a:t>통신 라인을 통한 정보 유출을 막는 솔루션 </a:t>
            </a:r>
            <a:r>
              <a:rPr lang="ko-KR" altLang="en-US" dirty="0" smtClean="0"/>
              <a:t>등장</a:t>
            </a:r>
            <a:endParaRPr lang="en-US" altLang="ko-KR" dirty="0"/>
          </a:p>
          <a:p>
            <a:pPr lvl="2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통신 </a:t>
            </a:r>
            <a:r>
              <a:rPr lang="ko-KR" altLang="en-US" dirty="0">
                <a:solidFill>
                  <a:srgbClr val="FF0000"/>
                </a:solidFill>
              </a:rPr>
              <a:t>인터페이스가 포함된 단말 장치 반입을 금지</a:t>
            </a:r>
            <a:r>
              <a:rPr lang="ko-KR" altLang="en-US" dirty="0"/>
              <a:t>하거나 </a:t>
            </a:r>
            <a:r>
              <a:rPr lang="ko-KR" altLang="en-US" dirty="0">
                <a:solidFill>
                  <a:srgbClr val="FF0000"/>
                </a:solidFill>
              </a:rPr>
              <a:t>업무용 단말 장치는 통신 인터페이스를 제거하고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marL="447675" lvl="2" indent="0">
              <a:buNone/>
              <a:defRPr/>
            </a:pPr>
            <a:r>
              <a:rPr lang="en-US" altLang="ko-KR" sz="1050" dirty="0" smtClean="0">
                <a:solidFill>
                  <a:srgbClr val="FF0000"/>
                </a:solidFill>
              </a:rPr>
              <a:t>    </a:t>
            </a:r>
            <a:r>
              <a:rPr lang="ko-KR" altLang="en-US" dirty="0" smtClean="0">
                <a:solidFill>
                  <a:srgbClr val="FF0000"/>
                </a:solidFill>
              </a:rPr>
              <a:t>사용</a:t>
            </a:r>
            <a:r>
              <a:rPr lang="ko-KR" altLang="en-US" dirty="0" smtClean="0"/>
              <a:t>하는 </a:t>
            </a:r>
            <a:r>
              <a:rPr lang="ko-KR" altLang="en-US" dirty="0"/>
              <a:t>것이 </a:t>
            </a:r>
            <a:r>
              <a:rPr lang="ko-KR" altLang="en-US" dirty="0" smtClean="0"/>
              <a:t>일반적</a:t>
            </a:r>
            <a:endParaRPr lang="en-US" altLang="ko-KR" dirty="0"/>
          </a:p>
          <a:p>
            <a:pPr lvl="2">
              <a:defRPr/>
            </a:pPr>
            <a:endParaRPr lang="en-US" altLang="ko-KR" sz="100" dirty="0" smtClean="0"/>
          </a:p>
          <a:p>
            <a:pPr lvl="1">
              <a:defRPr/>
            </a:pPr>
            <a:r>
              <a:rPr lang="ko-KR" altLang="en-US" dirty="0" smtClean="0"/>
              <a:t>인터넷 </a:t>
            </a:r>
            <a:r>
              <a:rPr lang="ko-KR" altLang="en-US" dirty="0"/>
              <a:t>통신 제어</a:t>
            </a:r>
          </a:p>
          <a:p>
            <a:pPr lvl="2">
              <a:defRPr/>
            </a:pPr>
            <a:r>
              <a:rPr lang="ko-KR" altLang="en-US" dirty="0" err="1">
                <a:solidFill>
                  <a:srgbClr val="FF0000"/>
                </a:solidFill>
              </a:rPr>
              <a:t>클라우드</a:t>
            </a:r>
            <a:r>
              <a:rPr lang="ko-KR" altLang="en-US" dirty="0">
                <a:solidFill>
                  <a:srgbClr val="FF0000"/>
                </a:solidFill>
              </a:rPr>
              <a:t> 저장 공간을 통한 정보 유출을 막기 위해 </a:t>
            </a:r>
            <a:r>
              <a:rPr lang="ko-KR" altLang="en-US" dirty="0"/>
              <a:t>해당 사이트의 접속을 막는 식으로 </a:t>
            </a:r>
            <a:r>
              <a:rPr lang="ko-KR" altLang="en-US" dirty="0" smtClean="0"/>
              <a:t>대응</a:t>
            </a:r>
            <a:endParaRPr lang="en-US" altLang="ko-KR" dirty="0"/>
          </a:p>
          <a:p>
            <a:pPr lvl="2">
              <a:defRPr/>
            </a:pPr>
            <a:r>
              <a:rPr lang="ko-KR" altLang="en-US" dirty="0" smtClean="0"/>
              <a:t>개인이 </a:t>
            </a:r>
            <a:r>
              <a:rPr lang="ko-KR" altLang="en-US" dirty="0"/>
              <a:t>자신만의 </a:t>
            </a:r>
            <a:r>
              <a:rPr lang="ko-KR" altLang="en-US" dirty="0" err="1"/>
              <a:t>클라우드</a:t>
            </a:r>
            <a:r>
              <a:rPr lang="ko-KR" altLang="en-US" dirty="0"/>
              <a:t> 저장 서버를 생성할 수도 있어 </a:t>
            </a:r>
            <a:r>
              <a:rPr lang="ko-KR" altLang="en-US" dirty="0">
                <a:solidFill>
                  <a:srgbClr val="FF0000"/>
                </a:solidFill>
              </a:rPr>
              <a:t>완벽히 차단하기 </a:t>
            </a:r>
            <a:r>
              <a:rPr lang="ko-KR" altLang="en-US" dirty="0" smtClean="0">
                <a:solidFill>
                  <a:srgbClr val="FF0000"/>
                </a:solidFill>
              </a:rPr>
              <a:t>어려움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>
              <a:defRPr/>
            </a:pP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92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6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2968</TotalTime>
  <Words>3038</Words>
  <Application>Microsoft Office PowerPoint</Application>
  <PresentationFormat>화면 슬라이드 쇼(4:3)</PresentationFormat>
  <Paragraphs>526</Paragraphs>
  <Slides>54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0" baseType="lpstr">
      <vt:lpstr>HY견고딕</vt:lpstr>
      <vt:lpstr>맑은 고딕</vt:lpstr>
      <vt:lpstr>Arial</vt:lpstr>
      <vt:lpstr>Tahoma</vt:lpstr>
      <vt:lpstr>Wingdings</vt:lpstr>
      <vt:lpstr>Office 테마</vt:lpstr>
      <vt:lpstr>9 보안 시스템</vt:lpstr>
      <vt:lpstr>PowerPoint 프레젠테이션</vt:lpstr>
      <vt:lpstr>PowerPoint 프레젠테이션</vt:lpstr>
      <vt:lpstr>1. 인증 시스템 </vt:lpstr>
      <vt:lpstr>1. 인증 시스템 </vt:lpstr>
      <vt:lpstr>1. 인증 시스템 </vt:lpstr>
      <vt:lpstr>1. 인증 시스템 </vt:lpstr>
      <vt:lpstr>1. 인증 시스템 </vt:lpstr>
      <vt:lpstr>1. 인증 시스템 </vt:lpstr>
      <vt:lpstr>1. 인증 시스템 </vt:lpstr>
      <vt:lpstr>1. 인증 시스템 </vt:lpstr>
      <vt:lpstr>1. 인증 시스템 </vt:lpstr>
      <vt:lpstr>2. 방화벽</vt:lpstr>
      <vt:lpstr>2. 방화벽</vt:lpstr>
      <vt:lpstr>2. 방화벽</vt:lpstr>
      <vt:lpstr>2. 방화벽</vt:lpstr>
      <vt:lpstr>2. 방화벽</vt:lpstr>
      <vt:lpstr>3. 침입 탐지 시스템</vt:lpstr>
      <vt:lpstr>3. 침입 탐지 시스템</vt:lpstr>
      <vt:lpstr>3. 침입 탐지 시스템</vt:lpstr>
      <vt:lpstr>3. 침입 탐지 시스템</vt:lpstr>
      <vt:lpstr>3. 침입 탐지 시스템</vt:lpstr>
      <vt:lpstr>3. 침입 탐지 시스템</vt:lpstr>
      <vt:lpstr>3. 침입 탐지 시스템</vt:lpstr>
      <vt:lpstr>3. 침입 탐지 시스템</vt:lpstr>
      <vt:lpstr>4. 침입 방지 시스템 </vt:lpstr>
      <vt:lpstr>4. 침입 방지 시스템 </vt:lpstr>
      <vt:lpstr>4. 침입 방지 시스템 </vt:lpstr>
      <vt:lpstr>4. 침입 방지 시스템 </vt:lpstr>
      <vt:lpstr>5. 통제 및 감시 장비</vt:lpstr>
      <vt:lpstr>5. 통제 및 감시 장비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6. 기타 보안 솔루션 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ㅇㅅㅇ</dc:creator>
  <cp:lastModifiedBy>USER</cp:lastModifiedBy>
  <cp:revision>252</cp:revision>
  <dcterms:created xsi:type="dcterms:W3CDTF">2020-06-18T03:20:34Z</dcterms:created>
  <dcterms:modified xsi:type="dcterms:W3CDTF">2025-11-24T08:20:16Z</dcterms:modified>
</cp:coreProperties>
</file>