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handoutMasterIdLst>
    <p:handoutMasterId r:id="rId28"/>
  </p:handoutMasterIdLst>
  <p:sldIdLst>
    <p:sldId id="522" r:id="rId2"/>
    <p:sldId id="524" r:id="rId3"/>
    <p:sldId id="525" r:id="rId4"/>
    <p:sldId id="526" r:id="rId5"/>
    <p:sldId id="527" r:id="rId6"/>
    <p:sldId id="528" r:id="rId7"/>
    <p:sldId id="529" r:id="rId8"/>
    <p:sldId id="530" r:id="rId9"/>
    <p:sldId id="531" r:id="rId10"/>
    <p:sldId id="532" r:id="rId11"/>
    <p:sldId id="533" r:id="rId12"/>
    <p:sldId id="535" r:id="rId13"/>
    <p:sldId id="534" r:id="rId14"/>
    <p:sldId id="536" r:id="rId15"/>
    <p:sldId id="537" r:id="rId16"/>
    <p:sldId id="539" r:id="rId17"/>
    <p:sldId id="538" r:id="rId18"/>
    <p:sldId id="541" r:id="rId19"/>
    <p:sldId id="542" r:id="rId20"/>
    <p:sldId id="543" r:id="rId21"/>
    <p:sldId id="544" r:id="rId22"/>
    <p:sldId id="545" r:id="rId23"/>
    <p:sldId id="546" r:id="rId24"/>
    <p:sldId id="547" r:id="rId25"/>
    <p:sldId id="548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8"/>
    <a:srgbClr val="21C9D6"/>
    <a:srgbClr val="88D0D6"/>
    <a:srgbClr val="E6E7E9"/>
    <a:srgbClr val="8F9CCD"/>
    <a:srgbClr val="4C60AC"/>
    <a:srgbClr val="E6B4C0"/>
    <a:srgbClr val="F3DDE2"/>
    <a:srgbClr val="C85873"/>
    <a:srgbClr val="83C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1" autoAdjust="0"/>
    <p:restoredTop sz="98898" autoAdjust="0"/>
  </p:normalViewPr>
  <p:slideViewPr>
    <p:cSldViewPr>
      <p:cViewPr varScale="1">
        <p:scale>
          <a:sx n="99" d="100"/>
          <a:sy n="99" d="100"/>
        </p:scale>
        <p:origin x="1230" y="84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5921928"/>
            <a:ext cx="9144000" cy="936071"/>
          </a:xfrm>
          <a:prstGeom prst="rect">
            <a:avLst/>
          </a:prstGeom>
          <a:solidFill>
            <a:srgbClr val="8F9C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xmlns="" id="{86410889-0442-4231-B9CA-3F0F289FD4E1}"/>
              </a:ext>
            </a:extLst>
          </p:cNvPr>
          <p:cNvSpPr txBox="1"/>
          <p:nvPr userDrawn="1"/>
        </p:nvSpPr>
        <p:spPr>
          <a:xfrm>
            <a:off x="619945" y="6028546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 smtClean="0">
                <a:latin typeface="+mn-lt"/>
                <a:ea typeface="맑은 고딕" pitchFamily="50" charset="-127"/>
              </a:rPr>
              <a:t>Chapter.</a:t>
            </a:r>
            <a:endParaRPr kumimoji="0" lang="en-US" altLang="ko-KR" sz="3300" b="1" dirty="0">
              <a:latin typeface="+mn-lt"/>
              <a:ea typeface="맑은 고딕" pitchFamily="50" charset="-127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6102609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475656" y="116632"/>
            <a:ext cx="4973183" cy="5646684"/>
            <a:chOff x="2339752" y="144826"/>
            <a:chExt cx="4973183" cy="5646684"/>
          </a:xfrm>
        </p:grpSpPr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465441" y="2060848"/>
              <a:ext cx="4721804" cy="2629227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39752" y="144826"/>
              <a:ext cx="4973183" cy="1974372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136805" y="4797152"/>
              <a:ext cx="3379077" cy="994358"/>
            </a:xfrm>
            <a:prstGeom prst="rect">
              <a:avLst/>
            </a:prstGeom>
          </p:spPr>
        </p:pic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5968" y="188641"/>
            <a:ext cx="72309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xmlns="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xmlns="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899031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xmlns="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B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xmlns="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Clr>
                <a:srgbClr val="00B2C0"/>
              </a:buClr>
              <a:buFont typeface="+mj-lt"/>
              <a:buAutoNum type="arabicPeriod"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56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B4BA2D2-52F7-42A1-8EBA-192AEC431238}"/>
              </a:ext>
            </a:extLst>
          </p:cNvPr>
          <p:cNvGrpSpPr/>
          <p:nvPr userDrawn="1"/>
        </p:nvGrpSpPr>
        <p:grpSpPr>
          <a:xfrm>
            <a:off x="0" y="836712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7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5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009BA8">
                  <a:alpha val="20000"/>
                </a:srgb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009BA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9BA8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00B2C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00C1D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00C1D0"/>
              </a:buClr>
              <a:buSzPct val="96000"/>
              <a:defRPr sz="1050"/>
            </a:lvl4pPr>
            <a:lvl5pPr marL="990600" indent="-180975">
              <a:buClr>
                <a:srgbClr val="00C1D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xmlns="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009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71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2025-12-01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24" r:id="rId4"/>
    <p:sldLayoutId id="2147483726" r:id="rId5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 </a:t>
            </a:r>
            <a:r>
              <a:rPr lang="en-US" altLang="ko-KR" dirty="0" err="1" smtClean="0"/>
              <a:t>IoT</a:t>
            </a:r>
            <a:r>
              <a:rPr lang="en-US" altLang="ko-KR" dirty="0" smtClean="0"/>
              <a:t> </a:t>
            </a:r>
            <a:r>
              <a:rPr lang="ko-KR" altLang="en-US" dirty="0"/>
              <a:t>보안과 </a:t>
            </a:r>
            <a:r>
              <a:rPr lang="en-US" altLang="ko-KR" dirty="0" smtClean="0"/>
              <a:t>AI </a:t>
            </a:r>
            <a:r>
              <a:rPr lang="ko-KR" altLang="en-US" dirty="0"/>
              <a:t>보안</a:t>
            </a:r>
          </a:p>
        </p:txBody>
      </p:sp>
    </p:spTree>
    <p:extLst>
      <p:ext uri="{BB962C8B-B14F-4D97-AF65-F5344CB8AC3E}">
        <p14:creationId xmlns:p14="http://schemas.microsoft.com/office/powerpoint/2010/main" val="191392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IoT</a:t>
            </a:r>
            <a:r>
              <a:rPr lang="en-US" altLang="ko-KR" dirty="0" smtClean="0"/>
              <a:t> </a:t>
            </a:r>
            <a:r>
              <a:rPr lang="ko-KR" altLang="en-US" dirty="0"/>
              <a:t>보안</a:t>
            </a:r>
          </a:p>
          <a:p>
            <a:r>
              <a:rPr lang="en-US" altLang="ko-KR" dirty="0" smtClean="0"/>
              <a:t>AI</a:t>
            </a:r>
            <a:r>
              <a:rPr lang="en-US" altLang="ko-KR" dirty="0"/>
              <a:t> </a:t>
            </a:r>
            <a:r>
              <a:rPr lang="ko-KR" altLang="en-US" dirty="0"/>
              <a:t>에 대한 이해</a:t>
            </a:r>
          </a:p>
          <a:p>
            <a:r>
              <a:rPr lang="en-US" altLang="ko-KR" dirty="0" smtClean="0"/>
              <a:t>AI</a:t>
            </a:r>
            <a:r>
              <a:rPr lang="ko-KR" altLang="en-US" dirty="0"/>
              <a:t>의 취약점 유형과 대안</a:t>
            </a:r>
          </a:p>
          <a:p>
            <a:r>
              <a:rPr lang="en-US" altLang="ko-KR" dirty="0" smtClean="0"/>
              <a:t>AI</a:t>
            </a:r>
            <a:r>
              <a:rPr lang="ko-KR" altLang="en-US" dirty="0"/>
              <a:t>를 이용한 보안</a:t>
            </a:r>
          </a:p>
        </p:txBody>
      </p:sp>
    </p:spTree>
    <p:extLst>
      <p:ext uri="{BB962C8B-B14F-4D97-AF65-F5344CB8AC3E}">
        <p14:creationId xmlns:p14="http://schemas.microsoft.com/office/powerpoint/2010/main" val="338331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mtClean="0">
                <a:solidFill>
                  <a:srgbClr val="FF0000"/>
                </a:solidFill>
              </a:rPr>
              <a:t>IoT </a:t>
            </a:r>
            <a:r>
              <a:rPr lang="ko-KR" altLang="en-US" dirty="0">
                <a:solidFill>
                  <a:srgbClr val="FF0000"/>
                </a:solidFill>
              </a:rPr>
              <a:t>보안</a:t>
            </a:r>
            <a:r>
              <a:rPr lang="ko-KR" altLang="en-US" dirty="0"/>
              <a:t>에 대해 알아본다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의 역사와 종류별 원리</a:t>
            </a:r>
            <a:r>
              <a:rPr lang="ko-KR" altLang="en-US" dirty="0"/>
              <a:t>를 이해한다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의 보안</a:t>
            </a:r>
            <a:r>
              <a:rPr lang="ko-KR" altLang="en-US" dirty="0"/>
              <a:t> 적용 사례를 살펴본다</a:t>
            </a:r>
            <a:r>
              <a:rPr lang="en-US" altLang="ko-KR" dirty="0"/>
              <a:t>.</a:t>
            </a:r>
            <a:endParaRPr lang="en-US" altLang="ko-KR" sz="1900" dirty="0" smtClean="0"/>
          </a:p>
        </p:txBody>
      </p:sp>
    </p:spTree>
    <p:extLst>
      <p:ext uri="{BB962C8B-B14F-4D97-AF65-F5344CB8AC3E}">
        <p14:creationId xmlns:p14="http://schemas.microsoft.com/office/powerpoint/2010/main" val="150560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보안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 err="1" smtClean="0"/>
              <a:t>IoT</a:t>
            </a:r>
            <a:r>
              <a:rPr lang="ko-KR" altLang="en-US" dirty="0" smtClean="0"/>
              <a:t>의 개념</a:t>
            </a:r>
            <a:endParaRPr lang="en-US" altLang="ko-KR" dirty="0" smtClean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인터넷에 연결</a:t>
            </a:r>
            <a:r>
              <a:rPr lang="ko-KR" altLang="en-US" dirty="0"/>
              <a:t>되는 것을 </a:t>
            </a:r>
            <a:r>
              <a:rPr lang="ko-KR" altLang="en-US" dirty="0" smtClean="0"/>
              <a:t>의미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MIT </a:t>
            </a:r>
            <a:r>
              <a:rPr lang="en-US" altLang="ko-KR" dirty="0"/>
              <a:t>Auto-ID </a:t>
            </a:r>
            <a:r>
              <a:rPr lang="ko-KR" altLang="en-US" dirty="0"/>
              <a:t>센터 설립자인 </a:t>
            </a:r>
            <a:r>
              <a:rPr lang="ko-KR" altLang="en-US" dirty="0">
                <a:solidFill>
                  <a:srgbClr val="FF0000"/>
                </a:solidFill>
              </a:rPr>
              <a:t>케빈 </a:t>
            </a:r>
            <a:r>
              <a:rPr lang="ko-KR" altLang="en-US" dirty="0" err="1" smtClean="0">
                <a:solidFill>
                  <a:srgbClr val="FF0000"/>
                </a:solidFill>
              </a:rPr>
              <a:t>애시턴</a:t>
            </a:r>
            <a:r>
              <a:rPr lang="ko-KR" altLang="en-US" dirty="0" err="1" smtClean="0"/>
              <a:t>이</a:t>
            </a:r>
            <a:r>
              <a:rPr lang="ko-KR" altLang="en-US" dirty="0" smtClean="0"/>
              <a:t> </a:t>
            </a:r>
            <a:r>
              <a:rPr lang="en-US" altLang="ko-KR" dirty="0"/>
              <a:t>1999</a:t>
            </a:r>
            <a:r>
              <a:rPr lang="ko-KR" altLang="en-US" dirty="0"/>
              <a:t>년 </a:t>
            </a:r>
            <a:r>
              <a:rPr lang="ko-KR" altLang="en-US" dirty="0">
                <a:solidFill>
                  <a:srgbClr val="FF0000"/>
                </a:solidFill>
              </a:rPr>
              <a:t>사물 인터넷의 개념과 용어를 처음으로 </a:t>
            </a:r>
            <a:r>
              <a:rPr lang="ko-KR" altLang="en-US" dirty="0" smtClean="0">
                <a:solidFill>
                  <a:srgbClr val="FF0000"/>
                </a:solidFill>
              </a:rPr>
              <a:t>제안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 smtClean="0"/>
              <a:t>이미 상용화 된 </a:t>
            </a:r>
            <a:r>
              <a:rPr lang="en-US" altLang="ko-KR" dirty="0" err="1" smtClean="0"/>
              <a:t>IoT</a:t>
            </a:r>
            <a:r>
              <a:rPr lang="en-US" altLang="ko-KR" dirty="0" smtClean="0"/>
              <a:t> </a:t>
            </a:r>
            <a:r>
              <a:rPr lang="ko-KR" altLang="en-US" dirty="0"/>
              <a:t>기기로는 전구</a:t>
            </a:r>
            <a:r>
              <a:rPr lang="en-US" altLang="ko-KR" dirty="0"/>
              <a:t>, </a:t>
            </a:r>
            <a:r>
              <a:rPr lang="ko-KR" altLang="en-US" dirty="0" smtClean="0"/>
              <a:t>자동차</a:t>
            </a:r>
            <a:r>
              <a:rPr lang="en-US" altLang="ko-KR" dirty="0"/>
              <a:t>, </a:t>
            </a:r>
            <a:r>
              <a:rPr lang="ko-KR" altLang="en-US" dirty="0"/>
              <a:t>냉장고</a:t>
            </a:r>
            <a:r>
              <a:rPr lang="en-US" altLang="ko-KR" dirty="0"/>
              <a:t>, </a:t>
            </a:r>
            <a:r>
              <a:rPr lang="ko-KR" altLang="en-US" dirty="0"/>
              <a:t>보일러</a:t>
            </a:r>
            <a:r>
              <a:rPr lang="en-US" altLang="ko-KR" dirty="0"/>
              <a:t>, </a:t>
            </a:r>
            <a:r>
              <a:rPr lang="ko-KR" altLang="en-US" dirty="0"/>
              <a:t>자물쇠</a:t>
            </a:r>
            <a:r>
              <a:rPr lang="en-US" altLang="ko-KR" dirty="0"/>
              <a:t>, </a:t>
            </a:r>
            <a:r>
              <a:rPr lang="ko-KR" altLang="en-US" dirty="0"/>
              <a:t>칫솔</a:t>
            </a:r>
            <a:r>
              <a:rPr lang="en-US" altLang="ko-KR" dirty="0"/>
              <a:t>, </a:t>
            </a:r>
            <a:r>
              <a:rPr lang="ko-KR" altLang="en-US" dirty="0"/>
              <a:t>개인 비서</a:t>
            </a:r>
            <a:r>
              <a:rPr lang="en-US" altLang="ko-KR" dirty="0"/>
              <a:t>, </a:t>
            </a:r>
            <a:r>
              <a:rPr lang="ko-KR" altLang="en-US" dirty="0"/>
              <a:t>프린터 </a:t>
            </a:r>
            <a:r>
              <a:rPr lang="ko-KR" altLang="en-US" dirty="0" smtClean="0"/>
              <a:t>등</a:t>
            </a:r>
            <a:endParaRPr lang="en-US" altLang="ko-KR" dirty="0" smtClean="0"/>
          </a:p>
          <a:p>
            <a:pPr lvl="2"/>
            <a:r>
              <a:rPr lang="ko-KR" altLang="en-US" dirty="0"/>
              <a:t>매우 다양하지만</a:t>
            </a:r>
            <a:r>
              <a:rPr lang="en-US" altLang="ko-KR" dirty="0"/>
              <a:t>, </a:t>
            </a:r>
            <a:r>
              <a:rPr lang="ko-KR" altLang="en-US" dirty="0" smtClean="0"/>
              <a:t>물건에 </a:t>
            </a:r>
            <a:r>
              <a:rPr lang="ko-KR" altLang="en-US" dirty="0"/>
              <a:t>시스템을 결합한 형태라는 점은 </a:t>
            </a:r>
            <a:r>
              <a:rPr lang="ko-KR" altLang="en-US" dirty="0" smtClean="0"/>
              <a:t>동일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6" y="2752358"/>
            <a:ext cx="4127694" cy="18287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891629"/>
            <a:ext cx="2866167" cy="163371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924" y="2752358"/>
            <a:ext cx="4052654" cy="287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보안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 err="1" smtClean="0"/>
              <a:t>IoT</a:t>
            </a:r>
            <a:r>
              <a:rPr lang="ko-KR" altLang="en-US" dirty="0" smtClean="0"/>
              <a:t>의 개념</a:t>
            </a:r>
            <a:endParaRPr lang="en-US" altLang="ko-KR" dirty="0" smtClean="0"/>
          </a:p>
          <a:p>
            <a:pPr lvl="2"/>
            <a:r>
              <a:rPr lang="ko-KR" altLang="en-US" dirty="0"/>
              <a:t>일상생활에서 사용되는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제품 유형별 주요 보안 </a:t>
            </a:r>
            <a:r>
              <a:rPr lang="ko-KR" altLang="en-US" dirty="0" smtClean="0"/>
              <a:t>위협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988840"/>
            <a:ext cx="4625751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6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보안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 err="1" smtClean="0"/>
              <a:t>IoT</a:t>
            </a:r>
            <a:r>
              <a:rPr lang="ko-KR" altLang="en-US" dirty="0" smtClean="0"/>
              <a:t>의 개념</a:t>
            </a:r>
            <a:endParaRPr lang="en-US" altLang="ko-KR" dirty="0" smtClean="0"/>
          </a:p>
          <a:p>
            <a:pPr lvl="1"/>
            <a:r>
              <a:rPr lang="en-US" altLang="ko-KR" dirty="0" err="1" smtClean="0">
                <a:solidFill>
                  <a:srgbClr val="FF0000"/>
                </a:solidFill>
              </a:rPr>
              <a:t>IoT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공통 보안 </a:t>
            </a:r>
            <a:r>
              <a:rPr lang="en-US" altLang="ko-KR" dirty="0">
                <a:solidFill>
                  <a:srgbClr val="FF0000"/>
                </a:solidFill>
              </a:rPr>
              <a:t>7</a:t>
            </a:r>
            <a:r>
              <a:rPr lang="ko-KR" altLang="en-US" dirty="0">
                <a:solidFill>
                  <a:srgbClr val="FF0000"/>
                </a:solidFill>
              </a:rPr>
              <a:t>대 </a:t>
            </a:r>
            <a:r>
              <a:rPr lang="ko-KR" altLang="en-US" dirty="0" smtClean="0">
                <a:solidFill>
                  <a:srgbClr val="FF0000"/>
                </a:solidFill>
              </a:rPr>
              <a:t>원칙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Security</a:t>
            </a:r>
            <a:r>
              <a:rPr lang="en-US" altLang="ko-KR" dirty="0"/>
              <a:t> by </a:t>
            </a:r>
            <a:r>
              <a:rPr lang="en-US" altLang="ko-KR" dirty="0" smtClean="0"/>
              <a:t>Design</a:t>
            </a:r>
          </a:p>
          <a:p>
            <a:pPr marL="676275" lvl="2" indent="-228600">
              <a:buFont typeface="+mj-ea"/>
              <a:buAutoNum type="circleNumDbPlain"/>
            </a:pPr>
            <a:endParaRPr lang="en-US" altLang="ko-KR" sz="100" dirty="0" smtClean="0"/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Privacy</a:t>
            </a:r>
            <a:r>
              <a:rPr lang="en-US" altLang="ko-KR" dirty="0"/>
              <a:t> by </a:t>
            </a:r>
            <a:r>
              <a:rPr lang="en-US" altLang="ko-KR" dirty="0" smtClean="0"/>
              <a:t>Design</a:t>
            </a:r>
          </a:p>
          <a:p>
            <a:pPr marL="676275" lvl="2" indent="-228600">
              <a:buFont typeface="+mj-ea"/>
              <a:buAutoNum type="circleNumDbPlain"/>
            </a:pPr>
            <a:endParaRPr lang="en-US" altLang="ko-KR" sz="100" dirty="0" smtClean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</a:rPr>
              <a:t>안전한 소프트웨어와 하드웨어</a:t>
            </a:r>
            <a:r>
              <a:rPr lang="ko-KR" altLang="en-US" dirty="0"/>
              <a:t> 개발 기술 적용 및 </a:t>
            </a:r>
            <a:r>
              <a:rPr lang="ko-KR" altLang="en-US" dirty="0" smtClean="0"/>
              <a:t>검증</a:t>
            </a:r>
            <a:endParaRPr lang="en-US" altLang="ko-KR" dirty="0" smtClean="0"/>
          </a:p>
          <a:p>
            <a:pPr lvl="3"/>
            <a:r>
              <a:rPr lang="ko-KR" altLang="en-US" dirty="0" err="1"/>
              <a:t>시큐어</a:t>
            </a:r>
            <a:r>
              <a:rPr lang="ko-KR" altLang="en-US" dirty="0"/>
              <a:t> </a:t>
            </a:r>
            <a:r>
              <a:rPr lang="ko-KR" altLang="en-US" dirty="0" smtClean="0"/>
              <a:t>코딩</a:t>
            </a:r>
            <a:endParaRPr lang="en-US" altLang="ko-KR" dirty="0" smtClean="0"/>
          </a:p>
          <a:p>
            <a:pPr lvl="3"/>
            <a:r>
              <a:rPr lang="ko-KR" altLang="en-US" dirty="0"/>
              <a:t>소프트웨어 </a:t>
            </a:r>
            <a:r>
              <a:rPr lang="ko-KR" altLang="en-US" dirty="0" err="1"/>
              <a:t>보안성</a:t>
            </a:r>
            <a:r>
              <a:rPr lang="ko-KR" altLang="en-US" dirty="0"/>
              <a:t> </a:t>
            </a:r>
            <a:r>
              <a:rPr lang="ko-KR" altLang="en-US" dirty="0" smtClean="0"/>
              <a:t>검증</a:t>
            </a:r>
            <a:endParaRPr lang="en-US" altLang="ko-KR" dirty="0" smtClean="0"/>
          </a:p>
          <a:p>
            <a:pPr lvl="3"/>
            <a:r>
              <a:rPr lang="ko-KR" altLang="en-US" dirty="0" err="1"/>
              <a:t>시큐어</a:t>
            </a:r>
            <a:r>
              <a:rPr lang="ko-KR" altLang="en-US" dirty="0"/>
              <a:t> 하드웨어 장치 </a:t>
            </a:r>
            <a:r>
              <a:rPr lang="ko-KR" altLang="en-US" dirty="0" smtClean="0"/>
              <a:t>활용</a:t>
            </a:r>
            <a:endParaRPr lang="en-US" altLang="ko-KR" dirty="0" smtClean="0"/>
          </a:p>
          <a:p>
            <a:pPr lvl="3"/>
            <a:r>
              <a:rPr lang="ko-KR" altLang="en-US" dirty="0"/>
              <a:t>소프트웨어 보안 기술과 하드웨어 보안 기술 </a:t>
            </a:r>
            <a:r>
              <a:rPr lang="ko-KR" altLang="en-US" dirty="0" smtClean="0"/>
              <a:t>융합</a:t>
            </a:r>
            <a:endParaRPr lang="en-US" altLang="ko-KR" dirty="0" smtClean="0"/>
          </a:p>
          <a:p>
            <a:pPr marL="857250" lvl="3" indent="-228600">
              <a:buFont typeface="+mj-ea"/>
              <a:buAutoNum type="circleNumDbPlain"/>
            </a:pPr>
            <a:endParaRPr lang="en-US" altLang="ko-KR" sz="100" dirty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 smtClean="0">
                <a:solidFill>
                  <a:srgbClr val="FF0000"/>
                </a:solidFill>
              </a:rPr>
              <a:t>안전한 </a:t>
            </a:r>
            <a:r>
              <a:rPr lang="ko-KR" altLang="en-US" dirty="0">
                <a:solidFill>
                  <a:srgbClr val="FF0000"/>
                </a:solidFill>
              </a:rPr>
              <a:t>초기 보안 설정 </a:t>
            </a:r>
            <a:r>
              <a:rPr lang="ko-KR" altLang="en-US" dirty="0"/>
              <a:t>방안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pPr marL="676275" lvl="2" indent="-228600">
              <a:buFont typeface="+mj-ea"/>
              <a:buAutoNum type="circleNumDbPlain"/>
            </a:pPr>
            <a:endParaRPr lang="en-US" altLang="ko-KR" sz="100" dirty="0" smtClean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</a:rPr>
              <a:t>보안 프로토콜 </a:t>
            </a:r>
            <a:r>
              <a:rPr lang="ko-KR" altLang="en-US" dirty="0"/>
              <a:t>준수와 안전한 </a:t>
            </a:r>
            <a:r>
              <a:rPr lang="ko-KR" altLang="en-US" dirty="0" err="1"/>
              <a:t>파라미터</a:t>
            </a:r>
            <a:r>
              <a:rPr lang="ko-KR" altLang="en-US" dirty="0"/>
              <a:t>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pPr marL="676275" lvl="2" indent="-228600">
              <a:buFont typeface="+mj-ea"/>
              <a:buAutoNum type="circleNumDbPlain"/>
            </a:pPr>
            <a:endParaRPr lang="en-US" altLang="ko-KR" sz="100" dirty="0" smtClean="0"/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제품과 서비스의 취약점 </a:t>
            </a:r>
            <a:r>
              <a:rPr lang="ko-KR" altLang="en-US" dirty="0">
                <a:solidFill>
                  <a:srgbClr val="FF0000"/>
                </a:solidFill>
              </a:rPr>
              <a:t>보안 패치 </a:t>
            </a:r>
            <a:r>
              <a:rPr lang="ko-KR" altLang="en-US" dirty="0"/>
              <a:t>개발 및 업데이트 지속 </a:t>
            </a:r>
            <a:r>
              <a:rPr lang="ko-KR" altLang="en-US" dirty="0" smtClean="0"/>
              <a:t>이행</a:t>
            </a:r>
            <a:endParaRPr lang="en-US" altLang="ko-KR" dirty="0" smtClean="0"/>
          </a:p>
          <a:p>
            <a:pPr marL="676275" lvl="2" indent="-228600">
              <a:buFont typeface="+mj-ea"/>
              <a:buAutoNum type="circleNumDbPlain"/>
            </a:pPr>
            <a:endParaRPr lang="en-US" altLang="ko-KR" sz="100" dirty="0" smtClean="0"/>
          </a:p>
          <a:p>
            <a:pPr marL="676275" lvl="2" indent="-228600">
              <a:buFont typeface="+mj-ea"/>
              <a:buAutoNum type="circleNumDbPlain"/>
            </a:pPr>
            <a:r>
              <a:rPr lang="ko-KR" altLang="en-US" dirty="0"/>
              <a:t>안전한 운영</a:t>
            </a:r>
            <a:r>
              <a:rPr lang="en-US" altLang="ko-KR" dirty="0"/>
              <a:t>·</a:t>
            </a:r>
            <a:r>
              <a:rPr lang="ko-KR" altLang="en-US" dirty="0"/>
              <a:t>관리를 위한 </a:t>
            </a:r>
            <a:r>
              <a:rPr lang="ko-KR" altLang="en-US" dirty="0">
                <a:solidFill>
                  <a:srgbClr val="FF0000"/>
                </a:solidFill>
              </a:rPr>
              <a:t>정보 보호 및 프라이버시 관리 체계 </a:t>
            </a:r>
            <a:r>
              <a:rPr lang="ko-KR" altLang="en-US" dirty="0" smtClean="0">
                <a:solidFill>
                  <a:srgbClr val="FF0000"/>
                </a:solidFill>
              </a:rPr>
              <a:t>마련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676275" lvl="2" indent="-228600">
              <a:buFont typeface="+mj-ea"/>
              <a:buAutoNum type="circleNumDbPlain"/>
            </a:pPr>
            <a:endParaRPr lang="en-US" altLang="ko-KR" sz="100" dirty="0" smtClean="0"/>
          </a:p>
          <a:p>
            <a:pPr marL="676275" lvl="2" indent="-228600">
              <a:buFont typeface="+mj-ea"/>
              <a:buAutoNum type="circleNumDbPlain"/>
            </a:pP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침해 사고 대응 체계 및 책임 </a:t>
            </a:r>
            <a:r>
              <a:rPr lang="ko-KR" altLang="en-US" dirty="0" err="1">
                <a:solidFill>
                  <a:srgbClr val="FF0000"/>
                </a:solidFill>
              </a:rPr>
              <a:t>추적성</a:t>
            </a:r>
            <a:r>
              <a:rPr lang="ko-KR" altLang="en-US" dirty="0">
                <a:solidFill>
                  <a:srgbClr val="FF0000"/>
                </a:solidFill>
              </a:rPr>
              <a:t> 확보</a:t>
            </a:r>
            <a:r>
              <a:rPr lang="ko-KR" altLang="en-US" dirty="0"/>
              <a:t> 방안 마련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1727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역사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AI</a:t>
            </a:r>
            <a:r>
              <a:rPr lang="ko-KR" altLang="en-US" dirty="0"/>
              <a:t>의 </a:t>
            </a:r>
            <a:r>
              <a:rPr lang="ko-KR" altLang="en-US" dirty="0" smtClean="0"/>
              <a:t>시작</a:t>
            </a:r>
          </a:p>
          <a:p>
            <a:pPr lvl="2"/>
            <a:r>
              <a:rPr lang="en-US" altLang="ko-KR" dirty="0" smtClean="0"/>
              <a:t>1943</a:t>
            </a:r>
            <a:r>
              <a:rPr lang="ko-KR" altLang="en-US" dirty="0" smtClean="0"/>
              <a:t>년 논리학자인 </a:t>
            </a:r>
            <a:r>
              <a:rPr lang="ko-KR" altLang="en-US" dirty="0" smtClean="0">
                <a:solidFill>
                  <a:srgbClr val="FF0000"/>
                </a:solidFill>
              </a:rPr>
              <a:t>월터 </a:t>
            </a:r>
            <a:r>
              <a:rPr lang="ko-KR" altLang="en-US" dirty="0" err="1" smtClean="0">
                <a:solidFill>
                  <a:srgbClr val="FF0000"/>
                </a:solidFill>
              </a:rPr>
              <a:t>피츠</a:t>
            </a:r>
            <a:r>
              <a:rPr lang="ko-KR" altLang="en-US" dirty="0" err="1" smtClean="0"/>
              <a:t>와</a:t>
            </a:r>
            <a:r>
              <a:rPr lang="ko-KR" altLang="en-US" dirty="0" smtClean="0"/>
              <a:t> 신경외과의인 </a:t>
            </a:r>
            <a:r>
              <a:rPr lang="ko-KR" altLang="en-US" dirty="0">
                <a:solidFill>
                  <a:srgbClr val="FF0000"/>
                </a:solidFill>
              </a:rPr>
              <a:t>워렌 </a:t>
            </a:r>
            <a:r>
              <a:rPr lang="ko-KR" altLang="en-US" dirty="0" err="1" smtClean="0">
                <a:solidFill>
                  <a:srgbClr val="FF0000"/>
                </a:solidFill>
              </a:rPr>
              <a:t>맥컬럭</a:t>
            </a:r>
            <a:r>
              <a:rPr lang="ko-KR" altLang="en-US" dirty="0" err="1" smtClean="0"/>
              <a:t>의</a:t>
            </a:r>
            <a:r>
              <a:rPr lang="ko-KR" altLang="en-US" dirty="0" smtClean="0"/>
              <a:t> 논문에서 최초의 인간 두뇌에 관한 모델이 등장</a:t>
            </a:r>
          </a:p>
          <a:p>
            <a:pPr lvl="2"/>
            <a:r>
              <a:rPr lang="en-US" altLang="ko-KR" dirty="0" smtClean="0"/>
              <a:t>1950</a:t>
            </a:r>
            <a:r>
              <a:rPr lang="ko-KR" altLang="en-US" dirty="0"/>
              <a:t>년 영국의 수학자 </a:t>
            </a:r>
            <a:r>
              <a:rPr lang="ko-KR" altLang="en-US" dirty="0">
                <a:solidFill>
                  <a:srgbClr val="FF0000"/>
                </a:solidFill>
              </a:rPr>
              <a:t>앨런 </a:t>
            </a:r>
            <a:r>
              <a:rPr lang="ko-KR" altLang="en-US" dirty="0" smtClean="0">
                <a:solidFill>
                  <a:srgbClr val="FF0000"/>
                </a:solidFill>
              </a:rPr>
              <a:t>튜링</a:t>
            </a:r>
            <a:r>
              <a:rPr lang="ko-KR" altLang="en-US" dirty="0" smtClean="0"/>
              <a:t>의 논문에서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생각하는 기계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에 대해 기술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1956</a:t>
            </a:r>
            <a:r>
              <a:rPr lang="ko-KR" altLang="en-US" dirty="0" smtClean="0"/>
              <a:t>년 </a:t>
            </a:r>
            <a:r>
              <a:rPr lang="ko-KR" altLang="en-US" dirty="0" smtClean="0">
                <a:solidFill>
                  <a:srgbClr val="FF0000"/>
                </a:solidFill>
              </a:rPr>
              <a:t>존 매카시</a:t>
            </a:r>
            <a:r>
              <a:rPr lang="ko-KR" altLang="en-US" dirty="0" smtClean="0"/>
              <a:t> 교수가 ‘</a:t>
            </a:r>
            <a:r>
              <a:rPr lang="ko-KR" altLang="en-US" dirty="0" err="1" smtClean="0"/>
              <a:t>다트머스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 </a:t>
            </a:r>
            <a:r>
              <a:rPr lang="ko-KR" altLang="en-US" dirty="0" err="1" smtClean="0"/>
              <a:t>컨퍼런스’를</a:t>
            </a:r>
            <a:r>
              <a:rPr lang="ko-KR" altLang="en-US" dirty="0" smtClean="0"/>
              <a:t> 개최하면서 초청장 문구에 </a:t>
            </a:r>
            <a:r>
              <a:rPr lang="ko-KR" altLang="en-US" dirty="0" smtClean="0">
                <a:solidFill>
                  <a:srgbClr val="FF0000"/>
                </a:solidFill>
              </a:rPr>
              <a:t>‘</a:t>
            </a:r>
            <a:r>
              <a:rPr lang="en-US" altLang="ko-KR" dirty="0" smtClean="0">
                <a:solidFill>
                  <a:srgbClr val="FF0000"/>
                </a:solidFill>
              </a:rPr>
              <a:t>AI’</a:t>
            </a:r>
            <a:r>
              <a:rPr lang="ko-KR" altLang="en-US" dirty="0" smtClean="0">
                <a:solidFill>
                  <a:srgbClr val="FF0000"/>
                </a:solidFill>
              </a:rPr>
              <a:t>라는 용어를 처음으로 사용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의 </a:t>
            </a:r>
            <a:r>
              <a:rPr lang="ko-KR" altLang="en-US" dirty="0" smtClean="0"/>
              <a:t>발전</a:t>
            </a:r>
            <a:endParaRPr lang="en-US" altLang="ko-KR" dirty="0" smtClean="0"/>
          </a:p>
          <a:p>
            <a:pPr lvl="2"/>
            <a:r>
              <a:rPr lang="en-US" altLang="ko-KR" dirty="0"/>
              <a:t>1950</a:t>
            </a:r>
            <a:r>
              <a:rPr lang="ko-KR" altLang="en-US" dirty="0"/>
              <a:t>년대의 인공지능 연구는 크게 </a:t>
            </a:r>
            <a:r>
              <a:rPr lang="ko-KR" altLang="en-US" dirty="0" err="1">
                <a:solidFill>
                  <a:srgbClr val="FF0000"/>
                </a:solidFill>
              </a:rPr>
              <a:t>기호주의와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연결주의</a:t>
            </a:r>
            <a:r>
              <a:rPr lang="ko-KR" altLang="en-US" dirty="0" err="1"/>
              <a:t>의</a:t>
            </a:r>
            <a:r>
              <a:rPr lang="ko-KR" altLang="en-US" dirty="0"/>
              <a:t> 두 분야로 </a:t>
            </a:r>
            <a:r>
              <a:rPr lang="ko-KR" altLang="en-US" dirty="0" smtClean="0"/>
              <a:t>전개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기호주의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인간의 지능과 지식을 </a:t>
            </a:r>
            <a:r>
              <a:rPr lang="ko-KR" altLang="en-US" dirty="0" err="1"/>
              <a:t>기호화해</a:t>
            </a:r>
            <a:r>
              <a:rPr lang="ko-KR" altLang="en-US" dirty="0"/>
              <a:t> 매뉴얼화하는 </a:t>
            </a:r>
            <a:r>
              <a:rPr lang="ko-KR" altLang="en-US" dirty="0" smtClean="0"/>
              <a:t>접근법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연결주의</a:t>
            </a:r>
            <a:r>
              <a:rPr lang="en-US" altLang="ko-KR" dirty="0"/>
              <a:t>:</a:t>
            </a:r>
            <a:r>
              <a:rPr lang="ko-KR" altLang="en-US" dirty="0" smtClean="0"/>
              <a:t> </a:t>
            </a:r>
            <a:r>
              <a:rPr lang="en-US" altLang="ko-KR" dirty="0"/>
              <a:t>1943</a:t>
            </a:r>
            <a:r>
              <a:rPr lang="ko-KR" altLang="en-US" dirty="0"/>
              <a:t>년 월터 </a:t>
            </a:r>
            <a:r>
              <a:rPr lang="ko-KR" altLang="en-US" dirty="0" err="1"/>
              <a:t>피츠와</a:t>
            </a:r>
            <a:r>
              <a:rPr lang="ko-KR" altLang="en-US" dirty="0"/>
              <a:t> 워렌 </a:t>
            </a:r>
            <a:r>
              <a:rPr lang="ko-KR" altLang="en-US" dirty="0" err="1"/>
              <a:t>맥컬럭이</a:t>
            </a:r>
            <a:r>
              <a:rPr lang="ko-KR" altLang="en-US" dirty="0"/>
              <a:t> 연구한 뇌 신경 네트워크의 재현을 </a:t>
            </a:r>
            <a:r>
              <a:rPr lang="ko-KR" altLang="en-US" dirty="0" smtClean="0"/>
              <a:t>목표로 </a:t>
            </a:r>
            <a:r>
              <a:rPr lang="ko-KR" altLang="en-US" dirty="0"/>
              <a:t>하는 </a:t>
            </a:r>
            <a:r>
              <a:rPr lang="ko-KR" altLang="en-US" dirty="0" smtClean="0"/>
              <a:t>접근법</a:t>
            </a:r>
            <a:endParaRPr lang="en-US" altLang="ko-KR" dirty="0" smtClean="0"/>
          </a:p>
          <a:p>
            <a:pPr lvl="3"/>
            <a:endParaRPr lang="en-US" altLang="ko-KR" dirty="0" smtClean="0"/>
          </a:p>
          <a:p>
            <a:pPr lvl="2"/>
            <a:r>
              <a:rPr lang="ko-KR" altLang="en-US" dirty="0" err="1" smtClean="0">
                <a:solidFill>
                  <a:srgbClr val="FF0000"/>
                </a:solidFill>
              </a:rPr>
              <a:t>퍼셉트론</a:t>
            </a:r>
            <a:r>
              <a:rPr lang="ko-KR" altLang="en-US" dirty="0" err="1" smtClean="0"/>
              <a:t>은</a:t>
            </a:r>
            <a:r>
              <a:rPr lang="ko-KR" altLang="en-US" dirty="0" smtClean="0"/>
              <a:t> </a:t>
            </a:r>
            <a:r>
              <a:rPr lang="ko-KR" altLang="en-US" dirty="0"/>
              <a:t>인간의 사진을 </a:t>
            </a:r>
            <a:r>
              <a:rPr lang="ko-KR" altLang="en-US" dirty="0" smtClean="0"/>
              <a:t>대상으로 </a:t>
            </a:r>
            <a:r>
              <a:rPr lang="ko-KR" altLang="en-US" dirty="0"/>
              <a:t>남자와 여자를 구별해내면서 뉴욕 </a:t>
            </a:r>
            <a:r>
              <a:rPr lang="ko-KR" altLang="en-US" dirty="0" smtClean="0"/>
              <a:t>타임즈에 등장</a:t>
            </a:r>
            <a:endParaRPr lang="en-US" altLang="ko-KR" dirty="0"/>
          </a:p>
          <a:p>
            <a:pPr lvl="3"/>
            <a:r>
              <a:rPr lang="ko-KR" altLang="en-US" dirty="0" err="1" smtClean="0"/>
              <a:t>퍼셉트론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인공 신경망</a:t>
            </a:r>
            <a:r>
              <a:rPr lang="en-US" altLang="ko-KR" dirty="0"/>
              <a:t>(</a:t>
            </a:r>
            <a:r>
              <a:rPr lang="ko-KR" altLang="en-US" dirty="0"/>
              <a:t>딥 러닝</a:t>
            </a:r>
            <a:r>
              <a:rPr lang="en-US" altLang="ko-KR" dirty="0"/>
              <a:t>)</a:t>
            </a:r>
            <a:r>
              <a:rPr lang="ko-KR" altLang="en-US" dirty="0"/>
              <a:t>의 기본이 되는 알고리즘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872815"/>
            <a:ext cx="1398716" cy="177940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800099"/>
            <a:ext cx="3344941" cy="18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9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90266" cy="5400600"/>
          </a:xfrm>
        </p:spPr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역사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AI</a:t>
            </a:r>
            <a:r>
              <a:rPr lang="ko-KR" altLang="en-US" dirty="0"/>
              <a:t>의 </a:t>
            </a:r>
            <a:r>
              <a:rPr lang="ko-KR" altLang="en-US" dirty="0" smtClean="0">
                <a:solidFill>
                  <a:srgbClr val="FF0000"/>
                </a:solidFill>
              </a:rPr>
              <a:t>빙하기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 smtClean="0"/>
              <a:t>마빈 </a:t>
            </a:r>
            <a:r>
              <a:rPr lang="ko-KR" altLang="en-US" dirty="0" err="1"/>
              <a:t>민스키는</a:t>
            </a:r>
            <a:r>
              <a:rPr lang="ko-KR" altLang="en-US" dirty="0"/>
              <a:t> 제자 </a:t>
            </a:r>
            <a:r>
              <a:rPr lang="ko-KR" altLang="en-US" dirty="0" err="1"/>
              <a:t>시모어</a:t>
            </a:r>
            <a:r>
              <a:rPr lang="ko-KR" altLang="en-US" dirty="0"/>
              <a:t> </a:t>
            </a:r>
            <a:r>
              <a:rPr lang="ko-KR" altLang="en-US" dirty="0" err="1" smtClean="0"/>
              <a:t>페퍼트와</a:t>
            </a:r>
            <a:r>
              <a:rPr lang="ko-KR" altLang="en-US" dirty="0" smtClean="0"/>
              <a:t>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한계를 수학적으로 </a:t>
            </a:r>
            <a:r>
              <a:rPr lang="ko-KR" altLang="en-US" dirty="0" smtClean="0"/>
              <a:t>증명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퍼셉트론이</a:t>
            </a:r>
            <a:r>
              <a:rPr lang="ko-KR" altLang="en-US" dirty="0" smtClean="0"/>
              <a:t> 무너지고 설상가상으로 </a:t>
            </a:r>
            <a:r>
              <a:rPr lang="en-US" altLang="ko-KR" dirty="0"/>
              <a:t>2</a:t>
            </a:r>
            <a:r>
              <a:rPr lang="ko-KR" altLang="en-US" dirty="0"/>
              <a:t>년 뒤인 </a:t>
            </a:r>
            <a:r>
              <a:rPr lang="en-US" altLang="ko-KR" dirty="0"/>
              <a:t>1971</a:t>
            </a:r>
            <a:r>
              <a:rPr lang="ko-KR" altLang="en-US" dirty="0"/>
              <a:t>년에 </a:t>
            </a:r>
            <a:r>
              <a:rPr lang="ko-KR" altLang="en-US" dirty="0" err="1"/>
              <a:t>로젠블랫이</a:t>
            </a:r>
            <a:r>
              <a:rPr lang="ko-KR" altLang="en-US" dirty="0"/>
              <a:t> 사망하며 신경망 열기가 급격히 </a:t>
            </a:r>
            <a:r>
              <a:rPr lang="ko-KR" altLang="en-US" dirty="0" smtClean="0"/>
              <a:t>냉각</a:t>
            </a:r>
            <a:endParaRPr lang="en-US" altLang="ko-KR" dirty="0" smtClean="0"/>
          </a:p>
          <a:p>
            <a:pPr lvl="2"/>
            <a:r>
              <a:rPr lang="ko-KR" altLang="en-US" dirty="0" err="1"/>
              <a:t>로젠블랫의</a:t>
            </a:r>
            <a:r>
              <a:rPr lang="ko-KR" altLang="en-US" dirty="0"/>
              <a:t> </a:t>
            </a:r>
            <a:r>
              <a:rPr lang="ko-KR" altLang="en-US" dirty="0" err="1" smtClean="0"/>
              <a:t>퍼셉트론으로는</a:t>
            </a:r>
            <a:r>
              <a:rPr lang="ko-KR" altLang="en-US" dirty="0" smtClean="0"/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XOR </a:t>
            </a:r>
            <a:r>
              <a:rPr lang="ko-KR" altLang="en-US" dirty="0">
                <a:solidFill>
                  <a:srgbClr val="FF0000"/>
                </a:solidFill>
              </a:rPr>
              <a:t>같은 </a:t>
            </a:r>
            <a:r>
              <a:rPr lang="ko-KR" altLang="en-US" dirty="0" smtClean="0">
                <a:solidFill>
                  <a:srgbClr val="FF0000"/>
                </a:solidFill>
              </a:rPr>
              <a:t>비선형 </a:t>
            </a:r>
            <a:r>
              <a:rPr lang="ko-KR" altLang="en-US" dirty="0">
                <a:solidFill>
                  <a:srgbClr val="FF0000"/>
                </a:solidFill>
              </a:rPr>
              <a:t>문제는 해결할 수 </a:t>
            </a:r>
            <a:r>
              <a:rPr lang="ko-KR" altLang="en-US" dirty="0" smtClean="0">
                <a:solidFill>
                  <a:srgbClr val="FF0000"/>
                </a:solidFill>
              </a:rPr>
              <a:t>없음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의 </a:t>
            </a:r>
            <a:r>
              <a:rPr lang="ko-KR" altLang="en-US" dirty="0" smtClean="0">
                <a:solidFill>
                  <a:srgbClr val="FF0000"/>
                </a:solidFill>
              </a:rPr>
              <a:t>부활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 err="1" smtClean="0">
                <a:solidFill>
                  <a:srgbClr val="FF0000"/>
                </a:solidFill>
              </a:rPr>
              <a:t>제프리</a:t>
            </a:r>
            <a:r>
              <a:rPr lang="ko-KR" altLang="en-US" dirty="0" smtClean="0">
                <a:solidFill>
                  <a:srgbClr val="FF0000"/>
                </a:solidFill>
              </a:rPr>
              <a:t> 힌튼 </a:t>
            </a:r>
            <a:r>
              <a:rPr lang="ko-KR" altLang="en-US" dirty="0" smtClean="0"/>
              <a:t>교수는 </a:t>
            </a:r>
            <a:r>
              <a:rPr lang="ko-KR" altLang="en-US" dirty="0" smtClean="0">
                <a:solidFill>
                  <a:srgbClr val="FF0000"/>
                </a:solidFill>
              </a:rPr>
              <a:t>다층 </a:t>
            </a:r>
            <a:r>
              <a:rPr lang="ko-KR" altLang="en-US" dirty="0" err="1" smtClean="0">
                <a:solidFill>
                  <a:srgbClr val="FF0000"/>
                </a:solidFill>
              </a:rPr>
              <a:t>퍼셉트론</a:t>
            </a:r>
            <a:r>
              <a:rPr lang="en-US" altLang="ko-KR" dirty="0" smtClean="0">
                <a:solidFill>
                  <a:srgbClr val="FF0000"/>
                </a:solidFill>
              </a:rPr>
              <a:t>, MLP</a:t>
            </a:r>
            <a:r>
              <a:rPr lang="ko-KR" altLang="en-US" dirty="0" smtClean="0">
                <a:solidFill>
                  <a:srgbClr val="FF0000"/>
                </a:solidFill>
              </a:rPr>
              <a:t>과 </a:t>
            </a:r>
            <a:r>
              <a:rPr lang="ko-KR" altLang="en-US" dirty="0" err="1" smtClean="0">
                <a:solidFill>
                  <a:srgbClr val="FF0000"/>
                </a:solidFill>
              </a:rPr>
              <a:t>역전파</a:t>
            </a:r>
            <a:r>
              <a:rPr lang="ko-KR" altLang="en-US" dirty="0" smtClean="0">
                <a:solidFill>
                  <a:srgbClr val="FF0000"/>
                </a:solidFill>
              </a:rPr>
              <a:t> 알고리즘</a:t>
            </a:r>
            <a:r>
              <a:rPr lang="ko-KR" altLang="en-US" dirty="0" smtClean="0"/>
              <a:t>을 실험을 통해 증명하여 </a:t>
            </a:r>
            <a:r>
              <a:rPr lang="en-US" altLang="ko-KR" dirty="0" smtClean="0"/>
              <a:t>XOR </a:t>
            </a:r>
            <a:r>
              <a:rPr lang="ko-KR" altLang="en-US" dirty="0" smtClean="0"/>
              <a:t>문제를 해결</a:t>
            </a:r>
            <a:endParaRPr lang="en-US" altLang="ko-KR" dirty="0" smtClean="0"/>
          </a:p>
          <a:p>
            <a:pPr lvl="2"/>
            <a:r>
              <a:rPr lang="ko-KR" altLang="en-US" sz="1150" dirty="0" smtClean="0"/>
              <a:t>하버드대학 </a:t>
            </a:r>
            <a:r>
              <a:rPr lang="ko-KR" altLang="en-US" sz="1150" dirty="0" smtClean="0">
                <a:solidFill>
                  <a:srgbClr val="FF0000"/>
                </a:solidFill>
              </a:rPr>
              <a:t>폴 </a:t>
            </a:r>
            <a:r>
              <a:rPr lang="ko-KR" altLang="en-US" sz="1150" dirty="0" err="1" smtClean="0">
                <a:solidFill>
                  <a:srgbClr val="FF0000"/>
                </a:solidFill>
              </a:rPr>
              <a:t>워보스</a:t>
            </a:r>
            <a:r>
              <a:rPr lang="ko-KR" altLang="en-US" sz="1150" dirty="0" err="1" smtClean="0"/>
              <a:t>가</a:t>
            </a:r>
            <a:r>
              <a:rPr lang="ko-KR" altLang="en-US" sz="1150" dirty="0" smtClean="0"/>
              <a:t> 다층 </a:t>
            </a:r>
            <a:r>
              <a:rPr lang="ko-KR" altLang="en-US" sz="1150" dirty="0" err="1" smtClean="0"/>
              <a:t>퍼셉트론</a:t>
            </a:r>
            <a:r>
              <a:rPr lang="ko-KR" altLang="en-US" sz="1150" dirty="0" smtClean="0"/>
              <a:t> 환경에서 학습을 가능하게 하는 </a:t>
            </a:r>
            <a:r>
              <a:rPr lang="ko-KR" altLang="en-US" sz="1150" dirty="0" err="1" smtClean="0"/>
              <a:t>역전파</a:t>
            </a:r>
            <a:r>
              <a:rPr lang="ko-KR" altLang="en-US" sz="1150" dirty="0" smtClean="0"/>
              <a:t> 알고리즘으로 박사 학위 논문 발표</a:t>
            </a:r>
            <a:endParaRPr lang="en-US" altLang="ko-KR" sz="1150" dirty="0" smtClean="0"/>
          </a:p>
          <a:p>
            <a:pPr lvl="2"/>
            <a:r>
              <a:rPr lang="en-US" altLang="ko-KR" dirty="0"/>
              <a:t>1986</a:t>
            </a:r>
            <a:r>
              <a:rPr lang="ko-KR" altLang="en-US" dirty="0"/>
              <a:t>년 </a:t>
            </a:r>
            <a:r>
              <a:rPr lang="ko-KR" altLang="en-US" dirty="0">
                <a:solidFill>
                  <a:srgbClr val="FF0000"/>
                </a:solidFill>
              </a:rPr>
              <a:t>데이빗 </a:t>
            </a:r>
            <a:r>
              <a:rPr lang="ko-KR" altLang="en-US" dirty="0" err="1" smtClean="0">
                <a:solidFill>
                  <a:srgbClr val="FF0000"/>
                </a:solidFill>
              </a:rPr>
              <a:t>럼멜하트와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제프리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힌튼</a:t>
            </a:r>
            <a:r>
              <a:rPr lang="ko-KR" altLang="en-US" dirty="0" err="1"/>
              <a:t>이</a:t>
            </a:r>
            <a:r>
              <a:rPr lang="ko-KR" altLang="en-US" dirty="0"/>
              <a:t> 최적의 신경망 변수들을 찾아내는 적합을 증명</a:t>
            </a:r>
            <a:endParaRPr lang="en-US" altLang="ko-KR" dirty="0" smtClean="0"/>
          </a:p>
          <a:p>
            <a:pPr lvl="2"/>
            <a:endParaRPr lang="ko-KR" altLang="en-US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4149080"/>
            <a:ext cx="3240360" cy="255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9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역사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AI</a:t>
            </a:r>
            <a:r>
              <a:rPr lang="ko-KR" altLang="en-US" dirty="0" smtClean="0"/>
              <a:t>의</a:t>
            </a:r>
            <a:r>
              <a:rPr lang="en-US" altLang="ko-KR" dirty="0"/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2</a:t>
            </a:r>
            <a:r>
              <a:rPr lang="ko-KR" altLang="en-US" dirty="0" smtClean="0">
                <a:solidFill>
                  <a:srgbClr val="FF0000"/>
                </a:solidFill>
              </a:rPr>
              <a:t>차 빙하기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기울기 </a:t>
            </a:r>
            <a:r>
              <a:rPr lang="ko-KR" altLang="en-US" dirty="0" smtClean="0"/>
              <a:t>소실과 과적합문제로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 빙하기를 맞이함</a:t>
            </a:r>
            <a:endParaRPr lang="en-US" altLang="ko-KR" dirty="0" smtClean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기울기 </a:t>
            </a:r>
            <a:r>
              <a:rPr lang="ko-KR" altLang="en-US" dirty="0" smtClean="0">
                <a:solidFill>
                  <a:srgbClr val="FF0000"/>
                </a:solidFill>
              </a:rPr>
              <a:t>소실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 smtClean="0"/>
              <a:t>다층 </a:t>
            </a:r>
            <a:r>
              <a:rPr lang="ko-KR" altLang="en-US" dirty="0"/>
              <a:t>신경망의 </a:t>
            </a:r>
            <a:r>
              <a:rPr lang="ko-KR" altLang="en-US" dirty="0" err="1"/>
              <a:t>은닉층을</a:t>
            </a:r>
            <a:r>
              <a:rPr lang="ko-KR" altLang="en-US" dirty="0"/>
              <a:t> </a:t>
            </a:r>
            <a:r>
              <a:rPr lang="ko-KR" altLang="en-US" dirty="0" smtClean="0"/>
              <a:t>늘리면 신경망의 </a:t>
            </a:r>
            <a:r>
              <a:rPr lang="ko-KR" altLang="en-US" dirty="0"/>
              <a:t>깊이가 깊어질수록 오히려 기울기가 </a:t>
            </a:r>
            <a:r>
              <a:rPr lang="ko-KR" altLang="en-US" dirty="0" smtClean="0"/>
              <a:t>사라져 학습이 되지 </a:t>
            </a:r>
            <a:r>
              <a:rPr lang="ko-KR" altLang="en-US" dirty="0"/>
              <a:t>않는 문제</a:t>
            </a:r>
            <a:r>
              <a:rPr lang="en-US" altLang="ko-KR" dirty="0"/>
              <a:t> </a:t>
            </a:r>
          </a:p>
          <a:p>
            <a:pPr lvl="3"/>
            <a:endParaRPr lang="en-US" altLang="ko-KR" sz="100" dirty="0" smtClean="0"/>
          </a:p>
          <a:p>
            <a:pPr lvl="2"/>
            <a:r>
              <a:rPr lang="ko-KR" altLang="en-US" dirty="0" err="1" smtClean="0">
                <a:solidFill>
                  <a:srgbClr val="FF0000"/>
                </a:solidFill>
              </a:rPr>
              <a:t>과적합</a:t>
            </a:r>
            <a:endParaRPr lang="en-US" altLang="ko-KR" dirty="0">
              <a:solidFill>
                <a:srgbClr val="FF0000"/>
              </a:solidFill>
            </a:endParaRPr>
          </a:p>
          <a:p>
            <a:pPr lvl="3"/>
            <a:r>
              <a:rPr lang="ko-KR" altLang="en-US" dirty="0" smtClean="0"/>
              <a:t>신경망이 </a:t>
            </a:r>
            <a:r>
              <a:rPr lang="ko-KR" altLang="en-US" dirty="0"/>
              <a:t>깊어질수록 너무 정교한 패턴을 감지하게 되어 </a:t>
            </a:r>
            <a:r>
              <a:rPr lang="ko-KR" altLang="en-US" dirty="0" smtClean="0"/>
              <a:t>새로운 </a:t>
            </a:r>
            <a:r>
              <a:rPr lang="ko-KR" altLang="en-US" dirty="0"/>
              <a:t>데이터에 </a:t>
            </a:r>
            <a:r>
              <a:rPr lang="ko-KR" altLang="en-US" dirty="0" smtClean="0"/>
              <a:t>대해서는 </a:t>
            </a:r>
            <a:r>
              <a:rPr lang="ko-KR" altLang="en-US" dirty="0"/>
              <a:t>정확성이 </a:t>
            </a:r>
            <a:r>
              <a:rPr lang="ko-KR" altLang="en-US" dirty="0" smtClean="0"/>
              <a:t>떨어지는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문제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ko-KR" altLang="en-US" dirty="0" smtClean="0"/>
              <a:t>딥 </a:t>
            </a:r>
            <a:r>
              <a:rPr lang="ko-KR" altLang="en-US" dirty="0"/>
              <a:t>러닝의 시작 </a:t>
            </a:r>
            <a:endParaRPr lang="en-US" altLang="ko-KR" dirty="0" smtClean="0"/>
          </a:p>
          <a:p>
            <a:pPr lvl="2"/>
            <a:r>
              <a:rPr lang="ko-KR" altLang="en-US" dirty="0" err="1" smtClean="0">
                <a:solidFill>
                  <a:srgbClr val="FF0000"/>
                </a:solidFill>
              </a:rPr>
              <a:t>제프리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힌튼</a:t>
            </a:r>
            <a:r>
              <a:rPr lang="ko-KR" altLang="en-US" dirty="0" err="1" smtClean="0"/>
              <a:t>은</a:t>
            </a:r>
            <a:r>
              <a:rPr lang="ko-KR" altLang="en-US" dirty="0" smtClean="0"/>
              <a:t> 가중치의 </a:t>
            </a:r>
            <a:r>
              <a:rPr lang="ko-KR" altLang="en-US" dirty="0" err="1"/>
              <a:t>초깃값을</a:t>
            </a:r>
            <a:r>
              <a:rPr lang="ko-KR" altLang="en-US" dirty="0"/>
              <a:t> 제대로 설정한다면 깊은 신경망을 통한 학습이 가능하다는 것을 </a:t>
            </a:r>
            <a:r>
              <a:rPr lang="ko-KR" altLang="en-US" dirty="0" err="1" smtClean="0"/>
              <a:t>밝혀냄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인공 </a:t>
            </a:r>
            <a:r>
              <a:rPr lang="ko-KR" altLang="en-US" dirty="0"/>
              <a:t>신경망이라는 단어가 들어간 논문을 학회에 투고하면 제목만 보고 거절당하거나 사람들의 </a:t>
            </a:r>
            <a:r>
              <a:rPr lang="ko-KR" altLang="en-US" dirty="0" smtClean="0"/>
              <a:t>관심을 </a:t>
            </a:r>
            <a:r>
              <a:rPr lang="ko-KR" altLang="en-US" dirty="0"/>
              <a:t>끌지 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ko-KR" altLang="en-US" sz="1100" dirty="0" smtClean="0"/>
              <a:t>    </a:t>
            </a:r>
            <a:r>
              <a:rPr lang="ko-KR" altLang="en-US" dirty="0" smtClean="0"/>
              <a:t>못하기 </a:t>
            </a:r>
            <a:r>
              <a:rPr lang="ko-KR" altLang="en-US" dirty="0"/>
              <a:t>때문에 </a:t>
            </a:r>
            <a:r>
              <a:rPr lang="ko-KR" altLang="en-US" dirty="0" err="1" smtClean="0"/>
              <a:t>제프리</a:t>
            </a:r>
            <a:r>
              <a:rPr lang="ko-KR" altLang="en-US" dirty="0" smtClean="0"/>
              <a:t> </a:t>
            </a:r>
            <a:r>
              <a:rPr lang="ko-KR" altLang="en-US" dirty="0" err="1"/>
              <a:t>힌튼은</a:t>
            </a:r>
            <a:r>
              <a:rPr lang="ko-KR" altLang="en-US" dirty="0"/>
              <a:t> 이 논문에 </a:t>
            </a:r>
            <a:r>
              <a:rPr lang="en-US" altLang="ko-KR" dirty="0"/>
              <a:t>deep</a:t>
            </a:r>
            <a:r>
              <a:rPr lang="ko-KR" altLang="en-US" dirty="0"/>
              <a:t>을 붙인 </a:t>
            </a:r>
            <a:r>
              <a:rPr lang="en-US" altLang="ko-KR" dirty="0" smtClean="0">
                <a:solidFill>
                  <a:srgbClr val="FF0000"/>
                </a:solidFill>
              </a:rPr>
              <a:t>DNN</a:t>
            </a:r>
            <a:r>
              <a:rPr lang="ko-KR" altLang="en-US" dirty="0" smtClean="0"/>
              <a:t>이라는 </a:t>
            </a:r>
            <a:r>
              <a:rPr lang="ko-KR" altLang="en-US" dirty="0"/>
              <a:t>용어를 사용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6779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en-US" altLang="ko-KR" dirty="0" smtClean="0"/>
              <a:t>AI </a:t>
            </a:r>
            <a:r>
              <a:rPr lang="ko-KR" altLang="en-US" dirty="0"/>
              <a:t>기술의 분류 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AI</a:t>
            </a:r>
            <a:r>
              <a:rPr lang="ko-KR" altLang="en-US" dirty="0"/>
              <a:t>가 곧 딥 러닝은 </a:t>
            </a:r>
            <a:r>
              <a:rPr lang="ko-KR" altLang="en-US" dirty="0" smtClean="0"/>
              <a:t>아니며 아직 </a:t>
            </a:r>
            <a:r>
              <a:rPr lang="en-US" altLang="ko-KR" dirty="0"/>
              <a:t>AI </a:t>
            </a:r>
            <a:r>
              <a:rPr lang="ko-KR" altLang="en-US" dirty="0"/>
              <a:t>관련 용어에 대한 정의가 명확하지 않고 혼용되는 경우가 </a:t>
            </a:r>
            <a:r>
              <a:rPr lang="ko-KR" altLang="en-US" dirty="0" smtClean="0"/>
              <a:t>많음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AWS</a:t>
            </a:r>
            <a:r>
              <a:rPr lang="ko-KR" altLang="en-US" dirty="0" smtClean="0"/>
              <a:t>에 </a:t>
            </a:r>
            <a:r>
              <a:rPr lang="ko-KR" altLang="en-US" dirty="0"/>
              <a:t>나타난 </a:t>
            </a:r>
            <a:r>
              <a:rPr lang="en-US" altLang="ko-KR" dirty="0"/>
              <a:t>AI</a:t>
            </a:r>
            <a:r>
              <a:rPr lang="ko-KR" altLang="en-US" dirty="0"/>
              <a:t>의 </a:t>
            </a:r>
            <a:r>
              <a:rPr lang="ko-KR" altLang="en-US" dirty="0" smtClean="0"/>
              <a:t>정의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0" y="5879013"/>
            <a:ext cx="878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/>
            <a:r>
              <a:rPr lang="ko-KR" altLang="en-US" b="1" dirty="0">
                <a:solidFill>
                  <a:srgbClr val="009BA8"/>
                </a:solidFill>
              </a:rPr>
              <a:t>인공지능은 </a:t>
            </a:r>
            <a:r>
              <a:rPr lang="ko-KR" altLang="en-US" b="1" dirty="0">
                <a:solidFill>
                  <a:srgbClr val="FF0000"/>
                </a:solidFill>
              </a:rPr>
              <a:t>학습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문제 해결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패턴 인식 등과 같이 주로 인간 지능과 연결된 인지 문제를 해결</a:t>
            </a:r>
            <a:r>
              <a:rPr lang="ko-KR" altLang="en-US" b="1" dirty="0">
                <a:solidFill>
                  <a:srgbClr val="009BA8"/>
                </a:solidFill>
              </a:rPr>
              <a:t>하는데 </a:t>
            </a:r>
            <a:r>
              <a:rPr lang="ko-KR" altLang="en-US" b="1" dirty="0" smtClean="0">
                <a:solidFill>
                  <a:srgbClr val="009BA8"/>
                </a:solidFill>
              </a:rPr>
              <a:t>주력하는</a:t>
            </a:r>
            <a:r>
              <a:rPr lang="en-US" altLang="ko-KR" b="1" dirty="0" smtClean="0">
                <a:solidFill>
                  <a:srgbClr val="009BA8"/>
                </a:solidFill>
              </a:rPr>
              <a:t> </a:t>
            </a:r>
            <a:r>
              <a:rPr lang="ko-KR" altLang="en-US" b="1" dirty="0">
                <a:solidFill>
                  <a:srgbClr val="009BA8"/>
                </a:solidFill>
              </a:rPr>
              <a:t>컴퓨터 공학 분야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916832"/>
            <a:ext cx="5688632" cy="297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8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en-US" altLang="ko-KR" dirty="0" smtClean="0"/>
              <a:t>AI </a:t>
            </a:r>
            <a:r>
              <a:rPr lang="ko-KR" altLang="en-US" dirty="0"/>
              <a:t>기술의 분류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머신 러닝의 분류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머신 </a:t>
            </a:r>
            <a:r>
              <a:rPr lang="ko-KR" altLang="en-US" dirty="0"/>
              <a:t>러닝 역시 상당 부분 통계학적인 기술을 </a:t>
            </a:r>
            <a:r>
              <a:rPr lang="ko-KR" altLang="en-US" dirty="0" smtClean="0"/>
              <a:t>포함</a:t>
            </a:r>
            <a:endParaRPr lang="en-US" altLang="ko-KR" dirty="0" smtClean="0"/>
          </a:p>
          <a:p>
            <a:pPr lvl="3"/>
            <a:r>
              <a:rPr lang="ko-KR" altLang="en-US" dirty="0" smtClean="0">
                <a:solidFill>
                  <a:srgbClr val="FF0000"/>
                </a:solidFill>
              </a:rPr>
              <a:t>지도 학습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분류나 회귀에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3"/>
            <a:r>
              <a:rPr lang="ko-KR" altLang="en-US" dirty="0" smtClean="0">
                <a:solidFill>
                  <a:srgbClr val="FF0000"/>
                </a:solidFill>
              </a:rPr>
              <a:t>비지도 학습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군집에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 </a:t>
            </a:r>
          </a:p>
          <a:p>
            <a:pPr lvl="3"/>
            <a:r>
              <a:rPr lang="ko-KR" altLang="en-US" dirty="0" smtClean="0">
                <a:solidFill>
                  <a:srgbClr val="FF0000"/>
                </a:solidFill>
              </a:rPr>
              <a:t>강화 학습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dirty="0"/>
              <a:t>환경에서 취하는 행동에 대한 보상을 이용하여 학습을 진행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940" y="3284984"/>
            <a:ext cx="5730806" cy="28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en-US" altLang="ko-KR" dirty="0" smtClean="0"/>
              <a:t>AI </a:t>
            </a:r>
            <a:r>
              <a:rPr lang="ko-KR" altLang="en-US" dirty="0"/>
              <a:t>기술의 분류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지도 학습</a:t>
            </a:r>
            <a:endParaRPr lang="en-US" altLang="ko-KR" dirty="0" smtClean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답이 있는 데이터를 활용해 학습</a:t>
            </a:r>
            <a:r>
              <a:rPr lang="ko-KR" altLang="en-US" dirty="0"/>
              <a:t>시키는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입력 </a:t>
            </a:r>
            <a:r>
              <a:rPr lang="ko-KR" altLang="en-US" dirty="0"/>
              <a:t>값</a:t>
            </a:r>
            <a:r>
              <a:rPr lang="en-US" altLang="ko-KR" dirty="0"/>
              <a:t>(X) </a:t>
            </a:r>
            <a:r>
              <a:rPr lang="ko-KR" altLang="en-US" dirty="0"/>
              <a:t>이 주어지면 입력 값에 대한 </a:t>
            </a:r>
            <a:r>
              <a:rPr lang="ko-KR" altLang="en-US" dirty="0" smtClean="0"/>
              <a:t>라벨</a:t>
            </a:r>
            <a:r>
              <a:rPr lang="en-US" altLang="ko-KR" dirty="0" smtClean="0"/>
              <a:t>(</a:t>
            </a:r>
            <a:r>
              <a:rPr lang="en-US" altLang="ko-KR" dirty="0"/>
              <a:t>Y)</a:t>
            </a:r>
            <a:r>
              <a:rPr lang="ko-KR" altLang="en-US" dirty="0"/>
              <a:t>을 주어 </a:t>
            </a:r>
            <a:r>
              <a:rPr lang="ko-KR" altLang="en-US" dirty="0" smtClean="0"/>
              <a:t>학습</a:t>
            </a:r>
            <a:endParaRPr lang="en-US" altLang="ko-KR" dirty="0" smtClean="0"/>
          </a:p>
          <a:p>
            <a:pPr lvl="2"/>
            <a:endParaRPr lang="en-US" altLang="ko-KR" sz="100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분류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주어진 </a:t>
            </a:r>
            <a:r>
              <a:rPr lang="ko-KR" altLang="en-US" dirty="0"/>
              <a:t>데이터를 정해진 레이블</a:t>
            </a:r>
            <a:r>
              <a:rPr lang="en-US" altLang="ko-KR" dirty="0"/>
              <a:t>(</a:t>
            </a:r>
            <a:r>
              <a:rPr lang="ko-KR" altLang="en-US" dirty="0"/>
              <a:t>범주</a:t>
            </a:r>
            <a:r>
              <a:rPr lang="en-US" altLang="ko-KR" dirty="0"/>
              <a:t>)</a:t>
            </a:r>
            <a:r>
              <a:rPr lang="ko-KR" altLang="en-US" dirty="0"/>
              <a:t>에 따라 나누는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범주가 </a:t>
            </a:r>
            <a:r>
              <a:rPr lang="en-US" altLang="ko-KR" dirty="0"/>
              <a:t>2</a:t>
            </a:r>
            <a:r>
              <a:rPr lang="ko-KR" altLang="en-US" dirty="0"/>
              <a:t>개 이면 이진 </a:t>
            </a:r>
            <a:r>
              <a:rPr lang="ko-KR" altLang="en-US" dirty="0" smtClean="0"/>
              <a:t>분류</a:t>
            </a:r>
            <a:r>
              <a:rPr lang="en-US" altLang="ko-KR" dirty="0" smtClean="0"/>
              <a:t> , </a:t>
            </a:r>
            <a:r>
              <a:rPr lang="en-US" altLang="ko-KR" dirty="0"/>
              <a:t>3</a:t>
            </a:r>
            <a:r>
              <a:rPr lang="ko-KR" altLang="en-US" dirty="0"/>
              <a:t>개 이상이면 다중 클래스 </a:t>
            </a:r>
            <a:r>
              <a:rPr lang="ko-KR" altLang="en-US" dirty="0" smtClean="0"/>
              <a:t>분류</a:t>
            </a:r>
            <a:endParaRPr lang="en-US" altLang="ko-KR" dirty="0" smtClean="0"/>
          </a:p>
          <a:p>
            <a:pPr lvl="2"/>
            <a:endParaRPr lang="en-US" altLang="ko-KR" sz="100" dirty="0"/>
          </a:p>
          <a:p>
            <a:pPr lvl="2"/>
            <a:r>
              <a:rPr lang="ko-KR" altLang="en-US" dirty="0" smtClean="0">
                <a:solidFill>
                  <a:srgbClr val="FF0000"/>
                </a:solidFill>
              </a:rPr>
              <a:t>회귀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/>
              <a:t>어떤 데이터들의 </a:t>
            </a:r>
            <a:r>
              <a:rPr lang="ko-KR" altLang="en-US" dirty="0" smtClean="0"/>
              <a:t>특징을 </a:t>
            </a:r>
            <a:r>
              <a:rPr lang="ko-KR" altLang="en-US" dirty="0"/>
              <a:t>토대로 값을 예측하는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결과 </a:t>
            </a:r>
            <a:r>
              <a:rPr lang="ko-KR" altLang="en-US" dirty="0"/>
              <a:t>값은 실수 값을 가질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437112"/>
            <a:ext cx="3578869" cy="221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3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en-US" altLang="ko-KR" dirty="0" smtClean="0"/>
              <a:t>AI </a:t>
            </a:r>
            <a:r>
              <a:rPr lang="ko-KR" altLang="en-US" dirty="0"/>
              <a:t>기술의 분류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비지도 학습</a:t>
            </a:r>
            <a:endParaRPr lang="en-US" altLang="ko-KR" dirty="0" smtClean="0"/>
          </a:p>
          <a:p>
            <a:pPr lvl="2"/>
            <a:r>
              <a:rPr lang="ko-KR" altLang="en-US" dirty="0"/>
              <a:t>지도 학습과 달리 </a:t>
            </a:r>
            <a:r>
              <a:rPr lang="ko-KR" altLang="en-US" dirty="0">
                <a:solidFill>
                  <a:srgbClr val="FF0000"/>
                </a:solidFill>
              </a:rPr>
              <a:t>답이 없는 데이터를 비슷한 </a:t>
            </a:r>
            <a:r>
              <a:rPr lang="ko-KR" altLang="en-US" dirty="0" err="1">
                <a:solidFill>
                  <a:srgbClr val="FF0000"/>
                </a:solidFill>
              </a:rPr>
              <a:t>특징끼리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군집화하여</a:t>
            </a:r>
            <a:r>
              <a:rPr lang="ko-KR" altLang="en-US" dirty="0">
                <a:solidFill>
                  <a:srgbClr val="FF0000"/>
                </a:solidFill>
              </a:rPr>
              <a:t> 새로운 데이터에 대한 결과를 </a:t>
            </a:r>
            <a:r>
              <a:rPr lang="ko-KR" altLang="en-US" dirty="0" smtClean="0">
                <a:solidFill>
                  <a:srgbClr val="FF0000"/>
                </a:solidFill>
              </a:rPr>
              <a:t>예측</a:t>
            </a:r>
            <a:r>
              <a:rPr lang="ko-KR" altLang="en-US" dirty="0" smtClean="0"/>
              <a:t>하는 것</a:t>
            </a:r>
            <a:endParaRPr lang="en-US" altLang="ko-KR" dirty="0" smtClean="0"/>
          </a:p>
          <a:p>
            <a:pPr lvl="2"/>
            <a:endParaRPr lang="en-US" altLang="ko-KR" sz="100" dirty="0"/>
          </a:p>
          <a:p>
            <a:pPr lvl="2"/>
            <a:r>
              <a:rPr lang="ko-KR" altLang="en-US" dirty="0" smtClean="0">
                <a:solidFill>
                  <a:srgbClr val="FF0000"/>
                </a:solidFill>
              </a:rPr>
              <a:t>군집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/>
              <a:t>특정 기준에 따라 </a:t>
            </a:r>
            <a:r>
              <a:rPr lang="ko-KR" altLang="en-US" dirty="0">
                <a:solidFill>
                  <a:srgbClr val="FF0000"/>
                </a:solidFill>
              </a:rPr>
              <a:t>유사한 특성의 데이터를 각각의 그룹으로 </a:t>
            </a:r>
            <a:r>
              <a:rPr lang="ko-KR" altLang="en-US" dirty="0" smtClean="0">
                <a:solidFill>
                  <a:srgbClr val="FF0000"/>
                </a:solidFill>
              </a:rPr>
              <a:t>분류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 smtClean="0"/>
              <a:t>고유한 </a:t>
            </a:r>
            <a:r>
              <a:rPr lang="ko-KR" altLang="en-US" dirty="0"/>
              <a:t>패턴 또는 특성을 찾기 위해 클러스터링을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3"/>
            <a:endParaRPr lang="en-US" altLang="ko-KR" sz="100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차원 </a:t>
            </a:r>
            <a:r>
              <a:rPr lang="ko-KR" altLang="en-US" dirty="0" smtClean="0">
                <a:solidFill>
                  <a:srgbClr val="FF0000"/>
                </a:solidFill>
              </a:rPr>
              <a:t>축소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 smtClean="0">
                <a:solidFill>
                  <a:srgbClr val="FF0000"/>
                </a:solidFill>
              </a:rPr>
              <a:t>많은 </a:t>
            </a:r>
            <a:r>
              <a:rPr lang="ko-KR" altLang="en-US" dirty="0">
                <a:solidFill>
                  <a:srgbClr val="FF0000"/>
                </a:solidFill>
              </a:rPr>
              <a:t>변수 중에 유의미한 변수들을 식별하여 개수를 </a:t>
            </a:r>
            <a:r>
              <a:rPr lang="ko-KR" altLang="en-US" dirty="0" smtClean="0">
                <a:solidFill>
                  <a:srgbClr val="FF0000"/>
                </a:solidFill>
              </a:rPr>
              <a:t>줄이는 작업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 smtClean="0"/>
              <a:t>일부 </a:t>
            </a:r>
            <a:r>
              <a:rPr lang="ko-KR" altLang="en-US" dirty="0"/>
              <a:t>변수가 중복되거나 작업과 아무 관련이 없는 경우가 많기 </a:t>
            </a:r>
            <a:r>
              <a:rPr lang="ko-KR" altLang="en-US" dirty="0" smtClean="0"/>
              <a:t>때문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변수를 </a:t>
            </a:r>
            <a:r>
              <a:rPr lang="ko-KR" altLang="en-US" dirty="0"/>
              <a:t>줄이면 잠재되어 있는 진정한 관계를 도출하기가 용이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221088"/>
            <a:ext cx="4859227" cy="239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2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에 대한 이해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en-US" altLang="ko-KR" dirty="0" smtClean="0"/>
              <a:t>AI </a:t>
            </a:r>
            <a:r>
              <a:rPr lang="ko-KR" altLang="en-US" dirty="0"/>
              <a:t>기술의 분류 </a:t>
            </a:r>
            <a:endParaRPr lang="en-US" altLang="ko-KR" dirty="0" smtClean="0"/>
          </a:p>
          <a:p>
            <a:pPr lvl="1"/>
            <a:r>
              <a:rPr lang="ko-KR" altLang="en-US" dirty="0"/>
              <a:t>강화 학습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지도</a:t>
            </a:r>
            <a:r>
              <a:rPr lang="en-US" altLang="ko-KR" dirty="0"/>
              <a:t>·</a:t>
            </a:r>
            <a:r>
              <a:rPr lang="ko-KR" altLang="en-US" dirty="0"/>
              <a:t>비지도 학습과는 다른 종류의 </a:t>
            </a:r>
            <a:r>
              <a:rPr lang="ko-KR" altLang="en-US" dirty="0" smtClean="0"/>
              <a:t>알고리즘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학습하는 </a:t>
            </a:r>
            <a:r>
              <a:rPr lang="ko-KR" altLang="en-US" dirty="0"/>
              <a:t>시스템을 ‘</a:t>
            </a:r>
            <a:r>
              <a:rPr lang="ko-KR" altLang="en-US" dirty="0" err="1"/>
              <a:t>에이전트’라고</a:t>
            </a:r>
            <a:r>
              <a:rPr lang="ko-KR" altLang="en-US" dirty="0"/>
              <a:t> 부르며</a:t>
            </a:r>
            <a:r>
              <a:rPr lang="en-US" altLang="ko-KR" dirty="0"/>
              <a:t>, </a:t>
            </a:r>
            <a:r>
              <a:rPr lang="ko-KR" altLang="en-US" dirty="0"/>
              <a:t>환경을 관찰해서 행위를 수행하고 보상을 </a:t>
            </a:r>
            <a:r>
              <a:rPr lang="ko-KR" altLang="en-US" dirty="0" smtClean="0"/>
              <a:t>받음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시간이 </a:t>
            </a:r>
            <a:r>
              <a:rPr lang="ko-KR" altLang="en-US" dirty="0"/>
              <a:t>지나면서 가장 큰 보상을 얻기 위해 ‘</a:t>
            </a:r>
            <a:r>
              <a:rPr lang="ko-KR" altLang="en-US" dirty="0" err="1"/>
              <a:t>정책’이라고</a:t>
            </a:r>
            <a:r>
              <a:rPr lang="ko-KR" altLang="en-US" dirty="0"/>
              <a:t> 부르는 최상의 전략을 스스로 </a:t>
            </a:r>
            <a:r>
              <a:rPr lang="ko-KR" altLang="en-US" dirty="0" smtClean="0"/>
              <a:t>학습</a:t>
            </a:r>
            <a:endParaRPr lang="en-US" altLang="ko-KR" dirty="0" smtClean="0"/>
          </a:p>
          <a:p>
            <a:pPr lvl="2"/>
            <a:r>
              <a:rPr lang="ko-KR" altLang="en-US" dirty="0" smtClean="0">
                <a:solidFill>
                  <a:srgbClr val="FF0000"/>
                </a:solidFill>
              </a:rPr>
              <a:t>정책</a:t>
            </a:r>
            <a:r>
              <a:rPr lang="ko-KR" altLang="en-US" dirty="0" smtClean="0"/>
              <a:t>은 </a:t>
            </a:r>
            <a:r>
              <a:rPr lang="ko-KR" altLang="en-US" dirty="0">
                <a:solidFill>
                  <a:srgbClr val="FF0000"/>
                </a:solidFill>
              </a:rPr>
              <a:t>주어진 상황에서 에이전트가 어떻게 행동해야 하는지를 판단</a:t>
            </a:r>
            <a:r>
              <a:rPr lang="ko-KR" altLang="en-US" dirty="0"/>
              <a:t>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lvl="2"/>
            <a:r>
              <a:rPr lang="ko-KR" altLang="en-US" dirty="0" smtClean="0">
                <a:solidFill>
                  <a:srgbClr val="FF0000"/>
                </a:solidFill>
              </a:rPr>
              <a:t>기계</a:t>
            </a:r>
            <a:r>
              <a:rPr lang="ko-KR" altLang="en-US" dirty="0" smtClean="0"/>
              <a:t>는 </a:t>
            </a:r>
            <a:r>
              <a:rPr lang="ko-KR" altLang="en-US" dirty="0" smtClean="0">
                <a:solidFill>
                  <a:srgbClr val="FF0000"/>
                </a:solidFill>
              </a:rPr>
              <a:t>최대의 </a:t>
            </a:r>
            <a:r>
              <a:rPr lang="ko-KR" altLang="en-US" dirty="0">
                <a:solidFill>
                  <a:srgbClr val="FF0000"/>
                </a:solidFill>
              </a:rPr>
              <a:t>보상을 산출하는 행위를 발견하기 위해 서로 다른 시나리오를 </a:t>
            </a:r>
            <a:r>
              <a:rPr lang="ko-KR" altLang="en-US" dirty="0" smtClean="0">
                <a:solidFill>
                  <a:srgbClr val="FF0000"/>
                </a:solidFill>
              </a:rPr>
              <a:t>시도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 smtClean="0"/>
              <a:t>시행착오와 </a:t>
            </a:r>
            <a:r>
              <a:rPr lang="ko-KR" altLang="en-US" dirty="0"/>
              <a:t>지연 </a:t>
            </a:r>
            <a:r>
              <a:rPr lang="ko-KR" altLang="en-US" dirty="0" smtClean="0"/>
              <a:t>보상은 </a:t>
            </a:r>
            <a:r>
              <a:rPr lang="ko-KR" altLang="en-US" dirty="0"/>
              <a:t>다른 기법과 구별되는 강화 학습만의 특징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5002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en-US" altLang="ko-KR" dirty="0"/>
              <a:t>AI</a:t>
            </a:r>
            <a:r>
              <a:rPr lang="ko-KR" altLang="en-US" dirty="0"/>
              <a:t>의 취약점 유형과 </a:t>
            </a:r>
            <a:r>
              <a:rPr lang="ko-KR" altLang="en-US" dirty="0" smtClean="0"/>
              <a:t>대안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ko-KR" altLang="en-US" dirty="0" smtClean="0"/>
              <a:t>데이터 </a:t>
            </a:r>
            <a:r>
              <a:rPr lang="ko-KR" altLang="en-US" dirty="0"/>
              <a:t>변조 공격과 </a:t>
            </a:r>
            <a:r>
              <a:rPr lang="ko-KR" altLang="en-US" dirty="0" smtClean="0"/>
              <a:t>대안</a:t>
            </a:r>
            <a:endParaRPr lang="en-US" altLang="ko-KR" dirty="0" smtClean="0"/>
          </a:p>
          <a:p>
            <a:pPr lvl="1"/>
            <a:r>
              <a:rPr lang="ko-KR" altLang="en-US" sz="1350" dirty="0" smtClean="0">
                <a:solidFill>
                  <a:srgbClr val="FF0000"/>
                </a:solidFill>
              </a:rPr>
              <a:t>회피 공격</a:t>
            </a:r>
            <a:endParaRPr lang="en-US" altLang="ko-KR" sz="1350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sz="1150" dirty="0" smtClean="0"/>
              <a:t>학습 과정에서 </a:t>
            </a:r>
            <a:r>
              <a:rPr lang="ko-KR" altLang="en-US" sz="1150" dirty="0"/>
              <a:t>데이터에 무작위의 오류가 존재하는 </a:t>
            </a:r>
            <a:r>
              <a:rPr lang="ko-KR" altLang="en-US" sz="1150" dirty="0">
                <a:solidFill>
                  <a:srgbClr val="FF0000"/>
                </a:solidFill>
              </a:rPr>
              <a:t>노이즈를 고의적으로 추가</a:t>
            </a:r>
            <a:r>
              <a:rPr lang="ko-KR" altLang="en-US" sz="1150" dirty="0"/>
              <a:t>하면 인공지능은 </a:t>
            </a:r>
            <a:r>
              <a:rPr lang="ko-KR" altLang="en-US" sz="1150" dirty="0" smtClean="0"/>
              <a:t>다른 </a:t>
            </a:r>
            <a:r>
              <a:rPr lang="ko-KR" altLang="en-US" sz="1150" dirty="0"/>
              <a:t>이미지로 </a:t>
            </a:r>
            <a:r>
              <a:rPr lang="ko-KR" altLang="en-US" sz="1150" dirty="0" smtClean="0"/>
              <a:t>판단</a:t>
            </a:r>
            <a:endParaRPr lang="en-US" altLang="ko-KR" sz="1150" dirty="0" smtClean="0"/>
          </a:p>
          <a:p>
            <a:pPr lvl="2"/>
            <a:r>
              <a:rPr lang="ko-KR" altLang="en-US" sz="1100" dirty="0"/>
              <a:t>기존 해킹 방법이 유무선 네트워크나 단말기의 취약점을 </a:t>
            </a:r>
            <a:r>
              <a:rPr lang="ko-KR" altLang="en-US" sz="1100" dirty="0" smtClean="0"/>
              <a:t>이용</a:t>
            </a:r>
            <a:r>
              <a:rPr lang="en-US" altLang="ko-KR" sz="1100" dirty="0" smtClean="0"/>
              <a:t>, </a:t>
            </a:r>
            <a:r>
              <a:rPr lang="ko-KR" altLang="en-US" sz="1100" dirty="0"/>
              <a:t>인공지능에 대한 해킹은 </a:t>
            </a:r>
            <a:r>
              <a:rPr lang="ko-KR" altLang="en-US" sz="1100" dirty="0">
                <a:solidFill>
                  <a:srgbClr val="FF0000"/>
                </a:solidFill>
              </a:rPr>
              <a:t>인공지능 자체의 취약점을 </a:t>
            </a:r>
            <a:r>
              <a:rPr lang="ko-KR" altLang="en-US" sz="1100" dirty="0" smtClean="0">
                <a:solidFill>
                  <a:srgbClr val="FF0000"/>
                </a:solidFill>
              </a:rPr>
              <a:t>이용</a:t>
            </a:r>
            <a:endParaRPr lang="en-US" altLang="ko-KR" sz="1100" dirty="0" smtClean="0">
              <a:solidFill>
                <a:srgbClr val="FF0000"/>
              </a:solidFill>
            </a:endParaRPr>
          </a:p>
          <a:p>
            <a:pPr lvl="2"/>
            <a:endParaRPr lang="en-US" altLang="ko-KR" sz="1100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1100" dirty="0"/>
          </a:p>
          <a:p>
            <a:pPr lvl="2"/>
            <a:r>
              <a:rPr lang="ko-KR" altLang="en-US" sz="1100" dirty="0"/>
              <a:t>데이터가 변조되었다면 </a:t>
            </a:r>
            <a:r>
              <a:rPr lang="ko-KR" altLang="en-US" sz="1100" dirty="0">
                <a:solidFill>
                  <a:srgbClr val="FF0000"/>
                </a:solidFill>
              </a:rPr>
              <a:t>변조 공격을 학습 데이터에 포함해 훈련시키는 방법으로 대응</a:t>
            </a:r>
            <a:r>
              <a:rPr lang="ko-KR" altLang="en-US" sz="1100" dirty="0"/>
              <a:t>할 수 </a:t>
            </a:r>
            <a:r>
              <a:rPr lang="ko-KR" altLang="en-US" sz="1100" dirty="0" smtClean="0"/>
              <a:t>있음</a:t>
            </a:r>
            <a:endParaRPr lang="en-US" altLang="ko-KR" sz="115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80" y="2492896"/>
            <a:ext cx="4067212" cy="17281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80" y="4852751"/>
            <a:ext cx="3381321" cy="167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4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en-US" altLang="ko-KR" dirty="0"/>
              <a:t>AI</a:t>
            </a:r>
            <a:r>
              <a:rPr lang="ko-KR" altLang="en-US" dirty="0"/>
              <a:t>의 취약점 유형과 </a:t>
            </a:r>
            <a:r>
              <a:rPr lang="ko-KR" altLang="en-US" dirty="0" smtClean="0"/>
              <a:t>대안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ko-KR" altLang="en-US" dirty="0"/>
              <a:t>악의적 데이터 주입 </a:t>
            </a:r>
            <a:r>
              <a:rPr lang="ko-KR" altLang="en-US" dirty="0" smtClean="0"/>
              <a:t>공격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FF0000"/>
                </a:solidFill>
              </a:rPr>
              <a:t>중독 공격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악의적인 데이터를 이용해 인공지능 시스템이 오작동을 일으키도록 하는 </a:t>
            </a:r>
            <a:r>
              <a:rPr lang="ko-KR" altLang="en-US" dirty="0" smtClean="0">
                <a:solidFill>
                  <a:srgbClr val="FF0000"/>
                </a:solidFill>
              </a:rPr>
              <a:t>공격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3"/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스캐터랩의</a:t>
            </a:r>
            <a:r>
              <a:rPr lang="ko-KR" altLang="en-US" dirty="0" smtClean="0"/>
              <a:t> </a:t>
            </a:r>
            <a:r>
              <a:rPr lang="ko-KR" altLang="en-US" dirty="0"/>
              <a:t>‘</a:t>
            </a:r>
            <a:r>
              <a:rPr lang="ko-KR" altLang="en-US" dirty="0" smtClean="0"/>
              <a:t>이루다</a:t>
            </a:r>
            <a:r>
              <a:rPr lang="en-US" altLang="ko-KR" dirty="0" smtClean="0"/>
              <a:t>’</a:t>
            </a:r>
            <a:r>
              <a:rPr lang="ko-KR" altLang="en-US" dirty="0"/>
              <a:t>는 일부 사용자들이 </a:t>
            </a:r>
            <a:r>
              <a:rPr lang="ko-KR" altLang="en-US" dirty="0" err="1"/>
              <a:t>이루다에게</a:t>
            </a:r>
            <a:r>
              <a:rPr lang="ko-KR" altLang="en-US" dirty="0"/>
              <a:t> 욕설</a:t>
            </a:r>
            <a:r>
              <a:rPr lang="en-US" altLang="ko-KR" dirty="0"/>
              <a:t>, </a:t>
            </a:r>
            <a:r>
              <a:rPr lang="ko-KR" altLang="en-US" dirty="0"/>
              <a:t>인종 차별 및 성 차별 발언</a:t>
            </a:r>
            <a:r>
              <a:rPr lang="en-US" altLang="ko-KR" dirty="0"/>
              <a:t>, </a:t>
            </a:r>
            <a:r>
              <a:rPr lang="ko-KR" altLang="en-US" dirty="0"/>
              <a:t>정치적 발언 등 악의적인</a:t>
            </a:r>
            <a:r>
              <a:rPr lang="en-US" altLang="ko-KR" dirty="0"/>
              <a:t> </a:t>
            </a:r>
            <a:r>
              <a:rPr lang="ko-KR" altLang="en-US" dirty="0"/>
              <a:t>발언들을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ko-KR" altLang="en-US" dirty="0" smtClean="0"/>
              <a:t>          </a:t>
            </a:r>
            <a:r>
              <a:rPr lang="ko-KR" altLang="en-US" sz="1050" dirty="0" smtClean="0"/>
              <a:t>훈련시키면서 </a:t>
            </a:r>
            <a:r>
              <a:rPr lang="ko-KR" altLang="en-US" sz="1050" dirty="0"/>
              <a:t>정상적인 서비스가 </a:t>
            </a:r>
            <a:r>
              <a:rPr lang="ko-KR" altLang="en-US" sz="1050" dirty="0" smtClean="0"/>
              <a:t>불가능해짐</a:t>
            </a:r>
            <a:endParaRPr lang="en-US" altLang="ko-KR" sz="1050" dirty="0" smtClean="0"/>
          </a:p>
          <a:p>
            <a:pPr marL="447675" lvl="2" indent="0">
              <a:buNone/>
            </a:pPr>
            <a:endParaRPr lang="en-US" altLang="ko-KR" dirty="0"/>
          </a:p>
          <a:p>
            <a:pPr marL="447675" lvl="2" indent="0">
              <a:buNone/>
            </a:pPr>
            <a:endParaRPr lang="en-US" altLang="ko-KR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 smtClean="0"/>
          </a:p>
          <a:p>
            <a:pPr lvl="2"/>
            <a:endParaRPr lang="en-US" altLang="ko-KR" sz="500" dirty="0"/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부정적인 데이터에 대한 사전 학습으로 대응</a:t>
            </a:r>
            <a:r>
              <a:rPr lang="ko-KR" altLang="en-US" sz="1100" dirty="0"/>
              <a:t>할 수 </a:t>
            </a:r>
            <a:r>
              <a:rPr lang="ko-KR" altLang="en-US" sz="1100" dirty="0" smtClean="0"/>
              <a:t>있음</a:t>
            </a:r>
            <a:endParaRPr lang="en-US" altLang="ko-KR" sz="1100" dirty="0" smtClean="0"/>
          </a:p>
          <a:p>
            <a:pPr lvl="2"/>
            <a:r>
              <a:rPr lang="ko-KR" altLang="en-US" sz="1100" dirty="0"/>
              <a:t>사전 학습된 단어들과 비교하여 추가 </a:t>
            </a:r>
            <a:r>
              <a:rPr lang="ko-KR" altLang="en-US" sz="1100" dirty="0" smtClean="0"/>
              <a:t>학습이 </a:t>
            </a:r>
            <a:r>
              <a:rPr lang="ko-KR" altLang="en-US" sz="1100" dirty="0" err="1"/>
              <a:t>불가하거나</a:t>
            </a:r>
            <a:r>
              <a:rPr lang="ko-KR" altLang="en-US" sz="1100" dirty="0"/>
              <a:t> 답변을 우회하도록 프로그램을 설계하는 </a:t>
            </a:r>
            <a:r>
              <a:rPr lang="ko-KR" altLang="en-US" sz="1100" dirty="0" smtClean="0"/>
              <a:t>방법도 고려</a:t>
            </a:r>
            <a:endParaRPr lang="en-US" altLang="ko-KR" sz="115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564904"/>
            <a:ext cx="4402668" cy="172819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013176"/>
            <a:ext cx="3960440" cy="17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0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en-US" altLang="ko-KR" dirty="0"/>
              <a:t>AI</a:t>
            </a:r>
            <a:r>
              <a:rPr lang="ko-KR" altLang="en-US" dirty="0"/>
              <a:t>의 취약점 유형과 </a:t>
            </a:r>
            <a:r>
              <a:rPr lang="ko-KR" altLang="en-US" dirty="0" smtClean="0"/>
              <a:t>대안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ko-KR" altLang="en-US" dirty="0"/>
              <a:t>데이터 추출 </a:t>
            </a:r>
            <a:r>
              <a:rPr lang="ko-KR" altLang="en-US" dirty="0" smtClean="0"/>
              <a:t>공격</a:t>
            </a:r>
            <a:endParaRPr lang="en-US" altLang="ko-KR" sz="950" dirty="0"/>
          </a:p>
          <a:p>
            <a:pPr lvl="1"/>
            <a:r>
              <a:rPr lang="ko-KR" altLang="en-US" dirty="0" smtClean="0">
                <a:solidFill>
                  <a:srgbClr val="FF0000"/>
                </a:solidFill>
              </a:rPr>
              <a:t>전도 공격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데이터 추출 공격은 인공지능에서 사용하는 데이터 자체를 탈취하는 </a:t>
            </a:r>
            <a:r>
              <a:rPr lang="ko-KR" altLang="en-US" dirty="0" smtClean="0">
                <a:solidFill>
                  <a:srgbClr val="FF0000"/>
                </a:solidFill>
              </a:rPr>
              <a:t>공격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 smtClean="0"/>
              <a:t>인공지능에 </a:t>
            </a:r>
            <a:r>
              <a:rPr lang="ko-KR" altLang="en-US" dirty="0">
                <a:solidFill>
                  <a:srgbClr val="FF0000"/>
                </a:solidFill>
              </a:rPr>
              <a:t>수많은 쿼리</a:t>
            </a:r>
            <a:r>
              <a:rPr lang="ko-KR" altLang="en-US" dirty="0"/>
              <a:t>를 한 후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산출된 결과를 분석해 인공지능에서 사용된 데이터를 추출하는 </a:t>
            </a:r>
            <a:r>
              <a:rPr lang="ko-KR" altLang="en-US" dirty="0" smtClean="0">
                <a:solidFill>
                  <a:srgbClr val="FF0000"/>
                </a:solidFill>
              </a:rPr>
              <a:t>공격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데이터 추출 공격에는 질의 횟수를 조정하는 것으로 대응할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429000"/>
            <a:ext cx="6120680" cy="18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6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ko-KR" altLang="en-US" dirty="0"/>
              <a:t>스팸 메일 </a:t>
            </a:r>
            <a:r>
              <a:rPr lang="ko-KR" altLang="en-US" dirty="0" smtClean="0"/>
              <a:t>탐지</a:t>
            </a:r>
            <a:endParaRPr lang="en-US" altLang="ko-KR" dirty="0" smtClean="0"/>
          </a:p>
          <a:p>
            <a:pPr lvl="1"/>
            <a:r>
              <a:rPr lang="ko-KR" altLang="en-US" dirty="0" err="1">
                <a:solidFill>
                  <a:srgbClr val="FF0000"/>
                </a:solidFill>
              </a:rPr>
              <a:t>나이브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베이즈</a:t>
            </a:r>
            <a:r>
              <a:rPr lang="ko-KR" altLang="en-US" dirty="0">
                <a:solidFill>
                  <a:srgbClr val="FF0000"/>
                </a:solidFill>
              </a:rPr>
              <a:t> 분류기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 smtClean="0">
                <a:solidFill>
                  <a:srgbClr val="FF0000"/>
                </a:solidFill>
              </a:rPr>
              <a:t>최초의 </a:t>
            </a:r>
            <a:r>
              <a:rPr lang="ko-KR" altLang="en-US" dirty="0">
                <a:solidFill>
                  <a:srgbClr val="FF0000"/>
                </a:solidFill>
              </a:rPr>
              <a:t>스팸 메일 솔루션에 일반적으로 </a:t>
            </a:r>
            <a:r>
              <a:rPr lang="ko-KR" altLang="en-US" dirty="0" smtClean="0">
                <a:solidFill>
                  <a:srgbClr val="FF0000"/>
                </a:solidFill>
              </a:rPr>
              <a:t>적용</a:t>
            </a:r>
            <a:r>
              <a:rPr lang="ko-KR" altLang="en-US" dirty="0" smtClean="0"/>
              <a:t>된 알고리즘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인공 </a:t>
            </a:r>
            <a:r>
              <a:rPr lang="ko-KR" altLang="en-US" dirty="0"/>
              <a:t>신경망 </a:t>
            </a:r>
            <a:r>
              <a:rPr lang="ko-KR" altLang="en-US" dirty="0" smtClean="0"/>
              <a:t>알고리즘에는 </a:t>
            </a:r>
            <a:r>
              <a:rPr lang="ko-KR" altLang="en-US" dirty="0"/>
              <a:t>속하지 </a:t>
            </a:r>
            <a:r>
              <a:rPr lang="ko-KR" altLang="en-US" dirty="0" smtClean="0"/>
              <a:t>않지만 </a:t>
            </a:r>
            <a:r>
              <a:rPr lang="ko-KR" altLang="en-US" dirty="0" smtClean="0">
                <a:solidFill>
                  <a:srgbClr val="FF0000"/>
                </a:solidFill>
              </a:rPr>
              <a:t>머신 </a:t>
            </a:r>
            <a:r>
              <a:rPr lang="ko-KR" altLang="en-US" dirty="0">
                <a:solidFill>
                  <a:srgbClr val="FF0000"/>
                </a:solidFill>
              </a:rPr>
              <a:t>러닝의 주요 알고리즘으로 분류</a:t>
            </a:r>
            <a:r>
              <a:rPr lang="ko-KR" altLang="en-US" dirty="0"/>
              <a:t>되어 있고 준수한 성능을 </a:t>
            </a:r>
            <a:r>
              <a:rPr lang="ko-KR" altLang="en-US" dirty="0" smtClean="0"/>
              <a:t>보임</a:t>
            </a:r>
            <a:endParaRPr lang="en-US" altLang="ko-KR" dirty="0" smtClean="0"/>
          </a:p>
          <a:p>
            <a:pPr lvl="2"/>
            <a:endParaRPr lang="en-US" altLang="ko-KR" sz="100" dirty="0" smtClean="0"/>
          </a:p>
          <a:p>
            <a:pPr lvl="2"/>
            <a:r>
              <a:rPr lang="ko-KR" altLang="en-US" dirty="0" err="1" smtClean="0">
                <a:solidFill>
                  <a:srgbClr val="FF0000"/>
                </a:solidFill>
              </a:rPr>
              <a:t>베이브의</a:t>
            </a:r>
            <a:r>
              <a:rPr lang="ko-KR" altLang="en-US" dirty="0" smtClean="0">
                <a:solidFill>
                  <a:srgbClr val="FF0000"/>
                </a:solidFill>
              </a:rPr>
              <a:t> 정리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ko-KR" altLang="en-US" dirty="0" smtClean="0"/>
              <a:t>입력 </a:t>
            </a:r>
            <a:r>
              <a:rPr lang="ko-KR" altLang="en-US" dirty="0"/>
              <a:t>텍스트가 정상 메일인지 스팸 메일인지 구분하기 위한 </a:t>
            </a:r>
            <a:r>
              <a:rPr lang="ko-KR" altLang="en-US" dirty="0" smtClean="0"/>
              <a:t>확률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3"/>
            <a:endParaRPr lang="en-US" altLang="ko-KR" dirty="0" smtClean="0"/>
          </a:p>
          <a:p>
            <a:pPr lvl="3"/>
            <a:endParaRPr lang="en-US" altLang="ko-KR" dirty="0"/>
          </a:p>
          <a:p>
            <a:pPr lvl="2"/>
            <a:r>
              <a:rPr lang="en-US" altLang="ko-KR" dirty="0" smtClean="0">
                <a:solidFill>
                  <a:srgbClr val="FF0000"/>
                </a:solidFill>
              </a:rPr>
              <a:t>P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정상 메일</a:t>
            </a:r>
            <a:r>
              <a:rPr lang="en-US" altLang="ko-KR" dirty="0">
                <a:solidFill>
                  <a:srgbClr val="FF0000"/>
                </a:solidFill>
              </a:rPr>
              <a:t>|</a:t>
            </a:r>
            <a:r>
              <a:rPr lang="ko-KR" altLang="en-US" dirty="0">
                <a:solidFill>
                  <a:srgbClr val="FF0000"/>
                </a:solidFill>
              </a:rPr>
              <a:t>텍스트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P(</a:t>
            </a:r>
            <a:r>
              <a:rPr lang="ko-KR" altLang="en-US" dirty="0">
                <a:solidFill>
                  <a:srgbClr val="FF0000"/>
                </a:solidFill>
              </a:rPr>
              <a:t>스팸 메일</a:t>
            </a:r>
            <a:r>
              <a:rPr lang="en-US" altLang="ko-KR" dirty="0">
                <a:solidFill>
                  <a:srgbClr val="FF0000"/>
                </a:solidFill>
              </a:rPr>
              <a:t>|</a:t>
            </a:r>
            <a:r>
              <a:rPr lang="ko-KR" altLang="en-US" dirty="0">
                <a:solidFill>
                  <a:srgbClr val="FF0000"/>
                </a:solidFill>
              </a:rPr>
              <a:t>텍스트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보다 크다면 정상 메일이라고 볼 수 있으며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그 반대라면 스팸 </a:t>
            </a:r>
            <a:r>
              <a:rPr lang="ko-KR" altLang="en-US" dirty="0" smtClean="0">
                <a:solidFill>
                  <a:srgbClr val="FF0000"/>
                </a:solidFill>
              </a:rPr>
              <a:t>메일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/>
              <a:t>메일 본문에 있는 단어가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(w1, w2, w3</a:t>
            </a:r>
            <a:r>
              <a:rPr lang="en-US" altLang="ko-KR" dirty="0" smtClean="0"/>
              <a:t>), </a:t>
            </a:r>
            <a:r>
              <a:rPr lang="ko-KR" altLang="en-US" dirty="0" err="1"/>
              <a:t>나이브</a:t>
            </a:r>
            <a:r>
              <a:rPr lang="ko-KR" altLang="en-US" dirty="0"/>
              <a:t> </a:t>
            </a:r>
            <a:r>
              <a:rPr lang="ko-KR" altLang="en-US" dirty="0" err="1"/>
              <a:t>베이즈</a:t>
            </a:r>
            <a:r>
              <a:rPr lang="ko-KR" altLang="en-US" dirty="0"/>
              <a:t> 분류기의 정상 메일일 확률과 스팸 메일일 </a:t>
            </a:r>
            <a:r>
              <a:rPr lang="ko-KR" altLang="en-US" dirty="0" smtClean="0"/>
              <a:t>확률을 </a:t>
            </a:r>
            <a:r>
              <a:rPr lang="ko-KR" altLang="en-US" dirty="0"/>
              <a:t>구하는 </a:t>
            </a:r>
            <a:r>
              <a:rPr lang="ko-KR" altLang="en-US" dirty="0" smtClean="0"/>
              <a:t>식</a:t>
            </a:r>
            <a:endParaRPr lang="en-US" altLang="ko-KR" dirty="0"/>
          </a:p>
          <a:p>
            <a:pPr lvl="1"/>
            <a:endParaRPr lang="en-US" altLang="ko-KR" dirty="0" smtClean="0"/>
          </a:p>
        </p:txBody>
      </p:sp>
      <p:grpSp>
        <p:nvGrpSpPr>
          <p:cNvPr id="7" name="그룹 6"/>
          <p:cNvGrpSpPr/>
          <p:nvPr/>
        </p:nvGrpSpPr>
        <p:grpSpPr>
          <a:xfrm>
            <a:off x="1403648" y="2512591"/>
            <a:ext cx="6558550" cy="844401"/>
            <a:chOff x="107504" y="2924944"/>
            <a:chExt cx="6558550" cy="844401"/>
          </a:xfrm>
        </p:grpSpPr>
        <p:sp>
          <p:nvSpPr>
            <p:cNvPr id="4" name="TextBox 3"/>
            <p:cNvSpPr txBox="1"/>
            <p:nvPr/>
          </p:nvSpPr>
          <p:spPr>
            <a:xfrm>
              <a:off x="107504" y="3140968"/>
              <a:ext cx="6336704" cy="628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Bef>
                  <a:spcPts val="125"/>
                </a:spcBef>
                <a:spcAft>
                  <a:spcPts val="125"/>
                </a:spcAft>
                <a:buClr>
                  <a:srgbClr val="009BA8"/>
                </a:buClr>
                <a:buFont typeface="Arial" panose="020B0604020202020204" pitchFamily="34" charset="0"/>
                <a:buChar char="•"/>
              </a:pPr>
              <a:r>
                <a:rPr lang="en-US" altLang="ko-KR" sz="1050" dirty="0"/>
                <a:t>P(A)</a:t>
              </a:r>
              <a:r>
                <a:rPr lang="ko-KR" altLang="en-US" sz="1050" dirty="0"/>
                <a:t>가 </a:t>
              </a:r>
              <a:r>
                <a:rPr lang="en-US" altLang="ko-KR" sz="1050" dirty="0"/>
                <a:t>A</a:t>
              </a:r>
              <a:r>
                <a:rPr lang="ko-KR" altLang="en-US" sz="1050" dirty="0"/>
                <a:t>가 일어날 확률</a:t>
              </a:r>
              <a:r>
                <a:rPr lang="en-US" altLang="ko-KR" sz="1050" dirty="0"/>
                <a:t>, P(B)</a:t>
              </a:r>
              <a:r>
                <a:rPr lang="ko-KR" altLang="en-US" sz="1050" dirty="0"/>
                <a:t>가 </a:t>
              </a:r>
              <a:r>
                <a:rPr lang="en-US" altLang="ko-KR" sz="1050" dirty="0"/>
                <a:t>B</a:t>
              </a:r>
              <a:r>
                <a:rPr lang="ko-KR" altLang="en-US" sz="1050" dirty="0"/>
                <a:t>가 일어날 </a:t>
              </a:r>
              <a:r>
                <a:rPr lang="ko-KR" altLang="en-US" sz="1050" dirty="0" smtClean="0"/>
                <a:t>확률</a:t>
              </a:r>
              <a:endParaRPr lang="en-US" altLang="ko-KR" sz="1050" dirty="0" smtClean="0"/>
            </a:p>
            <a:p>
              <a:pPr marL="171450" indent="-171450">
                <a:spcBef>
                  <a:spcPts val="125"/>
                </a:spcBef>
                <a:spcAft>
                  <a:spcPts val="125"/>
                </a:spcAft>
                <a:buClr>
                  <a:srgbClr val="009BA8"/>
                </a:buClr>
                <a:buFont typeface="Arial" panose="020B0604020202020204" pitchFamily="34" charset="0"/>
                <a:buChar char="•"/>
              </a:pPr>
              <a:r>
                <a:rPr lang="en-US" altLang="ko-KR" sz="1050" dirty="0" smtClean="0"/>
                <a:t>P(B|A</a:t>
              </a:r>
              <a:r>
                <a:rPr lang="en-US" altLang="ko-KR" sz="1050" dirty="0"/>
                <a:t>)</a:t>
              </a:r>
              <a:r>
                <a:rPr lang="ko-KR" altLang="en-US" sz="1050" dirty="0"/>
                <a:t>는 </a:t>
              </a:r>
              <a:r>
                <a:rPr lang="en-US" altLang="ko-KR" sz="1050" dirty="0"/>
                <a:t>A</a:t>
              </a:r>
              <a:r>
                <a:rPr lang="ko-KR" altLang="en-US" sz="1050" dirty="0"/>
                <a:t>가 일어난 뒤 </a:t>
              </a:r>
              <a:r>
                <a:rPr lang="en-US" altLang="ko-KR" sz="1050" dirty="0"/>
                <a:t>B</a:t>
              </a:r>
              <a:r>
                <a:rPr lang="ko-KR" altLang="en-US" sz="1050" dirty="0"/>
                <a:t>가 일어날 </a:t>
              </a:r>
              <a:r>
                <a:rPr lang="ko-KR" altLang="en-US" sz="1050" dirty="0" smtClean="0"/>
                <a:t>확률</a:t>
              </a:r>
              <a:endParaRPr lang="en-US" altLang="ko-KR" sz="1050" dirty="0" smtClean="0"/>
            </a:p>
            <a:p>
              <a:pPr marL="171450" indent="-171450">
                <a:spcBef>
                  <a:spcPts val="125"/>
                </a:spcBef>
                <a:spcAft>
                  <a:spcPts val="125"/>
                </a:spcAft>
                <a:buClr>
                  <a:srgbClr val="009BA8"/>
                </a:buClr>
                <a:buFont typeface="Arial" panose="020B0604020202020204" pitchFamily="34" charset="0"/>
                <a:buChar char="•"/>
              </a:pPr>
              <a:r>
                <a:rPr lang="en-US" altLang="ko-KR" sz="1050" dirty="0" smtClean="0"/>
                <a:t>P(A|B</a:t>
              </a:r>
              <a:r>
                <a:rPr lang="en-US" altLang="ko-KR" sz="1050" dirty="0"/>
                <a:t>)</a:t>
              </a:r>
              <a:r>
                <a:rPr lang="ko-KR" altLang="en-US" sz="1050" dirty="0"/>
                <a:t>는 </a:t>
              </a:r>
              <a:r>
                <a:rPr lang="en-US" altLang="ko-KR" sz="1050" dirty="0"/>
                <a:t>B</a:t>
              </a:r>
              <a:r>
                <a:rPr lang="ko-KR" altLang="en-US" sz="1050" dirty="0"/>
                <a:t>가 일어난 뒤 </a:t>
              </a:r>
              <a:r>
                <a:rPr lang="en-US" altLang="ko-KR" sz="1050" dirty="0"/>
                <a:t>A</a:t>
              </a:r>
              <a:r>
                <a:rPr lang="ko-KR" altLang="en-US" sz="1050" dirty="0"/>
                <a:t>가 일어날 확률</a:t>
              </a:r>
            </a:p>
          </p:txBody>
        </p:sp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5694" y="2924944"/>
              <a:ext cx="3240360" cy="818441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1403648" y="3894632"/>
            <a:ext cx="6336704" cy="44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/>
              <a:t>P(</a:t>
            </a:r>
            <a:r>
              <a:rPr lang="ko-KR" altLang="en-US" sz="1050" dirty="0"/>
              <a:t>정상 메일</a:t>
            </a:r>
            <a:r>
              <a:rPr lang="en-US" altLang="ko-KR" sz="1050" dirty="0"/>
              <a:t>|</a:t>
            </a:r>
            <a:r>
              <a:rPr lang="ko-KR" altLang="en-US" sz="1050" dirty="0"/>
              <a:t>텍스트</a:t>
            </a:r>
            <a:r>
              <a:rPr lang="en-US" altLang="ko-KR" sz="1050" dirty="0"/>
              <a:t>) = (P(</a:t>
            </a:r>
            <a:r>
              <a:rPr lang="ko-KR" altLang="en-US" sz="1050" dirty="0"/>
              <a:t>텍스트</a:t>
            </a:r>
            <a:r>
              <a:rPr lang="en-US" altLang="ko-KR" sz="1050" dirty="0"/>
              <a:t>|</a:t>
            </a:r>
            <a:r>
              <a:rPr lang="ko-KR" altLang="en-US" sz="1050" dirty="0"/>
              <a:t>정상 메일</a:t>
            </a:r>
            <a:r>
              <a:rPr lang="en-US" altLang="ko-KR" sz="1050" dirty="0"/>
              <a:t>) * P(</a:t>
            </a:r>
            <a:r>
              <a:rPr lang="ko-KR" altLang="en-US" sz="1050" dirty="0"/>
              <a:t>정상 메일</a:t>
            </a:r>
            <a:r>
              <a:rPr lang="en-US" altLang="ko-KR" sz="1050" dirty="0"/>
              <a:t>)) / P(</a:t>
            </a:r>
            <a:r>
              <a:rPr lang="ko-KR" altLang="en-US" sz="1050" dirty="0"/>
              <a:t>텍스트</a:t>
            </a:r>
            <a:r>
              <a:rPr lang="en-US" altLang="ko-KR" sz="1050" dirty="0"/>
              <a:t>) </a:t>
            </a:r>
            <a:endParaRPr lang="en-US" altLang="ko-KR" sz="1050" dirty="0" smtClean="0"/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/>
              <a:t>P</a:t>
            </a:r>
            <a:r>
              <a:rPr lang="en-US" altLang="ko-KR" sz="1050" dirty="0"/>
              <a:t>(</a:t>
            </a:r>
            <a:r>
              <a:rPr lang="ko-KR" altLang="en-US" sz="1050" dirty="0"/>
              <a:t>스팸 메일</a:t>
            </a:r>
            <a:r>
              <a:rPr lang="en-US" altLang="ko-KR" sz="1050" dirty="0"/>
              <a:t>|</a:t>
            </a:r>
            <a:r>
              <a:rPr lang="ko-KR" altLang="en-US" sz="1050" dirty="0"/>
              <a:t>텍스트</a:t>
            </a:r>
            <a:r>
              <a:rPr lang="en-US" altLang="ko-KR" sz="1050" dirty="0"/>
              <a:t>) = (P(</a:t>
            </a:r>
            <a:r>
              <a:rPr lang="ko-KR" altLang="en-US" sz="1050" dirty="0"/>
              <a:t>텍스트</a:t>
            </a:r>
            <a:r>
              <a:rPr lang="en-US" altLang="ko-KR" sz="1050" dirty="0"/>
              <a:t>|</a:t>
            </a:r>
            <a:r>
              <a:rPr lang="ko-KR" altLang="en-US" sz="1050" dirty="0"/>
              <a:t>스팸 메일</a:t>
            </a:r>
            <a:r>
              <a:rPr lang="en-US" altLang="ko-KR" sz="1050" dirty="0"/>
              <a:t>) * P(</a:t>
            </a:r>
            <a:r>
              <a:rPr lang="ko-KR" altLang="en-US" sz="1050" dirty="0"/>
              <a:t>스팸 메일</a:t>
            </a:r>
            <a:r>
              <a:rPr lang="en-US" altLang="ko-KR" sz="1050" dirty="0"/>
              <a:t>)) / P(</a:t>
            </a:r>
            <a:r>
              <a:rPr lang="ko-KR" altLang="en-US" sz="1050" dirty="0"/>
              <a:t>텍스트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12" name="TextBox 11"/>
          <p:cNvSpPr txBox="1"/>
          <p:nvPr/>
        </p:nvSpPr>
        <p:spPr>
          <a:xfrm>
            <a:off x="1403648" y="5301208"/>
            <a:ext cx="6336704" cy="44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/>
              <a:t>P(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|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) = P(w1|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) * P(w2|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) * P(w3|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) * P(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)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/>
              <a:t>P(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|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) = P(w1|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) * P(w2|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) * P(w3|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) * P(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82593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ko-KR" altLang="en-US" dirty="0"/>
              <a:t>스팸 메일 </a:t>
            </a:r>
            <a:r>
              <a:rPr lang="ko-KR" altLang="en-US" dirty="0" smtClean="0"/>
              <a:t>탐지</a:t>
            </a:r>
            <a:endParaRPr lang="en-US" altLang="ko-KR" dirty="0" smtClean="0"/>
          </a:p>
          <a:p>
            <a:pPr lvl="1"/>
            <a:r>
              <a:rPr lang="ko-KR" altLang="en-US" dirty="0" err="1"/>
              <a:t>나이브</a:t>
            </a:r>
            <a:r>
              <a:rPr lang="ko-KR" altLang="en-US" dirty="0"/>
              <a:t> </a:t>
            </a:r>
            <a:r>
              <a:rPr lang="ko-KR" altLang="en-US" dirty="0" err="1"/>
              <a:t>베이즈</a:t>
            </a:r>
            <a:r>
              <a:rPr lang="ko-KR" altLang="en-US" dirty="0"/>
              <a:t> </a:t>
            </a:r>
            <a:r>
              <a:rPr lang="ko-KR" altLang="en-US" dirty="0" smtClean="0"/>
              <a:t>분류기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예시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r>
              <a:rPr lang="en-US" altLang="ko-KR" dirty="0" smtClean="0">
                <a:solidFill>
                  <a:srgbClr val="FF0000"/>
                </a:solidFill>
              </a:rPr>
              <a:t>get </a:t>
            </a:r>
            <a:r>
              <a:rPr lang="en-US" altLang="ko-KR" dirty="0">
                <a:solidFill>
                  <a:srgbClr val="FF0000"/>
                </a:solidFill>
              </a:rPr>
              <a:t>free lottery</a:t>
            </a:r>
            <a:r>
              <a:rPr lang="ko-KR" altLang="en-US" dirty="0"/>
              <a:t>라는 입력 텍스트에 대해서</a:t>
            </a:r>
            <a:r>
              <a:rPr lang="en-US" altLang="ko-KR" dirty="0"/>
              <a:t>, </a:t>
            </a:r>
            <a:r>
              <a:rPr lang="ko-KR" altLang="en-US" dirty="0"/>
              <a:t>이 입력 텍스트가 정상 메일일 확률과 스팸 메일일 </a:t>
            </a:r>
            <a:r>
              <a:rPr lang="ko-KR" altLang="en-US" dirty="0" smtClean="0"/>
              <a:t>확률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3"/>
            <a:r>
              <a:rPr lang="ko-KR" altLang="en-US" dirty="0" smtClean="0"/>
              <a:t>결과적으로 보면 </a:t>
            </a:r>
            <a:r>
              <a:rPr lang="en-US" altLang="ko-KR" dirty="0" smtClean="0"/>
              <a:t>P</a:t>
            </a:r>
            <a:r>
              <a:rPr lang="en-US" altLang="ko-KR" dirty="0"/>
              <a:t>(</a:t>
            </a:r>
            <a:r>
              <a:rPr lang="ko-KR" altLang="en-US" dirty="0"/>
              <a:t>정상 메일</a:t>
            </a:r>
            <a:r>
              <a:rPr lang="en-US" altLang="ko-KR" dirty="0"/>
              <a:t>|</a:t>
            </a:r>
            <a:r>
              <a:rPr lang="ko-KR" altLang="en-US" dirty="0" smtClean="0"/>
              <a:t>텍스트</a:t>
            </a:r>
            <a:r>
              <a:rPr lang="en-US" altLang="ko-KR" dirty="0" smtClean="0"/>
              <a:t>)</a:t>
            </a:r>
            <a:r>
              <a:rPr lang="ko-KR" altLang="en-US" dirty="0"/>
              <a:t>보다 </a:t>
            </a:r>
            <a:r>
              <a:rPr lang="en-US" altLang="ko-KR" dirty="0"/>
              <a:t>P(</a:t>
            </a:r>
            <a:r>
              <a:rPr lang="ko-KR" altLang="en-US" dirty="0"/>
              <a:t>스팸 메일</a:t>
            </a:r>
            <a:r>
              <a:rPr lang="en-US" altLang="ko-KR" dirty="0"/>
              <a:t>|</a:t>
            </a:r>
            <a:r>
              <a:rPr lang="ko-KR" altLang="en-US" dirty="0" smtClean="0"/>
              <a:t>텍스트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크므로</a:t>
            </a:r>
            <a:r>
              <a:rPr lang="en-US" altLang="ko-KR" dirty="0"/>
              <a:t>, get free lottery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FF0000"/>
                </a:solidFill>
              </a:rPr>
              <a:t>스팸 메일로 분류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844824"/>
            <a:ext cx="5112568" cy="1200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9632" y="3501008"/>
            <a:ext cx="6336704" cy="44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/>
              <a:t>P(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|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) = (P(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|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) * P(</a:t>
            </a:r>
            <a:r>
              <a:rPr lang="ko-KR" altLang="en-US" sz="1050" dirty="0" smtClean="0"/>
              <a:t>정상 메일</a:t>
            </a:r>
            <a:r>
              <a:rPr lang="en-US" altLang="ko-KR" sz="1050" dirty="0" smtClean="0"/>
              <a:t>)) / P(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)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 smtClean="0"/>
              <a:t>P(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|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) = (P(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|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) * P(</a:t>
            </a:r>
            <a:r>
              <a:rPr lang="ko-KR" altLang="en-US" sz="1050" dirty="0" smtClean="0"/>
              <a:t>스팸 메일</a:t>
            </a:r>
            <a:r>
              <a:rPr lang="en-US" altLang="ko-KR" sz="1050" dirty="0" smtClean="0"/>
              <a:t>)) / P(</a:t>
            </a:r>
            <a:r>
              <a:rPr lang="ko-KR" altLang="en-US" sz="1050" dirty="0" smtClean="0"/>
              <a:t>텍스트</a:t>
            </a:r>
            <a:r>
              <a:rPr lang="en-US" altLang="ko-KR" sz="1050" dirty="0" smtClean="0"/>
              <a:t>)</a:t>
            </a:r>
            <a:endParaRPr lang="ko-KR" altLang="en-US" sz="1050" dirty="0"/>
          </a:p>
        </p:txBody>
      </p:sp>
      <p:sp>
        <p:nvSpPr>
          <p:cNvPr id="13" name="TextBox 12"/>
          <p:cNvSpPr txBox="1"/>
          <p:nvPr/>
        </p:nvSpPr>
        <p:spPr>
          <a:xfrm>
            <a:off x="1259632" y="3995966"/>
            <a:ext cx="6336704" cy="44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/>
              <a:t>P(</a:t>
            </a:r>
            <a:r>
              <a:rPr lang="ko-KR" altLang="en-US" sz="1050" dirty="0"/>
              <a:t>정상 메일 </a:t>
            </a:r>
            <a:r>
              <a:rPr lang="en-US" altLang="ko-KR" sz="1050" dirty="0"/>
              <a:t>|</a:t>
            </a:r>
            <a:r>
              <a:rPr lang="ko-KR" altLang="en-US" sz="1050" dirty="0"/>
              <a:t>입력 텍스트</a:t>
            </a:r>
            <a:r>
              <a:rPr lang="en-US" altLang="ko-KR" sz="1050" dirty="0"/>
              <a:t>) = 1/10 * 2/10 * 0/10 * 0.5 = 0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Clr>
                <a:srgbClr val="009BA8"/>
              </a:buClr>
              <a:buFont typeface="Arial" panose="020B0604020202020204" pitchFamily="34" charset="0"/>
              <a:buChar char="•"/>
            </a:pPr>
            <a:r>
              <a:rPr lang="en-US" altLang="ko-KR" sz="1050" dirty="0"/>
              <a:t>P(</a:t>
            </a:r>
            <a:r>
              <a:rPr lang="ko-KR" altLang="en-US" sz="1050" dirty="0"/>
              <a:t>스팸 메일</a:t>
            </a:r>
            <a:r>
              <a:rPr lang="en-US" altLang="ko-KR" sz="1050" dirty="0"/>
              <a:t>|</a:t>
            </a:r>
            <a:r>
              <a:rPr lang="ko-KR" altLang="en-US" sz="1050" dirty="0"/>
              <a:t>입력 텍스트</a:t>
            </a:r>
            <a:r>
              <a:rPr lang="en-US" altLang="ko-KR" sz="1050" dirty="0"/>
              <a:t>) = 1/9 * 2/9 * 2/9 * 0.5 = 0.28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02395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362274" cy="5400600"/>
          </a:xfrm>
        </p:spPr>
        <p:txBody>
          <a:bodyPr/>
          <a:lstStyle/>
          <a:p>
            <a:r>
              <a:rPr lang="ko-KR" altLang="en-US" dirty="0"/>
              <a:t>스팸 메일 </a:t>
            </a:r>
            <a:r>
              <a:rPr lang="ko-KR" altLang="en-US" dirty="0" smtClean="0"/>
              <a:t>탐지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rgbClr val="FF0000"/>
                </a:solidFill>
              </a:rPr>
              <a:t>BERT</a:t>
            </a:r>
          </a:p>
          <a:p>
            <a:pPr lvl="2"/>
            <a:r>
              <a:rPr lang="ko-KR" altLang="en-US" dirty="0" smtClean="0"/>
              <a:t>구글에서 개발한 </a:t>
            </a:r>
            <a:r>
              <a:rPr lang="en-US" altLang="ko-KR" dirty="0" smtClean="0">
                <a:solidFill>
                  <a:srgbClr val="FF0000"/>
                </a:solidFill>
              </a:rPr>
              <a:t>NLP </a:t>
            </a:r>
            <a:r>
              <a:rPr lang="ko-KR" altLang="en-US" dirty="0">
                <a:solidFill>
                  <a:srgbClr val="FF0000"/>
                </a:solidFill>
              </a:rPr>
              <a:t>사전 훈련 </a:t>
            </a:r>
            <a:r>
              <a:rPr lang="ko-KR" altLang="en-US" dirty="0" smtClean="0">
                <a:solidFill>
                  <a:srgbClr val="FF0000"/>
                </a:solidFill>
              </a:rPr>
              <a:t>기술로 모든 </a:t>
            </a:r>
            <a:r>
              <a:rPr lang="ko-KR" altLang="en-US" dirty="0">
                <a:solidFill>
                  <a:srgbClr val="FF0000"/>
                </a:solidFill>
              </a:rPr>
              <a:t>자연어 처리 </a:t>
            </a:r>
            <a:r>
              <a:rPr lang="ko-KR" altLang="en-US" dirty="0" smtClean="0">
                <a:solidFill>
                  <a:srgbClr val="FF0000"/>
                </a:solidFill>
              </a:rPr>
              <a:t>분야에서 </a:t>
            </a:r>
            <a:r>
              <a:rPr lang="ko-KR" altLang="en-US" dirty="0">
                <a:solidFill>
                  <a:srgbClr val="FF0000"/>
                </a:solidFill>
              </a:rPr>
              <a:t>좋은 성능을 내는 범용 언어 모델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ko-KR" altLang="en-US" dirty="0" err="1" smtClean="0"/>
              <a:t>딥러닝에서</a:t>
            </a:r>
            <a:r>
              <a:rPr lang="ko-KR" altLang="en-US" dirty="0" smtClean="0"/>
              <a:t> </a:t>
            </a:r>
            <a:r>
              <a:rPr lang="ko-KR" altLang="en-US" dirty="0"/>
              <a:t>인공 신경망의 뉴런과 유사한 역할을 하는 </a:t>
            </a:r>
            <a:r>
              <a:rPr lang="ko-KR" altLang="en-US" dirty="0" err="1" smtClean="0"/>
              <a:t>어텐션</a:t>
            </a:r>
            <a:r>
              <a:rPr lang="en-US" altLang="ko-KR" dirty="0" smtClean="0"/>
              <a:t> </a:t>
            </a:r>
            <a:r>
              <a:rPr lang="ko-KR" altLang="en-US" dirty="0" smtClean="0"/>
              <a:t>알고리즘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위키피디아나 </a:t>
            </a:r>
            <a:r>
              <a:rPr lang="ko-KR" altLang="en-US" dirty="0"/>
              <a:t>소셜 같은 막대한 양의 텍스트를 이용하여 모델을 </a:t>
            </a:r>
            <a:r>
              <a:rPr lang="ko-KR" altLang="en-US" dirty="0" smtClean="0"/>
              <a:t>훈련</a:t>
            </a:r>
            <a:endParaRPr lang="en-US" altLang="ko-KR" dirty="0"/>
          </a:p>
          <a:p>
            <a:pPr lvl="2"/>
            <a:r>
              <a:rPr lang="ko-KR" altLang="en-US" dirty="0" smtClean="0"/>
              <a:t>최근 </a:t>
            </a:r>
            <a:r>
              <a:rPr lang="en-US" altLang="ko-KR" dirty="0"/>
              <a:t>BERT</a:t>
            </a:r>
            <a:r>
              <a:rPr lang="ko-KR" altLang="en-US" dirty="0"/>
              <a:t>를 활용한 </a:t>
            </a:r>
            <a:r>
              <a:rPr lang="ko-KR" altLang="en-US" dirty="0">
                <a:solidFill>
                  <a:srgbClr val="FF0000"/>
                </a:solidFill>
              </a:rPr>
              <a:t>스팸 메일 </a:t>
            </a:r>
            <a:r>
              <a:rPr lang="ko-KR" altLang="en-US" dirty="0" smtClean="0">
                <a:solidFill>
                  <a:srgbClr val="FF0000"/>
                </a:solidFill>
              </a:rPr>
              <a:t>솔루션은 </a:t>
            </a:r>
            <a:r>
              <a:rPr lang="en-US" altLang="ko-KR" dirty="0">
                <a:solidFill>
                  <a:srgbClr val="FF0000"/>
                </a:solidFill>
              </a:rPr>
              <a:t>90% </a:t>
            </a:r>
            <a:r>
              <a:rPr lang="ko-KR" altLang="en-US" dirty="0">
                <a:solidFill>
                  <a:srgbClr val="FF0000"/>
                </a:solidFill>
              </a:rPr>
              <a:t>후반대의 </a:t>
            </a:r>
            <a:r>
              <a:rPr lang="ko-KR" altLang="en-US" dirty="0" smtClean="0">
                <a:solidFill>
                  <a:srgbClr val="FF0000"/>
                </a:solidFill>
              </a:rPr>
              <a:t>정확도</a:t>
            </a:r>
            <a:r>
              <a:rPr lang="ko-KR" altLang="en-US" dirty="0" smtClean="0"/>
              <a:t>를 보임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033" y="3717032"/>
            <a:ext cx="3809878" cy="23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4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5" y="1124744"/>
            <a:ext cx="8506291" cy="5400600"/>
          </a:xfrm>
        </p:spPr>
        <p:txBody>
          <a:bodyPr/>
          <a:lstStyle/>
          <a:p>
            <a:r>
              <a:rPr lang="ko-KR" altLang="en-US" dirty="0"/>
              <a:t>네트워크 침입 </a:t>
            </a:r>
            <a:r>
              <a:rPr lang="ko-KR" altLang="en-US" dirty="0" smtClean="0"/>
              <a:t>탐지</a:t>
            </a:r>
            <a:endParaRPr lang="en-US" altLang="ko-KR" dirty="0" smtClean="0"/>
          </a:p>
          <a:p>
            <a:pPr lvl="1"/>
            <a:r>
              <a:rPr lang="ko-KR" altLang="en-US" dirty="0"/>
              <a:t>전문가 </a:t>
            </a:r>
            <a:r>
              <a:rPr lang="ko-KR" altLang="en-US" dirty="0" smtClean="0"/>
              <a:t>시스템</a:t>
            </a:r>
            <a:endParaRPr lang="en-US" altLang="ko-KR" dirty="0" smtClean="0"/>
          </a:p>
          <a:p>
            <a:pPr lvl="2"/>
            <a:r>
              <a:rPr lang="ko-KR" altLang="en-US" dirty="0"/>
              <a:t>특정 응용 분야 전문가의 지식 및 능력을 체계적으로 잘 조직하여 컴퓨터 시스템에 입력해 해당 분야의 </a:t>
            </a:r>
            <a:r>
              <a:rPr lang="ko-KR" altLang="en-US" dirty="0" smtClean="0"/>
              <a:t>비전문가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ko-KR" altLang="en-US" dirty="0" smtClean="0"/>
              <a:t>   라도 </a:t>
            </a:r>
            <a:r>
              <a:rPr lang="ko-KR" altLang="en-US" dirty="0"/>
              <a:t>전문가에 상응하는 능력을 발휘할 수 있도록 쉽고 빠르게 도움을 주는 </a:t>
            </a:r>
            <a:r>
              <a:rPr lang="ko-KR" altLang="en-US" dirty="0" smtClean="0"/>
              <a:t>시스템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전문가 </a:t>
            </a:r>
            <a:r>
              <a:rPr lang="ko-KR" altLang="en-US" dirty="0"/>
              <a:t>시스템은 </a:t>
            </a:r>
            <a:r>
              <a:rPr lang="ko-KR" altLang="en-US" dirty="0" smtClean="0"/>
              <a:t>앞서 </a:t>
            </a:r>
            <a:r>
              <a:rPr lang="en-US" altLang="ko-KR" dirty="0"/>
              <a:t>AI</a:t>
            </a:r>
            <a:r>
              <a:rPr lang="ko-KR" altLang="en-US" dirty="0"/>
              <a:t>의 역사에서 언급한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논리적인 체계로 문제를 푸는 </a:t>
            </a:r>
            <a:r>
              <a:rPr lang="ko-KR" altLang="en-US" dirty="0" err="1">
                <a:solidFill>
                  <a:srgbClr val="FF0000"/>
                </a:solidFill>
              </a:rPr>
              <a:t>기호주의의</a:t>
            </a:r>
            <a:r>
              <a:rPr lang="ko-KR" altLang="en-US" dirty="0">
                <a:solidFill>
                  <a:srgbClr val="FF0000"/>
                </a:solidFill>
              </a:rPr>
              <a:t> 한 분야</a:t>
            </a:r>
            <a:r>
              <a:rPr lang="ko-KR" altLang="en-US" dirty="0"/>
              <a:t>에 </a:t>
            </a:r>
            <a:r>
              <a:rPr lang="ko-KR" altLang="en-US" dirty="0" smtClean="0"/>
              <a:t>속함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ko-KR" altLang="en-US" dirty="0" err="1" smtClean="0"/>
              <a:t>오탐률</a:t>
            </a:r>
            <a:endParaRPr lang="en-US" altLang="ko-KR" dirty="0" smtClean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거짓 </a:t>
            </a:r>
            <a:r>
              <a:rPr lang="ko-KR" altLang="en-US" dirty="0" smtClean="0">
                <a:solidFill>
                  <a:srgbClr val="FF0000"/>
                </a:solidFill>
              </a:rPr>
              <a:t>양성</a:t>
            </a:r>
            <a:r>
              <a:rPr lang="en-US" altLang="ko-KR" dirty="0" smtClean="0">
                <a:solidFill>
                  <a:srgbClr val="FF0000"/>
                </a:solidFill>
              </a:rPr>
              <a:t>(False Positive)</a:t>
            </a:r>
            <a:r>
              <a:rPr lang="en-US" altLang="ko-KR" dirty="0" smtClean="0"/>
              <a:t>, Type </a:t>
            </a:r>
            <a:r>
              <a:rPr lang="en-US" altLang="ko-KR" dirty="0"/>
              <a:t>1 </a:t>
            </a:r>
            <a:r>
              <a:rPr lang="ko-KR" altLang="en-US" dirty="0" err="1"/>
              <a:t>에러라고도</a:t>
            </a:r>
            <a:r>
              <a:rPr lang="ko-KR" altLang="en-US" dirty="0"/>
              <a:t> 하는데</a:t>
            </a:r>
            <a:r>
              <a:rPr lang="en-US" altLang="ko-KR" dirty="0"/>
              <a:t>, </a:t>
            </a:r>
            <a:r>
              <a:rPr lang="ko-KR" altLang="en-US" dirty="0"/>
              <a:t>쉽게 </a:t>
            </a:r>
            <a:r>
              <a:rPr lang="ko-KR" altLang="en-US" dirty="0" smtClean="0"/>
              <a:t>말해 </a:t>
            </a:r>
            <a:r>
              <a:rPr lang="ko-KR" altLang="en-US" dirty="0"/>
              <a:t>실제로는 </a:t>
            </a:r>
            <a:r>
              <a:rPr lang="ko-KR" altLang="en-US" dirty="0">
                <a:solidFill>
                  <a:srgbClr val="FF0000"/>
                </a:solidFill>
              </a:rPr>
              <a:t>공격이 아닌데 공격이라고 탐지</a:t>
            </a:r>
            <a:r>
              <a:rPr lang="ko-KR" altLang="en-US" dirty="0"/>
              <a:t>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병이 없는데 병이 있다고 판단하는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화재가 나지 않았는데 화재 경보기가 작동한 경우</a:t>
            </a:r>
            <a:endParaRPr lang="en-US" altLang="ko-KR" dirty="0" smtClean="0"/>
          </a:p>
          <a:p>
            <a:pPr marL="447675" lvl="2" indent="0">
              <a:buNone/>
            </a:pPr>
            <a:endParaRPr lang="en-US" altLang="ko-KR" dirty="0" smtClean="0"/>
          </a:p>
          <a:p>
            <a:pPr lvl="2"/>
            <a:r>
              <a:rPr lang="ko-KR" altLang="en-US" dirty="0" smtClean="0"/>
              <a:t>기존의 </a:t>
            </a:r>
            <a:r>
              <a:rPr lang="ko-KR" altLang="en-US" dirty="0"/>
              <a:t>전문가 시스템은 이와 </a:t>
            </a:r>
            <a:r>
              <a:rPr lang="ko-KR" altLang="en-US" dirty="0" smtClean="0"/>
              <a:t>반대로 </a:t>
            </a:r>
            <a:r>
              <a:rPr lang="ko-KR" altLang="en-US" dirty="0" smtClean="0">
                <a:solidFill>
                  <a:srgbClr val="FF0000"/>
                </a:solidFill>
              </a:rPr>
              <a:t>참 음성</a:t>
            </a:r>
            <a:r>
              <a:rPr lang="en-US" altLang="ko-KR" dirty="0" smtClean="0">
                <a:solidFill>
                  <a:srgbClr val="FF0000"/>
                </a:solidFill>
              </a:rPr>
              <a:t>(True Negative)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/>
              <a:t>Type </a:t>
            </a:r>
            <a:r>
              <a:rPr lang="en-US" altLang="ko-KR" dirty="0"/>
              <a:t>2 </a:t>
            </a:r>
            <a:r>
              <a:rPr lang="ko-KR" altLang="en-US" dirty="0"/>
              <a:t>에러가 상대적으로 </a:t>
            </a:r>
            <a:r>
              <a:rPr lang="ko-KR" altLang="en-US" dirty="0" smtClean="0"/>
              <a:t>높음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Type </a:t>
            </a:r>
            <a:r>
              <a:rPr lang="en-US" altLang="ko-KR" dirty="0"/>
              <a:t>2 </a:t>
            </a:r>
            <a:r>
              <a:rPr lang="ko-KR" altLang="en-US" dirty="0"/>
              <a:t>에러는 </a:t>
            </a:r>
            <a:r>
              <a:rPr lang="ko-KR" altLang="en-US" dirty="0">
                <a:solidFill>
                  <a:srgbClr val="FF0000"/>
                </a:solidFill>
              </a:rPr>
              <a:t>공격을 </a:t>
            </a:r>
            <a:r>
              <a:rPr lang="ko-KR" altLang="en-US" dirty="0" smtClean="0">
                <a:solidFill>
                  <a:srgbClr val="FF0000"/>
                </a:solidFill>
              </a:rPr>
              <a:t>받았으나 </a:t>
            </a:r>
            <a:r>
              <a:rPr lang="ko-KR" altLang="en-US" dirty="0">
                <a:solidFill>
                  <a:srgbClr val="FF0000"/>
                </a:solidFill>
              </a:rPr>
              <a:t>이를 탐지하지 못하는 </a:t>
            </a:r>
            <a:r>
              <a:rPr lang="ko-KR" altLang="en-US" dirty="0" smtClean="0">
                <a:solidFill>
                  <a:srgbClr val="FF0000"/>
                </a:solidFill>
              </a:rPr>
              <a:t>것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병이 있는데 병을 감지하지 못하는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화재가 났는데 화재 경보기가 작동하지 않는 경우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247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5" y="1124744"/>
            <a:ext cx="8146251" cy="5400600"/>
          </a:xfrm>
        </p:spPr>
        <p:txBody>
          <a:bodyPr/>
          <a:lstStyle/>
          <a:p>
            <a:r>
              <a:rPr lang="ko-KR" altLang="en-US" dirty="0"/>
              <a:t>악성 코드 </a:t>
            </a:r>
            <a:r>
              <a:rPr lang="ko-KR" altLang="en-US" dirty="0" smtClean="0"/>
              <a:t>탐지</a:t>
            </a:r>
            <a:endParaRPr lang="en-US" altLang="ko-KR" dirty="0" smtClean="0"/>
          </a:p>
          <a:p>
            <a:pPr lvl="2"/>
            <a:r>
              <a:rPr lang="ko-KR" altLang="en-US" dirty="0"/>
              <a:t>기존에는 악성 코드를 탐지하기 위해 </a:t>
            </a:r>
            <a:r>
              <a:rPr lang="ko-KR" altLang="en-US" dirty="0">
                <a:solidFill>
                  <a:srgbClr val="FF0000"/>
                </a:solidFill>
              </a:rPr>
              <a:t>악성 코드의 일부분을 매칭</a:t>
            </a:r>
            <a:r>
              <a:rPr lang="ko-KR" altLang="en-US" dirty="0"/>
              <a:t>해보거나 </a:t>
            </a:r>
            <a:r>
              <a:rPr lang="ko-KR" altLang="en-US" dirty="0">
                <a:solidFill>
                  <a:srgbClr val="FF0000"/>
                </a:solidFill>
              </a:rPr>
              <a:t>특정 부분의 해시 값을 생성하여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 smtClean="0">
                <a:solidFill>
                  <a:srgbClr val="FF0000"/>
                </a:solidFill>
              </a:rPr>
              <a:t>   </a:t>
            </a:r>
            <a:r>
              <a:rPr lang="ko-KR" altLang="en-US" dirty="0" smtClean="0">
                <a:solidFill>
                  <a:srgbClr val="FF0000"/>
                </a:solidFill>
              </a:rPr>
              <a:t>비교</a:t>
            </a:r>
            <a:r>
              <a:rPr lang="ko-KR" altLang="en-US" dirty="0" smtClean="0"/>
              <a:t>해보는 </a:t>
            </a:r>
            <a:r>
              <a:rPr lang="ko-KR" altLang="en-US" dirty="0"/>
              <a:t>등의 방법이 </a:t>
            </a:r>
            <a:r>
              <a:rPr lang="ko-KR" altLang="en-US" dirty="0" smtClean="0"/>
              <a:t>사용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최근에는 </a:t>
            </a:r>
            <a:r>
              <a:rPr lang="ko-KR" altLang="en-US" dirty="0"/>
              <a:t>이런 탐지 방법을 회피한 고도화된 방식으로 다양한 신</a:t>
            </a:r>
            <a:r>
              <a:rPr lang="en-US" altLang="ko-KR" dirty="0"/>
              <a:t>·</a:t>
            </a:r>
            <a:r>
              <a:rPr lang="ko-KR" altLang="en-US" dirty="0"/>
              <a:t>변종 악성 코드가 </a:t>
            </a:r>
            <a:r>
              <a:rPr lang="ko-KR" altLang="en-US" dirty="0" smtClean="0"/>
              <a:t>나타나 탐지가 어려움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624" y="3204242"/>
            <a:ext cx="2819411" cy="246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1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5" y="1124744"/>
            <a:ext cx="8146251" cy="5400600"/>
          </a:xfrm>
        </p:spPr>
        <p:txBody>
          <a:bodyPr/>
          <a:lstStyle/>
          <a:p>
            <a:r>
              <a:rPr lang="ko-KR" altLang="en-US" dirty="0"/>
              <a:t>악성 코드 </a:t>
            </a:r>
            <a:r>
              <a:rPr lang="ko-KR" altLang="en-US" dirty="0" smtClean="0"/>
              <a:t>탐지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현재는 </a:t>
            </a:r>
            <a:r>
              <a:rPr lang="ko-KR" altLang="en-US" dirty="0">
                <a:solidFill>
                  <a:srgbClr val="FF0000"/>
                </a:solidFill>
              </a:rPr>
              <a:t>프로그램이 지닌 일반적인 특징들을 </a:t>
            </a:r>
            <a:r>
              <a:rPr lang="ko-KR" altLang="en-US" dirty="0" err="1">
                <a:solidFill>
                  <a:srgbClr val="FF0000"/>
                </a:solidFill>
              </a:rPr>
              <a:t>변수화</a:t>
            </a:r>
            <a:r>
              <a:rPr lang="ko-KR" altLang="en-US" dirty="0" err="1"/>
              <a:t>하여</a:t>
            </a:r>
            <a:r>
              <a:rPr lang="ko-KR" altLang="en-US" dirty="0"/>
              <a:t> 이를 기반으로 악성 코드와 정상 </a:t>
            </a:r>
            <a:r>
              <a:rPr lang="ko-KR" altLang="en-US" dirty="0" smtClean="0"/>
              <a:t>코드를 </a:t>
            </a:r>
            <a:r>
              <a:rPr lang="ko-KR" altLang="en-US" dirty="0">
                <a:solidFill>
                  <a:srgbClr val="FF0000"/>
                </a:solidFill>
              </a:rPr>
              <a:t>머신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marL="447675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</a:t>
            </a:r>
            <a:r>
              <a:rPr lang="ko-KR" altLang="en-US" dirty="0" smtClean="0">
                <a:solidFill>
                  <a:srgbClr val="FF0000"/>
                </a:solidFill>
              </a:rPr>
              <a:t>러닝 </a:t>
            </a:r>
            <a:r>
              <a:rPr lang="ko-KR" altLang="en-US" dirty="0">
                <a:solidFill>
                  <a:srgbClr val="FF0000"/>
                </a:solidFill>
              </a:rPr>
              <a:t>모델에 학습시켜 악성 코드를 탐지</a:t>
            </a:r>
            <a:r>
              <a:rPr lang="ko-KR" altLang="en-US" dirty="0"/>
              <a:t>하는 방법이 제안 및 </a:t>
            </a:r>
            <a:r>
              <a:rPr lang="ko-KR" altLang="en-US" dirty="0" smtClean="0"/>
              <a:t>연구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최근에 </a:t>
            </a:r>
            <a:r>
              <a:rPr lang="ko-KR" altLang="en-US" dirty="0"/>
              <a:t>응용 </a:t>
            </a:r>
            <a:r>
              <a:rPr lang="ko-KR" altLang="en-US" dirty="0" smtClean="0"/>
              <a:t>프로그램의 </a:t>
            </a:r>
            <a:r>
              <a:rPr lang="ko-KR" altLang="en-US" dirty="0"/>
              <a:t>행위에 기반한 특징을 분석해서 이를 변수로 두고 악성 코드를 탐지하는 기술이 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적용되고 </a:t>
            </a:r>
            <a:r>
              <a:rPr lang="ko-KR" altLang="en-US" dirty="0"/>
              <a:t>있는데</a:t>
            </a:r>
            <a:r>
              <a:rPr lang="en-US" altLang="ko-KR" dirty="0"/>
              <a:t>, </a:t>
            </a:r>
            <a:r>
              <a:rPr lang="ko-KR" altLang="en-US" dirty="0"/>
              <a:t>이는 </a:t>
            </a:r>
            <a:r>
              <a:rPr lang="ko-KR" altLang="en-US" dirty="0">
                <a:solidFill>
                  <a:srgbClr val="FF0000"/>
                </a:solidFill>
              </a:rPr>
              <a:t>상당한 정확도</a:t>
            </a:r>
            <a:r>
              <a:rPr lang="ko-KR" altLang="en-US" dirty="0"/>
              <a:t>를 </a:t>
            </a:r>
            <a:r>
              <a:rPr lang="ko-KR" altLang="en-US" dirty="0" smtClean="0"/>
              <a:t>보여줌</a:t>
            </a:r>
            <a:endParaRPr lang="en-US" altLang="ko-KR" dirty="0" smtClean="0"/>
          </a:p>
          <a:p>
            <a:pPr marL="447675" lvl="2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변수로 활용되는 데이터의 특징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140968"/>
            <a:ext cx="698138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5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AI</a:t>
            </a:r>
            <a:r>
              <a:rPr lang="ko-KR" altLang="en-US" dirty="0"/>
              <a:t>를 이용한 </a:t>
            </a:r>
            <a:r>
              <a:rPr lang="ko-KR" altLang="en-US" dirty="0" smtClean="0"/>
              <a:t>보안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0205" y="1124744"/>
            <a:ext cx="8146251" cy="5400600"/>
          </a:xfrm>
        </p:spPr>
        <p:txBody>
          <a:bodyPr/>
          <a:lstStyle/>
          <a:p>
            <a:r>
              <a:rPr lang="en-US" altLang="ko-KR" dirty="0"/>
              <a:t>CCTV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물리적 </a:t>
            </a:r>
            <a:r>
              <a:rPr lang="ko-KR" altLang="en-US" dirty="0"/>
              <a:t>보안에서 중요한 역할을 담당하는 </a:t>
            </a:r>
            <a:r>
              <a:rPr lang="en-US" altLang="ko-KR" dirty="0">
                <a:solidFill>
                  <a:srgbClr val="FF0000"/>
                </a:solidFill>
              </a:rPr>
              <a:t>CCTV</a:t>
            </a:r>
            <a:r>
              <a:rPr lang="ko-KR" altLang="en-US" dirty="0">
                <a:solidFill>
                  <a:srgbClr val="FF0000"/>
                </a:solidFill>
              </a:rPr>
              <a:t>에도 머신 러닝이 </a:t>
            </a:r>
            <a:r>
              <a:rPr lang="ko-KR" altLang="en-US" dirty="0" smtClean="0">
                <a:solidFill>
                  <a:srgbClr val="FF0000"/>
                </a:solidFill>
              </a:rPr>
              <a:t>적용 </a:t>
            </a:r>
            <a:r>
              <a:rPr lang="en-US" altLang="ko-KR" dirty="0" smtClean="0"/>
              <a:t>(</a:t>
            </a:r>
            <a:r>
              <a:rPr lang="en-US" altLang="ko-KR">
                <a:solidFill>
                  <a:srgbClr val="FF0000"/>
                </a:solidFill>
              </a:rPr>
              <a:t>Yolo </a:t>
            </a:r>
            <a:r>
              <a:rPr lang="en-US" altLang="ko-KR" smtClean="0">
                <a:solidFill>
                  <a:srgbClr val="FF0000"/>
                </a:solidFill>
              </a:rPr>
              <a:t>V8</a:t>
            </a:r>
            <a:r>
              <a:rPr lang="en-US" altLang="ko-KR" smtClean="0"/>
              <a:t>)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2"/>
            <a:r>
              <a:rPr lang="en-US" altLang="ko-KR" dirty="0" smtClean="0"/>
              <a:t>CCTV</a:t>
            </a:r>
            <a:r>
              <a:rPr lang="ko-KR" altLang="en-US" dirty="0"/>
              <a:t>에 찍히는 영상을 </a:t>
            </a:r>
            <a:r>
              <a:rPr lang="en-US" altLang="ko-KR" dirty="0"/>
              <a:t>AI </a:t>
            </a:r>
            <a:r>
              <a:rPr lang="ko-KR" altLang="en-US" dirty="0"/>
              <a:t>기술로 실시간 처리하여 무단 침입과 같은 침해 사고를 </a:t>
            </a:r>
            <a:r>
              <a:rPr lang="ko-KR" altLang="en-US" dirty="0" smtClean="0"/>
              <a:t>감지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다국적 </a:t>
            </a:r>
            <a:r>
              <a:rPr lang="ko-KR" altLang="en-US" dirty="0"/>
              <a:t>정유 기업인 </a:t>
            </a:r>
            <a:r>
              <a:rPr lang="ko-KR" altLang="en-US" dirty="0" smtClean="0"/>
              <a:t>쉘은 각 </a:t>
            </a:r>
            <a:r>
              <a:rPr lang="ko-KR" altLang="en-US" dirty="0"/>
              <a:t>주유소에 설치된 </a:t>
            </a:r>
            <a:r>
              <a:rPr lang="en-US" altLang="ko-KR" dirty="0"/>
              <a:t>CCTV</a:t>
            </a:r>
            <a:r>
              <a:rPr lang="ko-KR" altLang="en-US" dirty="0"/>
              <a:t>로 </a:t>
            </a:r>
            <a:r>
              <a:rPr lang="ko-KR" altLang="en-US" dirty="0" smtClean="0"/>
              <a:t>모니터링하며 </a:t>
            </a:r>
            <a:r>
              <a:rPr lang="ko-KR" altLang="en-US" dirty="0"/>
              <a:t>이 영상 데이터를 </a:t>
            </a:r>
            <a:r>
              <a:rPr lang="ko-KR" altLang="en-US" dirty="0" err="1" smtClean="0"/>
              <a:t>애저</a:t>
            </a:r>
            <a:r>
              <a:rPr lang="en-US" altLang="ko-KR" dirty="0" smtClean="0"/>
              <a:t> </a:t>
            </a:r>
            <a:r>
              <a:rPr lang="ko-KR" altLang="en-US" dirty="0" err="1"/>
              <a:t>클라우드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pPr marL="447675" lvl="2" indent="0">
              <a:buNone/>
            </a:pPr>
            <a:r>
              <a:rPr lang="ko-KR" altLang="en-US" sz="1100" dirty="0" smtClean="0"/>
              <a:t>    </a:t>
            </a:r>
            <a:r>
              <a:rPr lang="ko-KR" altLang="en-US" dirty="0" smtClean="0"/>
              <a:t>환경에서 </a:t>
            </a:r>
            <a:r>
              <a:rPr lang="ko-KR" altLang="en-US" dirty="0"/>
              <a:t>분석하여 주유소와 관련한 위험 요인을 </a:t>
            </a:r>
            <a:r>
              <a:rPr lang="ko-KR" altLang="en-US" dirty="0" smtClean="0"/>
              <a:t>탐지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270" y="2900246"/>
            <a:ext cx="638012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6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07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3139</TotalTime>
  <Words>1730</Words>
  <Application>Microsoft Office PowerPoint</Application>
  <PresentationFormat>화면 슬라이드 쇼(4:3)</PresentationFormat>
  <Paragraphs>263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HY견고딕</vt:lpstr>
      <vt:lpstr>맑은 고딕</vt:lpstr>
      <vt:lpstr>Arial</vt:lpstr>
      <vt:lpstr>Tahoma</vt:lpstr>
      <vt:lpstr>Wingdings</vt:lpstr>
      <vt:lpstr>Office 테마</vt:lpstr>
      <vt:lpstr>10 IoT 보안과 AI 보안</vt:lpstr>
      <vt:lpstr>PowerPoint 프레젠테이션</vt:lpstr>
      <vt:lpstr>PowerPoint 프레젠테이션</vt:lpstr>
      <vt:lpstr>1. IoT 보안</vt:lpstr>
      <vt:lpstr>1. IoT 보안</vt:lpstr>
      <vt:lpstr>1. IoT 보안</vt:lpstr>
      <vt:lpstr>2. AI에 대한 이해</vt:lpstr>
      <vt:lpstr>2. AI에 대한 이해</vt:lpstr>
      <vt:lpstr>2. AI에 대한 이해</vt:lpstr>
      <vt:lpstr>2. AI에 대한 이해</vt:lpstr>
      <vt:lpstr>2. AI에 대한 이해</vt:lpstr>
      <vt:lpstr>2. AI에 대한 이해</vt:lpstr>
      <vt:lpstr>2. AI에 대한 이해</vt:lpstr>
      <vt:lpstr>2. AI에 대한 이해</vt:lpstr>
      <vt:lpstr>3. AI의 취약점 유형과 대안</vt:lpstr>
      <vt:lpstr>3. AI의 취약점 유형과 대안</vt:lpstr>
      <vt:lpstr>3. AI의 취약점 유형과 대안</vt:lpstr>
      <vt:lpstr>4. AI를 이용한 보안</vt:lpstr>
      <vt:lpstr>4. AI를 이용한 보안</vt:lpstr>
      <vt:lpstr>4. AI를 이용한 보안</vt:lpstr>
      <vt:lpstr>4. AI를 이용한 보안</vt:lpstr>
      <vt:lpstr>4. AI를 이용한 보안</vt:lpstr>
      <vt:lpstr>4. AI를 이용한 보안</vt:lpstr>
      <vt:lpstr>4. AI를 이용한 보안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USER</cp:lastModifiedBy>
  <cp:revision>275</cp:revision>
  <dcterms:created xsi:type="dcterms:W3CDTF">2020-06-18T03:20:34Z</dcterms:created>
  <dcterms:modified xsi:type="dcterms:W3CDTF">2025-12-01T11:06:55Z</dcterms:modified>
</cp:coreProperties>
</file>